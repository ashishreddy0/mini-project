
<file path=[Content_Types].xml><?xml version="1.0" encoding="utf-8"?>
<Types xmlns="http://schemas.openxmlformats.org/package/2006/content-types">
  <Default Extension="xlsx" ContentType="application/vnd.openxmlformats-officedocument.spreadsheetml.sheet"/>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100" b="0" i="0" u="none" strike="noStrike" kern="1200" baseline="0">
                <a:solidFill>
                  <a:srgbClr val="141B3D"/>
                </a:solidFill>
                <a:latin typeface="Calibri" panose="020F0502020204030204"/>
                <a:ea typeface="+mn-ea"/>
                <a:cs typeface="+mn-cs"/>
              </a:defRPr>
            </a:pPr>
            <a:r>
              <a:rPr sz="1100" b="0" i="0" u="none" strike="noStrike">
                <a:solidFill>
                  <a:srgbClr val="141B3D"/>
                </a:solidFill>
                <a:latin typeface="Calibri" panose="020F0502020204030204"/>
              </a:rPr>
              <a:t>Evaluation on sample course material (%)</a:t>
            </a:r>
            <a:endParaRPr sz="1100" b="0" i="0" u="none" strike="noStrike">
              <a:solidFill>
                <a:srgbClr val="141B3D"/>
              </a:solidFill>
              <a:latin typeface="Calibri" panose="020F0502020204030204"/>
            </a:endParaRPr>
          </a:p>
        </c:rich>
      </c:tx>
      <c:layout/>
      <c:overlay val="0"/>
    </c:title>
    <c:autoTitleDeleted val="0"/>
    <c:plotArea>
      <c:layout/>
      <c:barChart>
        <c:barDir val="col"/>
        <c:grouping val="clustered"/>
        <c:varyColors val="0"/>
        <c:ser>
          <c:idx val="0"/>
          <c:order val="0"/>
          <c:tx>
            <c:strRef>
              <c:f>Sheet1!$B$1</c:f>
              <c:strCache>
                <c:ptCount val="1"/>
                <c:pt idx="0">
                  <c:v>AI Study Companion</c:v>
                </c:pt>
              </c:strCache>
            </c:strRef>
          </c:tx>
          <c:spPr>
            <a:solidFill>
              <a:srgbClr val="141B3D"/>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900" b="0" i="0" u="none" strike="noStrike" kern="1200" baseline="0">
                    <a:solidFill>
                      <a:srgbClr val="333A56"/>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Extraction accuracy</c:v>
                </c:pt>
                <c:pt idx="1">
                  <c:v>Answer relevance</c:v>
                </c:pt>
                <c:pt idx="2">
                  <c:v>Quiz quality</c:v>
                </c:pt>
                <c:pt idx="3">
                  <c:v>User satisfaction</c:v>
                </c:pt>
              </c:strCache>
            </c:strRef>
          </c:cat>
          <c:val>
            <c:numRef>
              <c:f>Sheet1!$B$2:$B$5</c:f>
              <c:numCache>
                <c:formatCode>General</c:formatCode>
                <c:ptCount val="4"/>
                <c:pt idx="0">
                  <c:v>95</c:v>
                </c:pt>
                <c:pt idx="1">
                  <c:v>90</c:v>
                </c:pt>
                <c:pt idx="2">
                  <c:v>86</c:v>
                </c:pt>
                <c:pt idx="3">
                  <c:v>88</c:v>
                </c:pt>
              </c:numCache>
            </c:numRef>
          </c:val>
        </c:ser>
        <c:ser>
          <c:idx val="1"/>
          <c:order val="1"/>
          <c:tx>
            <c:strRef>
              <c:f>Sheet1!$C$1</c:f>
              <c:strCache>
                <c:ptCount val="1"/>
                <c:pt idx="0">
                  <c:v>Manual study baseline</c:v>
                </c:pt>
              </c:strCache>
            </c:strRef>
          </c:tx>
          <c:spPr>
            <a:solidFill>
              <a:srgbClr val="B9C0D4"/>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900" b="0" i="0" u="none" strike="noStrike" kern="1200" baseline="0">
                    <a:solidFill>
                      <a:srgbClr val="333A56"/>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Extraction accuracy</c:v>
                </c:pt>
                <c:pt idx="1">
                  <c:v>Answer relevance</c:v>
                </c:pt>
                <c:pt idx="2">
                  <c:v>Quiz quality</c:v>
                </c:pt>
                <c:pt idx="3">
                  <c:v>User satisfaction</c:v>
                </c:pt>
              </c:strCache>
            </c:strRef>
          </c:cat>
          <c:val>
            <c:numRef>
              <c:f>Sheet1!$C$2:$C$5</c:f>
              <c:numCache>
                <c:formatCode>General</c:formatCode>
                <c:ptCount val="4"/>
                <c:pt idx="0">
                  <c:v>100</c:v>
                </c:pt>
                <c:pt idx="1">
                  <c:v>62</c:v>
                </c:pt>
                <c:pt idx="2">
                  <c:v>58</c:v>
                </c:pt>
                <c:pt idx="3">
                  <c:v>60</c:v>
                </c:pt>
              </c:numCache>
            </c:numRef>
          </c:val>
        </c:ser>
        <c:dLbls>
          <c:showLegendKey val="0"/>
          <c:showVal val="1"/>
          <c:showCatName val="0"/>
          <c:showSerName val="0"/>
          <c:showPercent val="0"/>
          <c:showBubbleSize val="0"/>
        </c:dLbls>
        <c:gapWidth val="6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900" b="0" i="0" u="none" strike="noStrike" kern="1200" baseline="0">
                <a:solidFill>
                  <a:srgbClr val="333A56"/>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100"/>
        </c:scaling>
        <c:delete val="0"/>
        <c:axPos val="l"/>
        <c:majorGridlines>
          <c:spPr>
            <a:ln w="9525" cap="flat" cmpd="sng" algn="ctr">
              <a:solidFill>
                <a:srgbClr val="E3E0DA"/>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900" b="0" i="0" u="none" strike="noStrike" kern="1200" baseline="0">
                <a:solidFill>
                  <a:srgbClr val="6B7280"/>
                </a:solidFill>
                <a:latin typeface="Arial" panose="020B0604020202020204"/>
                <a:ea typeface="+mn-ea"/>
                <a:cs typeface="+mn-cs"/>
              </a:defRPr>
            </a:pPr>
          </a:p>
        </c:txPr>
        <c:crossAx val="2094734554"/>
        <c:crosses val="autoZero"/>
        <c:crossBetween val="between"/>
      </c:valAx>
      <c:spPr>
        <a:noFill/>
        <a:ln>
          <a:noFill/>
        </a:ln>
        <a:effectLst/>
      </c:spPr>
    </c:plotArea>
    <c:legend>
      <c:legendPos val="b"/>
      <c:layout/>
      <c:overlay val="0"/>
      <c:txPr>
        <a:bodyPr rot="0" spcFirstLastPara="0" vertOverflow="ellipsis" vert="horz" wrap="square" anchor="ctr" anchorCtr="1"/>
        <a:lstStyle/>
        <a:p>
          <a:pPr>
            <a:defRPr lang="en-US" sz="900" b="0" i="0" u="none" strike="noStrike" kern="1200" baseline="0">
              <a:solidFill>
                <a:srgbClr val="333A56"/>
              </a:solidFill>
              <a:latin typeface="+mn-lt"/>
              <a:ea typeface="+mn-ea"/>
              <a:cs typeface="+mn-cs"/>
            </a:defRPr>
          </a:pPr>
        </a:p>
      </c:txPr>
    </c:legend>
    <c:plotVisOnly val="1"/>
    <c:dispBlanksAs val="span"/>
    <c:showDLblsOverMax val="0"/>
    <c:extLst>
      <c:ext uri="{0b15fc19-7d7d-44ad-8c2d-2c3a37ce22c3}">
        <chartProps xmlns="https://web.wps.cn/et/2018/main" chartId="{9aa7f9d2-deaf-43d4-b9a4-b7df7ff221c5}"/>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 the panel, introduce the team and the guide, and state the project title in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 of the presentation in about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as time-to-understanding, not access to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hallucination and lack of citations as the core risk for exam preparation.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objectives as deliverables — each maps to a module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per paper on what it contributes to our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guarantee: no retrieved context, no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embeddings run locally, so notes never leave the machine unnecessarily.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top-down: user to frontend, frontend to backend, backend out to processing, database and Gemini.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one document from login through to a saved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same extracted text drives all six resource types — only the task template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modules, each independently testable.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 the three headline numbers and where they were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workspace model: everything downstream is scoped to the subject chosen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materials list on the left, the answer in the centre, and the unit-wise concept list on the right with PDF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evaluation set before quoting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two of these as the honest next steps rather than listing all six as promises.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one-line value statement,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and the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chart" Target="../charts/char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B3D"/>
        </a:solidFill>
        <a:effectLst/>
      </p:bgPr>
    </p:bg>
    <p:spTree>
      <p:nvGrpSpPr>
        <p:cNvPr id="1" name=""/>
        <p:cNvGrpSpPr/>
        <p:nvPr/>
      </p:nvGrpSpPr>
      <p:grpSpPr>
        <a:xfrm>
          <a:off x="0" y="0"/>
          <a:ext cx="0" cy="0"/>
          <a:chOff x="0" y="0"/>
          <a:chExt cx="0" cy="0"/>
        </a:xfrm>
      </p:grpSpPr>
      <p:sp>
        <p:nvSpPr>
          <p:cNvPr id="2" name="Shape 0"/>
          <p:cNvSpPr/>
          <p:nvPr/>
        </p:nvSpPr>
        <p:spPr>
          <a:xfrm>
            <a:off x="-548640" y="-548640"/>
            <a:ext cx="1554480" cy="1554480"/>
          </a:xfrm>
          <a:prstGeom prst="ellipse">
            <a:avLst/>
          </a:prstGeom>
          <a:solidFill>
            <a:srgbClr val="2E8B8B">
              <a:alpha val="55000"/>
            </a:srgbClr>
          </a:solidFill>
        </p:spPr>
      </p:sp>
      <p:sp>
        <p:nvSpPr>
          <p:cNvPr id="3" name="Shape 1"/>
          <p:cNvSpPr/>
          <p:nvPr/>
        </p:nvSpPr>
        <p:spPr>
          <a:xfrm>
            <a:off x="8321040" y="4297680"/>
            <a:ext cx="1371600" cy="1371600"/>
          </a:xfrm>
          <a:prstGeom prst="ellipse">
            <a:avLst/>
          </a:prstGeom>
          <a:solidFill>
            <a:srgbClr val="E0A458">
              <a:alpha val="55000"/>
            </a:srgbClr>
          </a:solidFill>
        </p:spPr>
      </p:sp>
      <p:sp>
        <p:nvSpPr>
          <p:cNvPr id="4" name="Shape 2"/>
          <p:cNvSpPr/>
          <p:nvPr/>
        </p:nvSpPr>
        <p:spPr>
          <a:xfrm>
            <a:off x="256032" y="237744"/>
            <a:ext cx="8631936" cy="4672584"/>
          </a:xfrm>
          <a:prstGeom prst="roundRect">
            <a:avLst>
              <a:gd name="adj" fmla="val 2348"/>
            </a:avLst>
          </a:prstGeom>
          <a:solidFill>
            <a:srgbClr val="FBF8F3"/>
          </a:solidFill>
          <a:effectLst>
            <a:outerShdw blurRad="152400" dist="25400" dir="5400000" algn="bl" rotWithShape="0">
              <a:srgbClr val="000000">
                <a:alpha val="25000"/>
              </a:srgbClr>
            </a:outerShdw>
          </a:effectLst>
        </p:spPr>
      </p:sp>
      <p:sp>
        <p:nvSpPr>
          <p:cNvPr id="5" name="Text 3"/>
          <p:cNvSpPr txBox="1"/>
          <p:nvPr/>
        </p:nvSpPr>
        <p:spPr>
          <a:xfrm>
            <a:off x="576072" y="384048"/>
            <a:ext cx="7991856" cy="237744"/>
          </a:xfrm>
          <a:prstGeom prst="rect">
            <a:avLst/>
          </a:prstGeom>
          <a:noFill/>
        </p:spPr>
        <p:txBody>
          <a:bodyPr wrap="square" lIns="0" tIns="0" rIns="0" bIns="0" rtlCol="0" anchor="ctr"/>
          <a:lstStyle/>
          <a:p>
            <a:pPr marL="0" indent="0" algn="ctr">
              <a:buNone/>
            </a:pPr>
            <a:r>
              <a:rPr lang="en-US" sz="1250" b="1" dirty="0">
                <a:solidFill>
                  <a:srgbClr val="141B3D"/>
                </a:solidFill>
                <a:latin typeface="Cambria" panose="02040503050406030204" pitchFamily="34" charset="0"/>
                <a:ea typeface="Cambria" panose="02040503050406030204" pitchFamily="34" charset="-122"/>
                <a:cs typeface="Cambria" panose="02040503050406030204" pitchFamily="34" charset="-120"/>
              </a:rPr>
              <a:t>GEETHANJALI COLLEGE OF ENGINEERING AND TECHNOLOGY (Autonomous)</a:t>
            </a:r>
            <a:endParaRPr lang="en-US" sz="1250" dirty="0"/>
          </a:p>
        </p:txBody>
      </p:sp>
      <p:sp>
        <p:nvSpPr>
          <p:cNvPr id="6" name="Text 4"/>
          <p:cNvSpPr txBox="1"/>
          <p:nvPr/>
        </p:nvSpPr>
        <p:spPr>
          <a:xfrm>
            <a:off x="576072" y="621792"/>
            <a:ext cx="7991856" cy="201168"/>
          </a:xfrm>
          <a:prstGeom prst="rect">
            <a:avLst/>
          </a:prstGeom>
          <a:noFill/>
        </p:spPr>
        <p:txBody>
          <a:bodyPr wrap="square" lIns="0" tIns="0" rIns="0" bIns="0" rtlCol="0" anchor="ctr"/>
          <a:lstStyle/>
          <a:p>
            <a:pPr marL="0" indent="0" algn="ctr">
              <a:buNone/>
            </a:pPr>
            <a:r>
              <a:rPr lang="en-US" sz="1050" dirty="0">
                <a:solidFill>
                  <a:srgbClr val="6B7280"/>
                </a:solidFill>
                <a:latin typeface="Calibri" panose="020F0502020204030204" pitchFamily="34" charset="0"/>
                <a:ea typeface="Calibri" panose="020F0502020204030204" pitchFamily="34" charset="-122"/>
                <a:cs typeface="Calibri" panose="020F0502020204030204" pitchFamily="34" charset="-120"/>
              </a:rPr>
              <a:t>Cheeryal (V), Keesara (M), Medchal Dist., Telangana - 501 301</a:t>
            </a:r>
            <a:endParaRPr lang="en-US" sz="1050" dirty="0"/>
          </a:p>
        </p:txBody>
      </p:sp>
      <p:sp>
        <p:nvSpPr>
          <p:cNvPr id="7" name="Text 5"/>
          <p:cNvSpPr txBox="1"/>
          <p:nvPr/>
        </p:nvSpPr>
        <p:spPr>
          <a:xfrm>
            <a:off x="576072" y="804672"/>
            <a:ext cx="7991856" cy="219456"/>
          </a:xfrm>
          <a:prstGeom prst="rect">
            <a:avLst/>
          </a:prstGeom>
          <a:noFill/>
        </p:spPr>
        <p:txBody>
          <a:bodyPr wrap="square" lIns="0" tIns="0" rIns="0" bIns="0" rtlCol="0" anchor="ctr"/>
          <a:lstStyle/>
          <a:p>
            <a:pPr marL="0" indent="0" algn="ctr">
              <a:buNone/>
            </a:pPr>
            <a:r>
              <a:rPr lang="en-US" sz="1150" b="1" dirty="0">
                <a:solidFill>
                  <a:srgbClr val="2A3566"/>
                </a:solidFill>
                <a:latin typeface="Cambria" panose="02040503050406030204" pitchFamily="34" charset="0"/>
                <a:ea typeface="Cambria" panose="02040503050406030204" pitchFamily="34" charset="-122"/>
                <a:cs typeface="Cambria" panose="02040503050406030204" pitchFamily="34" charset="-120"/>
              </a:rPr>
              <a:t>DEPARTMENT OF COMPUTER SCIENCE AND ENGINEERING (AI &amp; ML)</a:t>
            </a:r>
            <a:endParaRPr lang="en-US" sz="1150" dirty="0"/>
          </a:p>
        </p:txBody>
      </p:sp>
      <p:sp>
        <p:nvSpPr>
          <p:cNvPr id="8" name="Shape 6"/>
          <p:cNvSpPr/>
          <p:nvPr/>
        </p:nvSpPr>
        <p:spPr>
          <a:xfrm>
            <a:off x="3017520" y="1115568"/>
            <a:ext cx="3108960" cy="0"/>
          </a:xfrm>
          <a:prstGeom prst="line">
            <a:avLst/>
          </a:prstGeom>
          <a:noFill/>
          <a:ln w="19050">
            <a:solidFill>
              <a:srgbClr val="E0A458"/>
            </a:solidFill>
            <a:prstDash val="solid"/>
          </a:ln>
        </p:spPr>
      </p:sp>
      <p:sp>
        <p:nvSpPr>
          <p:cNvPr id="9" name="Text 7"/>
          <p:cNvSpPr txBox="1"/>
          <p:nvPr/>
        </p:nvSpPr>
        <p:spPr>
          <a:xfrm>
            <a:off x="576072" y="1225296"/>
            <a:ext cx="7991856" cy="237744"/>
          </a:xfrm>
          <a:prstGeom prst="rect">
            <a:avLst/>
          </a:prstGeom>
          <a:noFill/>
        </p:spPr>
        <p:txBody>
          <a:bodyPr wrap="square" lIns="0" tIns="0" rIns="0" bIns="0" rtlCol="0" anchor="ctr"/>
          <a:lstStyle/>
          <a:p>
            <a:pPr marL="0" indent="0" algn="ctr">
              <a:buNone/>
            </a:pPr>
            <a:r>
              <a:rPr lang="en-US" sz="1200" b="1" kern="0" spc="300" dirty="0">
                <a:solidFill>
                  <a:srgbClr val="E0A458"/>
                </a:solidFill>
                <a:latin typeface="Calibri" panose="020F0502020204030204" pitchFamily="34" charset="0"/>
                <a:ea typeface="Calibri" panose="020F0502020204030204" pitchFamily="34" charset="-122"/>
                <a:cs typeface="Calibri" panose="020F0502020204030204" pitchFamily="34" charset="-120"/>
              </a:rPr>
              <a:t>MINI PROJECT</a:t>
            </a:r>
            <a:endParaRPr lang="en-US" sz="1200" dirty="0"/>
          </a:p>
        </p:txBody>
      </p:sp>
      <p:sp>
        <p:nvSpPr>
          <p:cNvPr id="10" name="Text 8"/>
          <p:cNvSpPr txBox="1"/>
          <p:nvPr/>
        </p:nvSpPr>
        <p:spPr>
          <a:xfrm>
            <a:off x="576072" y="1481328"/>
            <a:ext cx="7991856" cy="685800"/>
          </a:xfrm>
          <a:prstGeom prst="rect">
            <a:avLst/>
          </a:prstGeom>
          <a:noFill/>
        </p:spPr>
        <p:txBody>
          <a:bodyPr wrap="square" lIns="0" tIns="0" rIns="0" bIns="0" rtlCol="0" anchor="ctr"/>
          <a:lstStyle/>
          <a:p>
            <a:pPr marL="0" indent="0" algn="ctr">
              <a:buNone/>
            </a:pPr>
            <a:r>
              <a:rPr lang="en-US" sz="3800" b="1" dirty="0">
                <a:solidFill>
                  <a:srgbClr val="141B3D"/>
                </a:solidFill>
                <a:latin typeface="Cambria" panose="02040503050406030204" pitchFamily="34" charset="0"/>
                <a:ea typeface="Cambria" panose="02040503050406030204" pitchFamily="34" charset="-122"/>
                <a:cs typeface="Cambria" panose="02040503050406030204" pitchFamily="34" charset="-120"/>
              </a:rPr>
              <a:t>“AI STUDY COMPANION”</a:t>
            </a:r>
            <a:endParaRPr lang="en-US" sz="3800" dirty="0"/>
          </a:p>
        </p:txBody>
      </p:sp>
      <p:sp>
        <p:nvSpPr>
          <p:cNvPr id="11" name="Text 9"/>
          <p:cNvSpPr txBox="1"/>
          <p:nvPr/>
        </p:nvSpPr>
        <p:spPr>
          <a:xfrm>
            <a:off x="804672" y="2157984"/>
            <a:ext cx="7534656" cy="274320"/>
          </a:xfrm>
          <a:prstGeom prst="rect">
            <a:avLst/>
          </a:prstGeom>
          <a:noFill/>
        </p:spPr>
        <p:txBody>
          <a:bodyPr wrap="square" lIns="0" tIns="0" rIns="0" bIns="0" rtlCol="0" anchor="ctr"/>
          <a:lstStyle/>
          <a:p>
            <a:pPr marL="0" indent="0" algn="ctr">
              <a:buNone/>
            </a:pPr>
            <a:r>
              <a:rPr lang="en-US" sz="1200" i="1" dirty="0">
                <a:solidFill>
                  <a:srgbClr val="6B7280"/>
                </a:solidFill>
                <a:latin typeface="Calibri" panose="020F0502020204030204" pitchFamily="34" charset="0"/>
                <a:ea typeface="Calibri" panose="020F0502020204030204" pitchFamily="34" charset="-122"/>
                <a:cs typeface="Calibri" panose="020F0502020204030204" pitchFamily="34" charset="-120"/>
              </a:rPr>
              <a:t>An AI-powered study environment that turns your own documents into notes, quizzes and concept maps</a:t>
            </a:r>
            <a:endParaRPr lang="en-US" sz="1200" dirty="0"/>
          </a:p>
        </p:txBody>
      </p:sp>
      <p:sp>
        <p:nvSpPr>
          <p:cNvPr id="12" name="Text 10"/>
          <p:cNvSpPr txBox="1"/>
          <p:nvPr/>
        </p:nvSpPr>
        <p:spPr>
          <a:xfrm>
            <a:off x="576072" y="2542032"/>
            <a:ext cx="7991856" cy="182880"/>
          </a:xfrm>
          <a:prstGeom prst="rect">
            <a:avLst/>
          </a:prstGeom>
          <a:noFill/>
        </p:spPr>
        <p:txBody>
          <a:bodyPr wrap="square" lIns="0" tIns="0" rIns="0" bIns="0" rtlCol="0" anchor="ctr"/>
          <a:lstStyle/>
          <a:p>
            <a:pPr marL="0" indent="0" algn="ctr">
              <a:buNone/>
            </a:pPr>
            <a:r>
              <a:rPr lang="en-US" sz="1000" kern="0" spc="200" dirty="0">
                <a:solidFill>
                  <a:srgbClr val="6B7280"/>
                </a:solidFill>
                <a:latin typeface="Calibri" panose="020F0502020204030204" pitchFamily="34" charset="0"/>
                <a:ea typeface="Calibri" panose="020F0502020204030204" pitchFamily="34" charset="-122"/>
                <a:cs typeface="Calibri" panose="020F0502020204030204" pitchFamily="34" charset="-120"/>
              </a:rPr>
              <a:t>UNDER THE GUIDANCE OF</a:t>
            </a:r>
            <a:endParaRPr lang="en-US" sz="1000" dirty="0"/>
          </a:p>
        </p:txBody>
      </p:sp>
      <p:sp>
        <p:nvSpPr>
          <p:cNvPr id="13" name="Text 11"/>
          <p:cNvSpPr txBox="1"/>
          <p:nvPr/>
        </p:nvSpPr>
        <p:spPr>
          <a:xfrm>
            <a:off x="576072" y="2715768"/>
            <a:ext cx="7991856" cy="256032"/>
          </a:xfrm>
          <a:prstGeom prst="rect">
            <a:avLst/>
          </a:prstGeom>
          <a:noFill/>
        </p:spPr>
        <p:txBody>
          <a:bodyPr wrap="square" lIns="0" tIns="0" rIns="0" bIns="0" rtlCol="0" anchor="ctr"/>
          <a:lstStyle/>
          <a:p>
            <a:pPr marL="0" indent="0" algn="ctr">
              <a:buNone/>
            </a:pPr>
            <a:r>
              <a:rPr lang="en-US" altLang="en-US" sz="1500" b="1" dirty="0">
                <a:latin typeface="Times New Roman" panose="02020603050405020304" charset="0"/>
                <a:cs typeface="Times New Roman" panose="02020603050405020304" charset="0"/>
              </a:rPr>
              <a:t>Vedavyas Gurla</a:t>
            </a:r>
            <a:endParaRPr lang="en-US" altLang="en-US" sz="1500" b="1" dirty="0">
              <a:latin typeface="Times New Roman" panose="02020603050405020304" charset="0"/>
              <a:cs typeface="Times New Roman" panose="02020603050405020304" charset="0"/>
            </a:endParaRPr>
          </a:p>
        </p:txBody>
      </p:sp>
      <p:sp>
        <p:nvSpPr>
          <p:cNvPr id="14" name="Text 12"/>
          <p:cNvSpPr txBox="1"/>
          <p:nvPr/>
        </p:nvSpPr>
        <p:spPr>
          <a:xfrm>
            <a:off x="576072" y="2953512"/>
            <a:ext cx="7991856" cy="201168"/>
          </a:xfrm>
          <a:prstGeom prst="rect">
            <a:avLst/>
          </a:prstGeom>
          <a:noFill/>
        </p:spPr>
        <p:txBody>
          <a:bodyPr wrap="square" lIns="0" tIns="0" rIns="0" bIns="0" rtlCol="0" anchor="ctr"/>
          <a:lstStyle/>
          <a:p>
            <a:pPr marL="0" indent="0" algn="ctr">
              <a:buNone/>
            </a:pPr>
            <a:r>
              <a:rPr lang="en-US" altLang="en-US" sz="1050" dirty="0"/>
              <a:t>Associate Professor - CSE (AI&amp;ML) Department</a:t>
            </a:r>
            <a:endParaRPr lang="en-US" altLang="en-US" sz="1050" dirty="0"/>
          </a:p>
        </p:txBody>
      </p:sp>
      <p:sp>
        <p:nvSpPr>
          <p:cNvPr id="15" name="Shape 13"/>
          <p:cNvSpPr/>
          <p:nvPr/>
        </p:nvSpPr>
        <p:spPr>
          <a:xfrm>
            <a:off x="2057400" y="3310128"/>
            <a:ext cx="5029200" cy="1207008"/>
          </a:xfrm>
          <a:prstGeom prst="roundRect">
            <a:avLst>
              <a:gd name="adj" fmla="val 6061"/>
            </a:avLst>
          </a:prstGeom>
          <a:solidFill>
            <a:srgbClr val="141B3D">
              <a:alpha val="8000"/>
            </a:srgbClr>
          </a:solidFill>
          <a:ln w="9525">
            <a:solidFill>
              <a:srgbClr val="141B3D">
                <a:alpha val="30000"/>
              </a:srgbClr>
            </a:solidFill>
            <a:prstDash val="solid"/>
          </a:ln>
        </p:spPr>
      </p:sp>
      <p:sp>
        <p:nvSpPr>
          <p:cNvPr id="16" name="Text 14"/>
          <p:cNvSpPr txBox="1"/>
          <p:nvPr/>
        </p:nvSpPr>
        <p:spPr>
          <a:xfrm>
            <a:off x="2240280" y="3401568"/>
            <a:ext cx="4663440" cy="219456"/>
          </a:xfrm>
          <a:prstGeom prst="rect">
            <a:avLst/>
          </a:prstGeom>
          <a:noFill/>
        </p:spPr>
        <p:txBody>
          <a:bodyPr wrap="square" lIns="0" tIns="0" rIns="0" bIns="0" rtlCol="0" anchor="ctr"/>
          <a:lstStyle/>
          <a:p>
            <a:pPr marL="0" indent="0" algn="ctr">
              <a:buNone/>
            </a:pPr>
            <a:r>
              <a:rPr lang="en-US" sz="1050" b="1" kern="0" spc="200" dirty="0">
                <a:solidFill>
                  <a:srgbClr val="2E8B8B"/>
                </a:solidFill>
                <a:latin typeface="Calibri" panose="020F0502020204030204" pitchFamily="34" charset="0"/>
                <a:ea typeface="Calibri" panose="020F0502020204030204" pitchFamily="34" charset="-122"/>
                <a:cs typeface="Calibri" panose="020F0502020204030204" pitchFamily="34" charset="-120"/>
              </a:rPr>
              <a:t>TEAM  </a:t>
            </a:r>
            <a:r>
              <a:rPr lang="en-IN" altLang="en-US" sz="1050" b="1" kern="0" spc="200" dirty="0">
                <a:solidFill>
                  <a:srgbClr val="2E8B8B"/>
                </a:solidFill>
                <a:latin typeface="Calibri" panose="020F0502020204030204" pitchFamily="34" charset="0"/>
                <a:ea typeface="Calibri" panose="020F0502020204030204" pitchFamily="34" charset="-122"/>
                <a:cs typeface="Calibri" panose="020F0502020204030204" pitchFamily="34" charset="-120"/>
              </a:rPr>
              <a:t>C17</a:t>
            </a:r>
            <a:endParaRPr lang="en-IN" altLang="en-US" sz="1050" b="1" kern="0" spc="200" dirty="0">
              <a:solidFill>
                <a:srgbClr val="2E8B8B"/>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Text 15"/>
          <p:cNvSpPr txBox="1"/>
          <p:nvPr/>
        </p:nvSpPr>
        <p:spPr>
          <a:xfrm>
            <a:off x="2468880" y="3657600"/>
            <a:ext cx="1371600" cy="237744"/>
          </a:xfrm>
          <a:prstGeom prst="rect">
            <a:avLst/>
          </a:prstGeom>
          <a:noFill/>
        </p:spPr>
        <p:txBody>
          <a:bodyPr wrap="square" lIns="0" tIns="0" rIns="0" bIns="0" rtlCol="0" anchor="ctr"/>
          <a:lstStyle/>
          <a:p>
            <a:pPr marL="0" indent="0">
              <a:buNone/>
            </a:pPr>
            <a:r>
              <a:rPr lang="en-US" sz="1150" b="1" dirty="0">
                <a:solidFill>
                  <a:srgbClr val="2A3566"/>
                </a:solidFill>
                <a:latin typeface="Calibri" panose="020F0502020204030204" pitchFamily="34" charset="0"/>
                <a:ea typeface="Calibri" panose="020F0502020204030204" pitchFamily="34" charset="-122"/>
                <a:cs typeface="Calibri" panose="020F0502020204030204" pitchFamily="34" charset="-120"/>
              </a:rPr>
              <a:t>22R11A66</a:t>
            </a:r>
            <a:r>
              <a:rPr lang="en-IN" altLang="en-US" sz="1150" b="1" dirty="0">
                <a:solidFill>
                  <a:srgbClr val="2A3566"/>
                </a:solidFill>
                <a:latin typeface="Calibri" panose="020F0502020204030204" pitchFamily="34" charset="0"/>
                <a:ea typeface="Calibri" panose="020F0502020204030204" pitchFamily="34" charset="-122"/>
                <a:cs typeface="Calibri" panose="020F0502020204030204" pitchFamily="34" charset="-120"/>
              </a:rPr>
              <a:t>B3</a:t>
            </a:r>
            <a:endParaRPr lang="en-US" sz="1150" dirty="0"/>
          </a:p>
        </p:txBody>
      </p:sp>
      <p:sp>
        <p:nvSpPr>
          <p:cNvPr id="18" name="Text 16"/>
          <p:cNvSpPr txBox="1"/>
          <p:nvPr/>
        </p:nvSpPr>
        <p:spPr>
          <a:xfrm>
            <a:off x="3977640" y="3657600"/>
            <a:ext cx="2743200" cy="237744"/>
          </a:xfrm>
          <a:prstGeom prst="rect">
            <a:avLst/>
          </a:prstGeom>
          <a:noFill/>
        </p:spPr>
        <p:txBody>
          <a:bodyPr wrap="square" lIns="0" tIns="0" rIns="0" bIns="0" rtlCol="0" anchor="ctr"/>
          <a:lstStyle/>
          <a:p>
            <a:pPr marL="0" indent="0">
              <a:buNone/>
            </a:pPr>
            <a:r>
              <a:rPr lang="en-IN" altLang="en-US" sz="1150" dirty="0"/>
              <a:t>CH.Sri Priya</a:t>
            </a:r>
            <a:endParaRPr lang="en-IN" altLang="en-US" sz="1150" dirty="0"/>
          </a:p>
        </p:txBody>
      </p:sp>
      <p:sp>
        <p:nvSpPr>
          <p:cNvPr id="19" name="Text 17"/>
          <p:cNvSpPr txBox="1"/>
          <p:nvPr/>
        </p:nvSpPr>
        <p:spPr>
          <a:xfrm>
            <a:off x="2468880" y="3922776"/>
            <a:ext cx="1371600" cy="237744"/>
          </a:xfrm>
          <a:prstGeom prst="rect">
            <a:avLst/>
          </a:prstGeom>
          <a:noFill/>
        </p:spPr>
        <p:txBody>
          <a:bodyPr wrap="square" lIns="0" tIns="0" rIns="0" bIns="0" rtlCol="0" anchor="ctr"/>
          <a:lstStyle/>
          <a:p>
            <a:pPr marL="0" indent="0">
              <a:buNone/>
            </a:pPr>
            <a:r>
              <a:rPr lang="en-US" sz="1150" b="1" dirty="0">
                <a:solidFill>
                  <a:srgbClr val="2A3566"/>
                </a:solidFill>
                <a:latin typeface="Calibri" panose="020F0502020204030204" pitchFamily="34" charset="0"/>
                <a:ea typeface="Calibri" panose="020F0502020204030204" pitchFamily="34" charset="-122"/>
                <a:cs typeface="Calibri" panose="020F0502020204030204" pitchFamily="34" charset="-120"/>
              </a:rPr>
              <a:t>22R11A66</a:t>
            </a:r>
            <a:r>
              <a:rPr lang="en-IN" altLang="en-US" sz="1150" b="1" dirty="0">
                <a:solidFill>
                  <a:srgbClr val="2A3566"/>
                </a:solidFill>
                <a:latin typeface="Calibri" panose="020F0502020204030204" pitchFamily="34" charset="0"/>
                <a:ea typeface="Calibri" panose="020F0502020204030204" pitchFamily="34" charset="-122"/>
                <a:cs typeface="Calibri" panose="020F0502020204030204" pitchFamily="34" charset="-120"/>
              </a:rPr>
              <a:t>C6</a:t>
            </a:r>
            <a:endParaRPr lang="en-IN" altLang="en-US" sz="1150" b="1" dirty="0">
              <a:solidFill>
                <a:srgbClr val="2A3566"/>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Text 18"/>
          <p:cNvSpPr txBox="1"/>
          <p:nvPr/>
        </p:nvSpPr>
        <p:spPr>
          <a:xfrm>
            <a:off x="3977640" y="3922776"/>
            <a:ext cx="2743200" cy="237744"/>
          </a:xfrm>
          <a:prstGeom prst="rect">
            <a:avLst/>
          </a:prstGeom>
          <a:noFill/>
        </p:spPr>
        <p:txBody>
          <a:bodyPr wrap="square" lIns="0" tIns="0" rIns="0" bIns="0" rtlCol="0" anchor="ctr"/>
          <a:lstStyle/>
          <a:p>
            <a:pPr marL="0" indent="0">
              <a:buNone/>
            </a:pPr>
            <a:r>
              <a:rPr lang="en-IN" altLang="en-US" sz="1150" dirty="0"/>
              <a:t>J.Srineeja</a:t>
            </a:r>
            <a:endParaRPr lang="en-IN" altLang="en-US" sz="1150" dirty="0"/>
          </a:p>
        </p:txBody>
      </p:sp>
      <p:sp>
        <p:nvSpPr>
          <p:cNvPr id="21" name="Text 19"/>
          <p:cNvSpPr txBox="1"/>
          <p:nvPr/>
        </p:nvSpPr>
        <p:spPr>
          <a:xfrm>
            <a:off x="2468880" y="4187952"/>
            <a:ext cx="1371600" cy="237744"/>
          </a:xfrm>
          <a:prstGeom prst="rect">
            <a:avLst/>
          </a:prstGeom>
          <a:noFill/>
        </p:spPr>
        <p:txBody>
          <a:bodyPr wrap="square" lIns="0" tIns="0" rIns="0" bIns="0" rtlCol="0" anchor="ctr"/>
          <a:lstStyle/>
          <a:p>
            <a:pPr marL="0" indent="0">
              <a:buNone/>
            </a:pPr>
            <a:r>
              <a:rPr lang="en-US" sz="1150" b="1" dirty="0">
                <a:solidFill>
                  <a:srgbClr val="2A3566"/>
                </a:solidFill>
                <a:latin typeface="Calibri" panose="020F0502020204030204" pitchFamily="34" charset="0"/>
                <a:ea typeface="Calibri" panose="020F0502020204030204" pitchFamily="34" charset="-122"/>
                <a:cs typeface="Calibri" panose="020F0502020204030204" pitchFamily="34" charset="-120"/>
              </a:rPr>
              <a:t>23R15A66</a:t>
            </a:r>
            <a:r>
              <a:rPr lang="en-IN" altLang="en-US" sz="1150" b="1" dirty="0">
                <a:solidFill>
                  <a:srgbClr val="2A3566"/>
                </a:solidFill>
                <a:latin typeface="Calibri" panose="020F0502020204030204" pitchFamily="34" charset="0"/>
                <a:ea typeface="Calibri" panose="020F0502020204030204" pitchFamily="34" charset="-122"/>
                <a:cs typeface="Calibri" panose="020F0502020204030204" pitchFamily="34" charset="-120"/>
              </a:rPr>
              <a:t>D0</a:t>
            </a:r>
            <a:endParaRPr lang="en-IN" altLang="en-US" sz="1150" b="1" dirty="0">
              <a:solidFill>
                <a:srgbClr val="2A3566"/>
              </a:solidFill>
              <a:latin typeface="Calibri" panose="020F0502020204030204" pitchFamily="34" charset="0"/>
              <a:ea typeface="Calibri" panose="020F0502020204030204" pitchFamily="34" charset="-122"/>
              <a:cs typeface="Calibri" panose="020F0502020204030204" pitchFamily="34" charset="-120"/>
            </a:endParaRPr>
          </a:p>
        </p:txBody>
      </p:sp>
      <p:sp>
        <p:nvSpPr>
          <p:cNvPr id="22" name="Text 20"/>
          <p:cNvSpPr txBox="1"/>
          <p:nvPr/>
        </p:nvSpPr>
        <p:spPr>
          <a:xfrm>
            <a:off x="3977640" y="4187952"/>
            <a:ext cx="2743200" cy="237744"/>
          </a:xfrm>
          <a:prstGeom prst="rect">
            <a:avLst/>
          </a:prstGeom>
          <a:noFill/>
        </p:spPr>
        <p:txBody>
          <a:bodyPr wrap="square" lIns="0" tIns="0" rIns="0" bIns="0" rtlCol="0" anchor="ctr"/>
          <a:lstStyle/>
          <a:p>
            <a:pPr marL="0" indent="0">
              <a:buNone/>
            </a:pPr>
            <a:r>
              <a:rPr lang="en-US" altLang="en-US" sz="1150" dirty="0"/>
              <a:t>K. Ashish Reddy</a:t>
            </a:r>
            <a:endParaRPr lang="en-US" sz="1150" dirty="0"/>
          </a:p>
        </p:txBody>
      </p:sp>
      <p:pic>
        <p:nvPicPr>
          <p:cNvPr id="23" name="Picture 22" descr="Geethanjali College of Engineering and ..."/>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0091" y="388437"/>
            <a:ext cx="1327346" cy="10256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1B3D"/>
        </a:solidFill>
        <a:effectLst/>
      </p:bgPr>
    </p:bg>
    <p:spTree>
      <p:nvGrpSpPr>
        <p:cNvPr id="1" name=""/>
        <p:cNvGrpSpPr/>
        <p:nvPr/>
      </p:nvGrpSpPr>
      <p:grpSpPr>
        <a:xfrm>
          <a:off x="0" y="0"/>
          <a:ext cx="0" cy="0"/>
          <a:chOff x="0" y="0"/>
          <a:chExt cx="0" cy="0"/>
        </a:xfrm>
      </p:grpSpPr>
      <p:sp>
        <p:nvSpPr>
          <p:cNvPr id="2" name="Shape 0"/>
          <p:cNvSpPr/>
          <p:nvPr/>
        </p:nvSpPr>
        <p:spPr>
          <a:xfrm>
            <a:off x="-502920" y="-502920"/>
            <a:ext cx="1371600" cy="1371600"/>
          </a:xfrm>
          <a:prstGeom prst="ellipse">
            <a:avLst/>
          </a:prstGeom>
          <a:solidFill>
            <a:srgbClr val="2E8B8B">
              <a:alpha val="55000"/>
            </a:srgbClr>
          </a:solidFill>
        </p:spPr>
      </p:sp>
      <p:sp>
        <p:nvSpPr>
          <p:cNvPr id="3" name="Shape 1"/>
          <p:cNvSpPr/>
          <p:nvPr/>
        </p:nvSpPr>
        <p:spPr>
          <a:xfrm>
            <a:off x="8366760" y="4343400"/>
            <a:ext cx="1280160" cy="1280160"/>
          </a:xfrm>
          <a:prstGeom prst="ellipse">
            <a:avLst/>
          </a:prstGeom>
          <a:solidFill>
            <a:srgbClr val="E0A458">
              <a:alpha val="55000"/>
            </a:srgbClr>
          </a:solidFill>
        </p:spPr>
      </p:sp>
      <p:sp>
        <p:nvSpPr>
          <p:cNvPr id="4" name="Shape 2"/>
          <p:cNvSpPr/>
          <p:nvPr/>
        </p:nvSpPr>
        <p:spPr>
          <a:xfrm>
            <a:off x="256032" y="237744"/>
            <a:ext cx="8631936" cy="4672584"/>
          </a:xfrm>
          <a:prstGeom prst="roundRect">
            <a:avLst>
              <a:gd name="adj" fmla="val 2348"/>
            </a:avLst>
          </a:prstGeom>
          <a:solidFill>
            <a:srgbClr val="FBF8F3"/>
          </a:solidFill>
          <a:ln w="12700">
            <a:solidFill>
              <a:srgbClr val="FFFFFF"/>
            </a:solidFill>
            <a:prstDash val="solid"/>
          </a:ln>
          <a:effectLst>
            <a:outerShdw blurRad="152400" dist="25400" dir="5400000" algn="bl" rotWithShape="0">
              <a:srgbClr val="000000">
                <a:alpha val="25000"/>
              </a:srgbClr>
            </a:outerShdw>
          </a:effectLst>
        </p:spPr>
      </p:sp>
      <p:sp>
        <p:nvSpPr>
          <p:cNvPr id="5" name="Text 3"/>
          <p:cNvSpPr txBox="1"/>
          <p:nvPr/>
        </p:nvSpPr>
        <p:spPr>
          <a:xfrm>
            <a:off x="530352" y="384048"/>
            <a:ext cx="8083296" cy="502920"/>
          </a:xfrm>
          <a:prstGeom prst="rect">
            <a:avLst/>
          </a:prstGeom>
          <a:noFill/>
        </p:spPr>
        <p:txBody>
          <a:bodyPr wrap="square" lIns="0" tIns="0" rIns="0" bIns="0" rtlCol="0" anchor="ctr"/>
          <a:lstStyle/>
          <a:p>
            <a:pPr marL="0" indent="0" algn="ctr">
              <a:buNone/>
            </a:pPr>
            <a:r>
              <a:rPr lang="en-US" sz="2800" b="1" dirty="0">
                <a:solidFill>
                  <a:srgbClr val="141B3D"/>
                </a:solidFill>
                <a:latin typeface="Cambria" panose="02040503050406030204" pitchFamily="34" charset="0"/>
                <a:ea typeface="Cambria" panose="02040503050406030204" pitchFamily="34" charset="-122"/>
                <a:cs typeface="Cambria" panose="02040503050406030204" pitchFamily="34" charset="-120"/>
              </a:rPr>
              <a:t>CONTENTS</a:t>
            </a:r>
            <a:endParaRPr lang="en-US" sz="2800" dirty="0"/>
          </a:p>
        </p:txBody>
      </p:sp>
      <p:sp>
        <p:nvSpPr>
          <p:cNvPr id="6" name="Shape 4"/>
          <p:cNvSpPr/>
          <p:nvPr/>
        </p:nvSpPr>
        <p:spPr>
          <a:xfrm>
            <a:off x="758952" y="1143000"/>
            <a:ext cx="310896" cy="310896"/>
          </a:xfrm>
          <a:prstGeom prst="ellipse">
            <a:avLst/>
          </a:prstGeom>
          <a:solidFill>
            <a:srgbClr val="141B3D"/>
          </a:solidFill>
        </p:spPr>
      </p:sp>
      <p:sp>
        <p:nvSpPr>
          <p:cNvPr id="7" name="Text 5"/>
          <p:cNvSpPr txBox="1"/>
          <p:nvPr/>
        </p:nvSpPr>
        <p:spPr>
          <a:xfrm>
            <a:off x="758952" y="1143000"/>
            <a:ext cx="310896" cy="310896"/>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100" dirty="0"/>
          </a:p>
        </p:txBody>
      </p:sp>
      <p:sp>
        <p:nvSpPr>
          <p:cNvPr id="8" name="Text 6"/>
          <p:cNvSpPr txBox="1"/>
          <p:nvPr/>
        </p:nvSpPr>
        <p:spPr>
          <a:xfrm>
            <a:off x="1170432" y="1161288"/>
            <a:ext cx="2103120" cy="274320"/>
          </a:xfrm>
          <a:prstGeom prst="rect">
            <a:avLst/>
          </a:prstGeom>
          <a:noFill/>
        </p:spPr>
        <p:txBody>
          <a:bodyPr wrap="square" lIns="0" tIns="0" rIns="0" bIns="0" rtlCol="0" anchor="ctr"/>
          <a:lstStyle/>
          <a:p>
            <a:pPr marL="0" indent="0">
              <a:buNone/>
            </a:pPr>
            <a:r>
              <a:rPr lang="en-US" sz="1250" dirty="0">
                <a:solidFill>
                  <a:srgbClr val="333A56"/>
                </a:solidFill>
                <a:latin typeface="Calibri" panose="020F0502020204030204" pitchFamily="34" charset="0"/>
                <a:ea typeface="Calibri" panose="020F0502020204030204" pitchFamily="34" charset="-122"/>
                <a:cs typeface="Calibri" panose="020F0502020204030204" pitchFamily="34" charset="-120"/>
              </a:rPr>
              <a:t>Introduction</a:t>
            </a:r>
            <a:endParaRPr lang="en-US" sz="1250" dirty="0"/>
          </a:p>
        </p:txBody>
      </p:sp>
      <p:sp>
        <p:nvSpPr>
          <p:cNvPr id="9" name="Shape 7"/>
          <p:cNvSpPr/>
          <p:nvPr/>
        </p:nvSpPr>
        <p:spPr>
          <a:xfrm>
            <a:off x="758952" y="1709928"/>
            <a:ext cx="310896" cy="310896"/>
          </a:xfrm>
          <a:prstGeom prst="ellipse">
            <a:avLst/>
          </a:prstGeom>
          <a:solidFill>
            <a:srgbClr val="2E8B8B"/>
          </a:solidFill>
        </p:spPr>
      </p:sp>
      <p:sp>
        <p:nvSpPr>
          <p:cNvPr id="10" name="Text 8"/>
          <p:cNvSpPr txBox="1"/>
          <p:nvPr/>
        </p:nvSpPr>
        <p:spPr>
          <a:xfrm>
            <a:off x="758952" y="1709928"/>
            <a:ext cx="310896" cy="310896"/>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100" dirty="0"/>
          </a:p>
        </p:txBody>
      </p:sp>
      <p:sp>
        <p:nvSpPr>
          <p:cNvPr id="11" name="Text 9"/>
          <p:cNvSpPr txBox="1"/>
          <p:nvPr/>
        </p:nvSpPr>
        <p:spPr>
          <a:xfrm>
            <a:off x="1170432" y="1728216"/>
            <a:ext cx="2103120" cy="274320"/>
          </a:xfrm>
          <a:prstGeom prst="rect">
            <a:avLst/>
          </a:prstGeom>
          <a:noFill/>
        </p:spPr>
        <p:txBody>
          <a:bodyPr wrap="square" lIns="0" tIns="0" rIns="0" bIns="0" rtlCol="0" anchor="ctr"/>
          <a:lstStyle/>
          <a:p>
            <a:pPr marL="0" indent="0">
              <a:buNone/>
            </a:pPr>
            <a:r>
              <a:rPr lang="en-US" sz="1250" dirty="0">
                <a:solidFill>
                  <a:srgbClr val="333A56"/>
                </a:solidFill>
                <a:latin typeface="Calibri" panose="020F0502020204030204" pitchFamily="34" charset="0"/>
                <a:ea typeface="Calibri" panose="020F0502020204030204" pitchFamily="34" charset="-122"/>
                <a:cs typeface="Calibri" panose="020F0502020204030204" pitchFamily="34" charset="-120"/>
              </a:rPr>
              <a:t>Problem Statement</a:t>
            </a:r>
            <a:endParaRPr lang="en-US" sz="1250" dirty="0"/>
          </a:p>
        </p:txBody>
      </p:sp>
      <p:sp>
        <p:nvSpPr>
          <p:cNvPr id="12" name="Shape 10"/>
          <p:cNvSpPr/>
          <p:nvPr/>
        </p:nvSpPr>
        <p:spPr>
          <a:xfrm>
            <a:off x="758952" y="2276856"/>
            <a:ext cx="310896" cy="310896"/>
          </a:xfrm>
          <a:prstGeom prst="ellipse">
            <a:avLst/>
          </a:prstGeom>
          <a:solidFill>
            <a:srgbClr val="141B3D"/>
          </a:solidFill>
        </p:spPr>
      </p:sp>
      <p:sp>
        <p:nvSpPr>
          <p:cNvPr id="13" name="Text 11"/>
          <p:cNvSpPr txBox="1"/>
          <p:nvPr/>
        </p:nvSpPr>
        <p:spPr>
          <a:xfrm>
            <a:off x="758952" y="2276856"/>
            <a:ext cx="310896" cy="310896"/>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100" dirty="0"/>
          </a:p>
        </p:txBody>
      </p:sp>
      <p:sp>
        <p:nvSpPr>
          <p:cNvPr id="14" name="Text 12"/>
          <p:cNvSpPr txBox="1"/>
          <p:nvPr/>
        </p:nvSpPr>
        <p:spPr>
          <a:xfrm>
            <a:off x="1170432" y="2295144"/>
            <a:ext cx="2103120" cy="274320"/>
          </a:xfrm>
          <a:prstGeom prst="rect">
            <a:avLst/>
          </a:prstGeom>
          <a:noFill/>
        </p:spPr>
        <p:txBody>
          <a:bodyPr wrap="square" lIns="0" tIns="0" rIns="0" bIns="0" rtlCol="0" anchor="ctr"/>
          <a:lstStyle/>
          <a:p>
            <a:pPr marL="0" indent="0">
              <a:buNone/>
            </a:pPr>
            <a:r>
              <a:rPr lang="en-US" sz="1250" dirty="0">
                <a:solidFill>
                  <a:srgbClr val="333A56"/>
                </a:solidFill>
                <a:latin typeface="Calibri" panose="020F0502020204030204" pitchFamily="34" charset="0"/>
                <a:ea typeface="Calibri" panose="020F0502020204030204" pitchFamily="34" charset="-122"/>
                <a:cs typeface="Calibri" panose="020F0502020204030204" pitchFamily="34" charset="-120"/>
              </a:rPr>
              <a:t>Objectives</a:t>
            </a:r>
            <a:endParaRPr lang="en-US" sz="1250" dirty="0"/>
          </a:p>
        </p:txBody>
      </p:sp>
      <p:sp>
        <p:nvSpPr>
          <p:cNvPr id="15" name="Shape 13"/>
          <p:cNvSpPr/>
          <p:nvPr/>
        </p:nvSpPr>
        <p:spPr>
          <a:xfrm>
            <a:off x="758952" y="2843784"/>
            <a:ext cx="310896" cy="310896"/>
          </a:xfrm>
          <a:prstGeom prst="ellipse">
            <a:avLst/>
          </a:prstGeom>
          <a:solidFill>
            <a:srgbClr val="2E8B8B"/>
          </a:solidFill>
        </p:spPr>
      </p:sp>
      <p:sp>
        <p:nvSpPr>
          <p:cNvPr id="16" name="Text 14"/>
          <p:cNvSpPr txBox="1"/>
          <p:nvPr/>
        </p:nvSpPr>
        <p:spPr>
          <a:xfrm>
            <a:off x="758952" y="2843784"/>
            <a:ext cx="310896" cy="310896"/>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100" dirty="0"/>
          </a:p>
        </p:txBody>
      </p:sp>
      <p:sp>
        <p:nvSpPr>
          <p:cNvPr id="17" name="Text 15"/>
          <p:cNvSpPr txBox="1"/>
          <p:nvPr/>
        </p:nvSpPr>
        <p:spPr>
          <a:xfrm>
            <a:off x="1170432" y="2862072"/>
            <a:ext cx="2103120" cy="274320"/>
          </a:xfrm>
          <a:prstGeom prst="rect">
            <a:avLst/>
          </a:prstGeom>
          <a:noFill/>
        </p:spPr>
        <p:txBody>
          <a:bodyPr wrap="square" lIns="0" tIns="0" rIns="0" bIns="0" rtlCol="0" anchor="ctr"/>
          <a:lstStyle/>
          <a:p>
            <a:pPr marL="0" indent="0">
              <a:buNone/>
            </a:pPr>
            <a:r>
              <a:rPr lang="en-US" sz="1250" dirty="0">
                <a:solidFill>
                  <a:srgbClr val="333A56"/>
                </a:solidFill>
                <a:latin typeface="Calibri" panose="020F0502020204030204" pitchFamily="34" charset="0"/>
                <a:ea typeface="Calibri" panose="020F0502020204030204" pitchFamily="34" charset="-122"/>
                <a:cs typeface="Calibri" panose="020F0502020204030204" pitchFamily="34" charset="-120"/>
              </a:rPr>
              <a:t>Literature Survey</a:t>
            </a:r>
            <a:endParaRPr lang="en-US" sz="1250" dirty="0"/>
          </a:p>
        </p:txBody>
      </p:sp>
      <p:sp>
        <p:nvSpPr>
          <p:cNvPr id="18" name="Shape 16"/>
          <p:cNvSpPr/>
          <p:nvPr/>
        </p:nvSpPr>
        <p:spPr>
          <a:xfrm>
            <a:off x="758952" y="3410712"/>
            <a:ext cx="310896" cy="310896"/>
          </a:xfrm>
          <a:prstGeom prst="ellipse">
            <a:avLst/>
          </a:prstGeom>
          <a:solidFill>
            <a:srgbClr val="141B3D"/>
          </a:solidFill>
        </p:spPr>
      </p:sp>
      <p:sp>
        <p:nvSpPr>
          <p:cNvPr id="19" name="Text 17"/>
          <p:cNvSpPr txBox="1"/>
          <p:nvPr/>
        </p:nvSpPr>
        <p:spPr>
          <a:xfrm>
            <a:off x="758952" y="3410712"/>
            <a:ext cx="310896" cy="310896"/>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100" dirty="0"/>
          </a:p>
        </p:txBody>
      </p:sp>
      <p:sp>
        <p:nvSpPr>
          <p:cNvPr id="20" name="Text 18"/>
          <p:cNvSpPr txBox="1"/>
          <p:nvPr/>
        </p:nvSpPr>
        <p:spPr>
          <a:xfrm>
            <a:off x="1170432" y="3429000"/>
            <a:ext cx="2103120" cy="274320"/>
          </a:xfrm>
          <a:prstGeom prst="rect">
            <a:avLst/>
          </a:prstGeom>
          <a:noFill/>
        </p:spPr>
        <p:txBody>
          <a:bodyPr wrap="square" lIns="0" tIns="0" rIns="0" bIns="0" rtlCol="0" anchor="ctr"/>
          <a:lstStyle/>
          <a:p>
            <a:pPr marL="0" indent="0">
              <a:buNone/>
            </a:pPr>
            <a:r>
              <a:rPr lang="en-US" sz="1250" dirty="0">
                <a:solidFill>
                  <a:srgbClr val="333A56"/>
                </a:solidFill>
                <a:latin typeface="Calibri" panose="020F0502020204030204" pitchFamily="34" charset="0"/>
                <a:ea typeface="Calibri" panose="020F0502020204030204" pitchFamily="34" charset="-122"/>
                <a:cs typeface="Calibri" panose="020F0502020204030204" pitchFamily="34" charset="-120"/>
              </a:rPr>
              <a:t>Proposed System</a:t>
            </a:r>
            <a:endParaRPr lang="en-US" sz="1250" dirty="0"/>
          </a:p>
        </p:txBody>
      </p:sp>
      <p:sp>
        <p:nvSpPr>
          <p:cNvPr id="21" name="Shape 19"/>
          <p:cNvSpPr/>
          <p:nvPr/>
        </p:nvSpPr>
        <p:spPr>
          <a:xfrm>
            <a:off x="3246120" y="1143000"/>
            <a:ext cx="310896" cy="310896"/>
          </a:xfrm>
          <a:prstGeom prst="ellipse">
            <a:avLst/>
          </a:prstGeom>
          <a:solidFill>
            <a:srgbClr val="2E8B8B"/>
          </a:solidFill>
        </p:spPr>
      </p:sp>
      <p:sp>
        <p:nvSpPr>
          <p:cNvPr id="22" name="Text 20"/>
          <p:cNvSpPr txBox="1"/>
          <p:nvPr/>
        </p:nvSpPr>
        <p:spPr>
          <a:xfrm>
            <a:off x="3246120" y="1143000"/>
            <a:ext cx="310896" cy="310896"/>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100" dirty="0"/>
          </a:p>
        </p:txBody>
      </p:sp>
      <p:sp>
        <p:nvSpPr>
          <p:cNvPr id="23" name="Text 21"/>
          <p:cNvSpPr txBox="1"/>
          <p:nvPr/>
        </p:nvSpPr>
        <p:spPr>
          <a:xfrm>
            <a:off x="3657600" y="1161288"/>
            <a:ext cx="2103120" cy="274320"/>
          </a:xfrm>
          <a:prstGeom prst="rect">
            <a:avLst/>
          </a:prstGeom>
          <a:noFill/>
        </p:spPr>
        <p:txBody>
          <a:bodyPr wrap="square" lIns="0" tIns="0" rIns="0" bIns="0" rtlCol="0" anchor="ctr"/>
          <a:lstStyle/>
          <a:p>
            <a:pPr marL="0" indent="0">
              <a:buNone/>
            </a:pPr>
            <a:r>
              <a:rPr lang="en-US" sz="1250" dirty="0">
                <a:solidFill>
                  <a:srgbClr val="333A56"/>
                </a:solidFill>
                <a:latin typeface="Calibri" panose="020F0502020204030204" pitchFamily="34" charset="0"/>
                <a:ea typeface="Calibri" panose="020F0502020204030204" pitchFamily="34" charset="-122"/>
                <a:cs typeface="Calibri" panose="020F0502020204030204" pitchFamily="34" charset="-120"/>
              </a:rPr>
              <a:t>Software Requirements</a:t>
            </a:r>
            <a:endParaRPr lang="en-US" sz="1250" dirty="0"/>
          </a:p>
        </p:txBody>
      </p:sp>
      <p:sp>
        <p:nvSpPr>
          <p:cNvPr id="24" name="Shape 22"/>
          <p:cNvSpPr/>
          <p:nvPr/>
        </p:nvSpPr>
        <p:spPr>
          <a:xfrm>
            <a:off x="3246120" y="1709928"/>
            <a:ext cx="310896" cy="310896"/>
          </a:xfrm>
          <a:prstGeom prst="ellipse">
            <a:avLst/>
          </a:prstGeom>
          <a:solidFill>
            <a:srgbClr val="141B3D"/>
          </a:solidFill>
        </p:spPr>
      </p:sp>
      <p:sp>
        <p:nvSpPr>
          <p:cNvPr id="25" name="Text 23"/>
          <p:cNvSpPr txBox="1"/>
          <p:nvPr/>
        </p:nvSpPr>
        <p:spPr>
          <a:xfrm>
            <a:off x="3246120" y="1709928"/>
            <a:ext cx="310896" cy="310896"/>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7</a:t>
            </a:r>
            <a:endParaRPr lang="en-US" sz="1100" dirty="0"/>
          </a:p>
        </p:txBody>
      </p:sp>
      <p:sp>
        <p:nvSpPr>
          <p:cNvPr id="26" name="Text 24"/>
          <p:cNvSpPr txBox="1"/>
          <p:nvPr/>
        </p:nvSpPr>
        <p:spPr>
          <a:xfrm>
            <a:off x="3657600" y="1728216"/>
            <a:ext cx="2103120" cy="274320"/>
          </a:xfrm>
          <a:prstGeom prst="rect">
            <a:avLst/>
          </a:prstGeom>
          <a:noFill/>
        </p:spPr>
        <p:txBody>
          <a:bodyPr wrap="square" lIns="0" tIns="0" rIns="0" bIns="0" rtlCol="0" anchor="ctr"/>
          <a:lstStyle/>
          <a:p>
            <a:pPr marL="0" indent="0">
              <a:buNone/>
            </a:pPr>
            <a:r>
              <a:rPr lang="en-US" sz="1250" dirty="0">
                <a:solidFill>
                  <a:srgbClr val="333A56"/>
                </a:solidFill>
                <a:latin typeface="Calibri" panose="020F0502020204030204" pitchFamily="34" charset="0"/>
                <a:ea typeface="Calibri" panose="020F0502020204030204" pitchFamily="34" charset="-122"/>
                <a:cs typeface="Calibri" panose="020F0502020204030204" pitchFamily="34" charset="-120"/>
              </a:rPr>
              <a:t>System Architecture</a:t>
            </a:r>
            <a:endParaRPr lang="en-US" sz="1250" dirty="0"/>
          </a:p>
        </p:txBody>
      </p:sp>
      <p:sp>
        <p:nvSpPr>
          <p:cNvPr id="27" name="Shape 25"/>
          <p:cNvSpPr/>
          <p:nvPr/>
        </p:nvSpPr>
        <p:spPr>
          <a:xfrm>
            <a:off x="3246120" y="2276856"/>
            <a:ext cx="310896" cy="310896"/>
          </a:xfrm>
          <a:prstGeom prst="ellipse">
            <a:avLst/>
          </a:prstGeom>
          <a:solidFill>
            <a:srgbClr val="2E8B8B"/>
          </a:solidFill>
        </p:spPr>
      </p:sp>
      <p:sp>
        <p:nvSpPr>
          <p:cNvPr id="28" name="Text 26"/>
          <p:cNvSpPr txBox="1"/>
          <p:nvPr/>
        </p:nvSpPr>
        <p:spPr>
          <a:xfrm>
            <a:off x="3246120" y="2276856"/>
            <a:ext cx="310896" cy="310896"/>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8</a:t>
            </a:r>
            <a:endParaRPr lang="en-US" sz="1100" dirty="0"/>
          </a:p>
        </p:txBody>
      </p:sp>
      <p:sp>
        <p:nvSpPr>
          <p:cNvPr id="29" name="Text 27"/>
          <p:cNvSpPr txBox="1"/>
          <p:nvPr/>
        </p:nvSpPr>
        <p:spPr>
          <a:xfrm>
            <a:off x="3657600" y="2295144"/>
            <a:ext cx="2103120" cy="274320"/>
          </a:xfrm>
          <a:prstGeom prst="rect">
            <a:avLst/>
          </a:prstGeom>
          <a:noFill/>
        </p:spPr>
        <p:txBody>
          <a:bodyPr wrap="square" lIns="0" tIns="0" rIns="0" bIns="0" rtlCol="0" anchor="ctr"/>
          <a:lstStyle/>
          <a:p>
            <a:pPr marL="0" indent="0">
              <a:buNone/>
            </a:pPr>
            <a:r>
              <a:rPr lang="en-US" sz="1250" dirty="0">
                <a:solidFill>
                  <a:srgbClr val="333A56"/>
                </a:solidFill>
                <a:latin typeface="Calibri" panose="020F0502020204030204" pitchFamily="34" charset="0"/>
                <a:ea typeface="Calibri" panose="020F0502020204030204" pitchFamily="34" charset="-122"/>
                <a:cs typeface="Calibri" panose="020F0502020204030204" pitchFamily="34" charset="-120"/>
              </a:rPr>
              <a:t>Workflow</a:t>
            </a:r>
            <a:endParaRPr lang="en-US" sz="1250" dirty="0"/>
          </a:p>
        </p:txBody>
      </p:sp>
      <p:sp>
        <p:nvSpPr>
          <p:cNvPr id="30" name="Shape 28"/>
          <p:cNvSpPr/>
          <p:nvPr/>
        </p:nvSpPr>
        <p:spPr>
          <a:xfrm>
            <a:off x="3246120" y="2843784"/>
            <a:ext cx="310896" cy="310896"/>
          </a:xfrm>
          <a:prstGeom prst="ellipse">
            <a:avLst/>
          </a:prstGeom>
          <a:solidFill>
            <a:srgbClr val="141B3D"/>
          </a:solidFill>
        </p:spPr>
      </p:sp>
      <p:sp>
        <p:nvSpPr>
          <p:cNvPr id="31" name="Text 29"/>
          <p:cNvSpPr txBox="1"/>
          <p:nvPr/>
        </p:nvSpPr>
        <p:spPr>
          <a:xfrm>
            <a:off x="3246120" y="2843784"/>
            <a:ext cx="310896" cy="310896"/>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9</a:t>
            </a:r>
            <a:endParaRPr lang="en-US" sz="1100" dirty="0"/>
          </a:p>
        </p:txBody>
      </p:sp>
      <p:sp>
        <p:nvSpPr>
          <p:cNvPr id="32" name="Text 30"/>
          <p:cNvSpPr txBox="1"/>
          <p:nvPr/>
        </p:nvSpPr>
        <p:spPr>
          <a:xfrm>
            <a:off x="3657600" y="2862072"/>
            <a:ext cx="2103120" cy="274320"/>
          </a:xfrm>
          <a:prstGeom prst="rect">
            <a:avLst/>
          </a:prstGeom>
          <a:noFill/>
        </p:spPr>
        <p:txBody>
          <a:bodyPr wrap="square" lIns="0" tIns="0" rIns="0" bIns="0" rtlCol="0" anchor="ctr"/>
          <a:lstStyle/>
          <a:p>
            <a:pPr marL="0" indent="0">
              <a:buNone/>
            </a:pPr>
            <a:r>
              <a:rPr lang="en-US" sz="1250" dirty="0">
                <a:solidFill>
                  <a:srgbClr val="333A56"/>
                </a:solidFill>
                <a:latin typeface="Calibri" panose="020F0502020204030204" pitchFamily="34" charset="0"/>
                <a:ea typeface="Calibri" panose="020F0502020204030204" pitchFamily="34" charset="-122"/>
                <a:cs typeface="Calibri" panose="020F0502020204030204" pitchFamily="34" charset="-120"/>
              </a:rPr>
              <a:t>Algorithm &amp; Methodology</a:t>
            </a:r>
            <a:endParaRPr lang="en-US" sz="1250" dirty="0"/>
          </a:p>
        </p:txBody>
      </p:sp>
      <p:sp>
        <p:nvSpPr>
          <p:cNvPr id="33" name="Shape 31"/>
          <p:cNvSpPr/>
          <p:nvPr/>
        </p:nvSpPr>
        <p:spPr>
          <a:xfrm>
            <a:off x="3246120" y="3410712"/>
            <a:ext cx="310896" cy="310896"/>
          </a:xfrm>
          <a:prstGeom prst="ellipse">
            <a:avLst/>
          </a:prstGeom>
          <a:solidFill>
            <a:srgbClr val="2E8B8B"/>
          </a:solidFill>
        </p:spPr>
      </p:sp>
      <p:sp>
        <p:nvSpPr>
          <p:cNvPr id="34" name="Text 32"/>
          <p:cNvSpPr txBox="1"/>
          <p:nvPr/>
        </p:nvSpPr>
        <p:spPr>
          <a:xfrm>
            <a:off x="3246120" y="3410712"/>
            <a:ext cx="310896" cy="310896"/>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10</a:t>
            </a:r>
            <a:endParaRPr lang="en-US" sz="1100" dirty="0"/>
          </a:p>
        </p:txBody>
      </p:sp>
      <p:sp>
        <p:nvSpPr>
          <p:cNvPr id="35" name="Text 33"/>
          <p:cNvSpPr txBox="1"/>
          <p:nvPr/>
        </p:nvSpPr>
        <p:spPr>
          <a:xfrm>
            <a:off x="3657600" y="3429000"/>
            <a:ext cx="2103120" cy="274320"/>
          </a:xfrm>
          <a:prstGeom prst="rect">
            <a:avLst/>
          </a:prstGeom>
          <a:noFill/>
        </p:spPr>
        <p:txBody>
          <a:bodyPr wrap="square" lIns="0" tIns="0" rIns="0" bIns="0" rtlCol="0" anchor="ctr"/>
          <a:lstStyle/>
          <a:p>
            <a:pPr marL="0" indent="0">
              <a:buNone/>
            </a:pPr>
            <a:r>
              <a:rPr lang="en-US" sz="1250" dirty="0">
                <a:solidFill>
                  <a:srgbClr val="333A56"/>
                </a:solidFill>
                <a:latin typeface="Calibri" panose="020F0502020204030204" pitchFamily="34" charset="0"/>
                <a:ea typeface="Calibri" panose="020F0502020204030204" pitchFamily="34" charset="-122"/>
                <a:cs typeface="Calibri" panose="020F0502020204030204" pitchFamily="34" charset="-120"/>
              </a:rPr>
              <a:t>Modules</a:t>
            </a:r>
            <a:endParaRPr lang="en-US" sz="1250" dirty="0"/>
          </a:p>
        </p:txBody>
      </p:sp>
      <p:sp>
        <p:nvSpPr>
          <p:cNvPr id="36" name="Shape 34"/>
          <p:cNvSpPr/>
          <p:nvPr/>
        </p:nvSpPr>
        <p:spPr>
          <a:xfrm>
            <a:off x="5989320" y="1143000"/>
            <a:ext cx="310896" cy="310896"/>
          </a:xfrm>
          <a:prstGeom prst="ellipse">
            <a:avLst/>
          </a:prstGeom>
          <a:solidFill>
            <a:srgbClr val="141B3D"/>
          </a:solidFill>
        </p:spPr>
      </p:sp>
      <p:sp>
        <p:nvSpPr>
          <p:cNvPr id="37" name="Text 35"/>
          <p:cNvSpPr txBox="1"/>
          <p:nvPr/>
        </p:nvSpPr>
        <p:spPr>
          <a:xfrm>
            <a:off x="5989320" y="1143000"/>
            <a:ext cx="310896" cy="310896"/>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11</a:t>
            </a:r>
            <a:endParaRPr lang="en-US" sz="1100" dirty="0"/>
          </a:p>
        </p:txBody>
      </p:sp>
      <p:sp>
        <p:nvSpPr>
          <p:cNvPr id="38" name="Text 36"/>
          <p:cNvSpPr txBox="1"/>
          <p:nvPr/>
        </p:nvSpPr>
        <p:spPr>
          <a:xfrm>
            <a:off x="6400800" y="1161288"/>
            <a:ext cx="2103120" cy="274320"/>
          </a:xfrm>
          <a:prstGeom prst="rect">
            <a:avLst/>
          </a:prstGeom>
          <a:noFill/>
        </p:spPr>
        <p:txBody>
          <a:bodyPr wrap="square" lIns="0" tIns="0" rIns="0" bIns="0" rtlCol="0" anchor="ctr"/>
          <a:lstStyle/>
          <a:p>
            <a:pPr marL="0" indent="0">
              <a:buNone/>
            </a:pPr>
            <a:r>
              <a:rPr lang="en-US" sz="1250" dirty="0">
                <a:solidFill>
                  <a:srgbClr val="333A56"/>
                </a:solidFill>
                <a:latin typeface="Calibri" panose="020F0502020204030204" pitchFamily="34" charset="0"/>
                <a:ea typeface="Calibri" panose="020F0502020204030204" pitchFamily="34" charset="-122"/>
                <a:cs typeface="Calibri" panose="020F0502020204030204" pitchFamily="34" charset="-120"/>
              </a:rPr>
              <a:t>Key Achievements</a:t>
            </a:r>
            <a:endParaRPr lang="en-US" sz="1250" dirty="0"/>
          </a:p>
        </p:txBody>
      </p:sp>
      <p:sp>
        <p:nvSpPr>
          <p:cNvPr id="39" name="Shape 37"/>
          <p:cNvSpPr/>
          <p:nvPr/>
        </p:nvSpPr>
        <p:spPr>
          <a:xfrm>
            <a:off x="5989320" y="1709928"/>
            <a:ext cx="310896" cy="310896"/>
          </a:xfrm>
          <a:prstGeom prst="ellipse">
            <a:avLst/>
          </a:prstGeom>
          <a:solidFill>
            <a:srgbClr val="2E8B8B"/>
          </a:solidFill>
        </p:spPr>
      </p:sp>
      <p:sp>
        <p:nvSpPr>
          <p:cNvPr id="40" name="Text 38"/>
          <p:cNvSpPr txBox="1"/>
          <p:nvPr/>
        </p:nvSpPr>
        <p:spPr>
          <a:xfrm>
            <a:off x="5989320" y="1709928"/>
            <a:ext cx="310896" cy="310896"/>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12</a:t>
            </a:r>
            <a:endParaRPr lang="en-US" sz="1100" dirty="0"/>
          </a:p>
        </p:txBody>
      </p:sp>
      <p:sp>
        <p:nvSpPr>
          <p:cNvPr id="41" name="Text 39"/>
          <p:cNvSpPr txBox="1"/>
          <p:nvPr/>
        </p:nvSpPr>
        <p:spPr>
          <a:xfrm>
            <a:off x="6400800" y="1728216"/>
            <a:ext cx="2103120" cy="274320"/>
          </a:xfrm>
          <a:prstGeom prst="rect">
            <a:avLst/>
          </a:prstGeom>
          <a:noFill/>
        </p:spPr>
        <p:txBody>
          <a:bodyPr wrap="square" lIns="0" tIns="0" rIns="0" bIns="0" rtlCol="0" anchor="ctr"/>
          <a:lstStyle/>
          <a:p>
            <a:pPr marL="0" indent="0">
              <a:buNone/>
            </a:pPr>
            <a:r>
              <a:rPr lang="en-US" sz="1250" dirty="0">
                <a:solidFill>
                  <a:srgbClr val="333A56"/>
                </a:solidFill>
                <a:latin typeface="Calibri" panose="020F0502020204030204" pitchFamily="34" charset="0"/>
                <a:ea typeface="Calibri" panose="020F0502020204030204" pitchFamily="34" charset="-122"/>
                <a:cs typeface="Calibri" panose="020F0502020204030204" pitchFamily="34" charset="-120"/>
              </a:rPr>
              <a:t>Screenshots</a:t>
            </a:r>
            <a:endParaRPr lang="en-US" sz="1250" dirty="0"/>
          </a:p>
        </p:txBody>
      </p:sp>
      <p:sp>
        <p:nvSpPr>
          <p:cNvPr id="42" name="Shape 40"/>
          <p:cNvSpPr/>
          <p:nvPr/>
        </p:nvSpPr>
        <p:spPr>
          <a:xfrm>
            <a:off x="5989320" y="2276856"/>
            <a:ext cx="310896" cy="310896"/>
          </a:xfrm>
          <a:prstGeom prst="ellipse">
            <a:avLst/>
          </a:prstGeom>
          <a:solidFill>
            <a:srgbClr val="141B3D"/>
          </a:solidFill>
        </p:spPr>
      </p:sp>
      <p:sp>
        <p:nvSpPr>
          <p:cNvPr id="43" name="Text 41"/>
          <p:cNvSpPr txBox="1"/>
          <p:nvPr/>
        </p:nvSpPr>
        <p:spPr>
          <a:xfrm>
            <a:off x="5989320" y="2276856"/>
            <a:ext cx="310896" cy="310896"/>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13</a:t>
            </a:r>
            <a:endParaRPr lang="en-US" sz="1100" dirty="0"/>
          </a:p>
        </p:txBody>
      </p:sp>
      <p:sp>
        <p:nvSpPr>
          <p:cNvPr id="44" name="Text 42"/>
          <p:cNvSpPr txBox="1"/>
          <p:nvPr/>
        </p:nvSpPr>
        <p:spPr>
          <a:xfrm>
            <a:off x="6400800" y="2295144"/>
            <a:ext cx="2103120" cy="274320"/>
          </a:xfrm>
          <a:prstGeom prst="rect">
            <a:avLst/>
          </a:prstGeom>
          <a:noFill/>
        </p:spPr>
        <p:txBody>
          <a:bodyPr wrap="square" lIns="0" tIns="0" rIns="0" bIns="0" rtlCol="0" anchor="ctr"/>
          <a:lstStyle/>
          <a:p>
            <a:pPr marL="0" indent="0">
              <a:buNone/>
            </a:pPr>
            <a:r>
              <a:rPr lang="en-US" sz="1250" dirty="0">
                <a:solidFill>
                  <a:srgbClr val="333A56"/>
                </a:solidFill>
                <a:latin typeface="Calibri" panose="020F0502020204030204" pitchFamily="34" charset="0"/>
                <a:ea typeface="Calibri" panose="020F0502020204030204" pitchFamily="34" charset="-122"/>
                <a:cs typeface="Calibri" panose="020F0502020204030204" pitchFamily="34" charset="-120"/>
              </a:rPr>
              <a:t>Results</a:t>
            </a:r>
            <a:endParaRPr lang="en-US" sz="1250" dirty="0"/>
          </a:p>
        </p:txBody>
      </p:sp>
      <p:sp>
        <p:nvSpPr>
          <p:cNvPr id="45" name="Shape 43"/>
          <p:cNvSpPr/>
          <p:nvPr/>
        </p:nvSpPr>
        <p:spPr>
          <a:xfrm>
            <a:off x="5989320" y="2843784"/>
            <a:ext cx="310896" cy="310896"/>
          </a:xfrm>
          <a:prstGeom prst="ellipse">
            <a:avLst/>
          </a:prstGeom>
          <a:solidFill>
            <a:srgbClr val="2E8B8B"/>
          </a:solidFill>
        </p:spPr>
      </p:sp>
      <p:sp>
        <p:nvSpPr>
          <p:cNvPr id="46" name="Text 44"/>
          <p:cNvSpPr txBox="1"/>
          <p:nvPr/>
        </p:nvSpPr>
        <p:spPr>
          <a:xfrm>
            <a:off x="5989320" y="2843784"/>
            <a:ext cx="310896" cy="310896"/>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14</a:t>
            </a:r>
            <a:endParaRPr lang="en-US" sz="1100" dirty="0"/>
          </a:p>
        </p:txBody>
      </p:sp>
      <p:sp>
        <p:nvSpPr>
          <p:cNvPr id="47" name="Text 45"/>
          <p:cNvSpPr txBox="1"/>
          <p:nvPr/>
        </p:nvSpPr>
        <p:spPr>
          <a:xfrm>
            <a:off x="6400800" y="2862072"/>
            <a:ext cx="2103120" cy="274320"/>
          </a:xfrm>
          <a:prstGeom prst="rect">
            <a:avLst/>
          </a:prstGeom>
          <a:noFill/>
        </p:spPr>
        <p:txBody>
          <a:bodyPr wrap="square" lIns="0" tIns="0" rIns="0" bIns="0" rtlCol="0" anchor="ctr"/>
          <a:lstStyle/>
          <a:p>
            <a:pPr marL="0" indent="0">
              <a:buNone/>
            </a:pPr>
            <a:r>
              <a:rPr lang="en-US" sz="1250" dirty="0">
                <a:solidFill>
                  <a:srgbClr val="333A56"/>
                </a:solidFill>
                <a:latin typeface="Calibri" panose="020F0502020204030204" pitchFamily="34" charset="0"/>
                <a:ea typeface="Calibri" panose="020F0502020204030204" pitchFamily="34" charset="-122"/>
                <a:cs typeface="Calibri" panose="020F0502020204030204" pitchFamily="34" charset="-120"/>
              </a:rPr>
              <a:t>Future Scope</a:t>
            </a:r>
            <a:endParaRPr lang="en-US" sz="1250" dirty="0"/>
          </a:p>
        </p:txBody>
      </p:sp>
      <p:sp>
        <p:nvSpPr>
          <p:cNvPr id="48" name="Shape 46"/>
          <p:cNvSpPr/>
          <p:nvPr/>
        </p:nvSpPr>
        <p:spPr>
          <a:xfrm>
            <a:off x="5989320" y="3410712"/>
            <a:ext cx="310896" cy="310896"/>
          </a:xfrm>
          <a:prstGeom prst="ellipse">
            <a:avLst/>
          </a:prstGeom>
          <a:solidFill>
            <a:srgbClr val="141B3D"/>
          </a:solidFill>
        </p:spPr>
      </p:sp>
      <p:sp>
        <p:nvSpPr>
          <p:cNvPr id="49" name="Text 47"/>
          <p:cNvSpPr txBox="1"/>
          <p:nvPr/>
        </p:nvSpPr>
        <p:spPr>
          <a:xfrm>
            <a:off x="5989320" y="3410712"/>
            <a:ext cx="310896" cy="310896"/>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15</a:t>
            </a:r>
            <a:endParaRPr lang="en-US" sz="1100" dirty="0"/>
          </a:p>
        </p:txBody>
      </p:sp>
      <p:sp>
        <p:nvSpPr>
          <p:cNvPr id="50" name="Text 48"/>
          <p:cNvSpPr txBox="1"/>
          <p:nvPr/>
        </p:nvSpPr>
        <p:spPr>
          <a:xfrm>
            <a:off x="6400800" y="3429000"/>
            <a:ext cx="2103120" cy="274320"/>
          </a:xfrm>
          <a:prstGeom prst="rect">
            <a:avLst/>
          </a:prstGeom>
          <a:noFill/>
        </p:spPr>
        <p:txBody>
          <a:bodyPr wrap="square" lIns="0" tIns="0" rIns="0" bIns="0" rtlCol="0" anchor="ctr"/>
          <a:lstStyle/>
          <a:p>
            <a:pPr marL="0" indent="0">
              <a:buNone/>
            </a:pPr>
            <a:r>
              <a:rPr lang="en-US" sz="1250" dirty="0">
                <a:solidFill>
                  <a:srgbClr val="333A56"/>
                </a:solidFill>
                <a:latin typeface="Calibri" panose="020F0502020204030204" pitchFamily="34" charset="0"/>
                <a:ea typeface="Calibri" panose="020F0502020204030204" pitchFamily="34" charset="-122"/>
                <a:cs typeface="Calibri" panose="020F0502020204030204" pitchFamily="34" charset="-120"/>
              </a:rPr>
              <a:t>Conclusion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1B3D"/>
        </a:solidFill>
        <a:effectLst/>
      </p:bgPr>
    </p:bg>
    <p:spTree>
      <p:nvGrpSpPr>
        <p:cNvPr id="1" name=""/>
        <p:cNvGrpSpPr/>
        <p:nvPr/>
      </p:nvGrpSpPr>
      <p:grpSpPr>
        <a:xfrm>
          <a:off x="0" y="0"/>
          <a:ext cx="0" cy="0"/>
          <a:chOff x="0" y="0"/>
          <a:chExt cx="0" cy="0"/>
        </a:xfrm>
      </p:grpSpPr>
      <p:sp>
        <p:nvSpPr>
          <p:cNvPr id="2" name="Shape 0"/>
          <p:cNvSpPr/>
          <p:nvPr/>
        </p:nvSpPr>
        <p:spPr>
          <a:xfrm>
            <a:off x="-502920" y="-502920"/>
            <a:ext cx="1371600" cy="1371600"/>
          </a:xfrm>
          <a:prstGeom prst="ellipse">
            <a:avLst/>
          </a:prstGeom>
          <a:solidFill>
            <a:srgbClr val="2E8B8B">
              <a:alpha val="55000"/>
            </a:srgbClr>
          </a:solidFill>
        </p:spPr>
      </p:sp>
      <p:sp>
        <p:nvSpPr>
          <p:cNvPr id="3" name="Shape 1"/>
          <p:cNvSpPr/>
          <p:nvPr/>
        </p:nvSpPr>
        <p:spPr>
          <a:xfrm>
            <a:off x="8366760" y="4343400"/>
            <a:ext cx="1280160" cy="1280160"/>
          </a:xfrm>
          <a:prstGeom prst="ellipse">
            <a:avLst/>
          </a:prstGeom>
          <a:solidFill>
            <a:srgbClr val="E0A458">
              <a:alpha val="55000"/>
            </a:srgbClr>
          </a:solidFill>
        </p:spPr>
      </p:sp>
      <p:sp>
        <p:nvSpPr>
          <p:cNvPr id="4" name="Shape 2"/>
          <p:cNvSpPr/>
          <p:nvPr/>
        </p:nvSpPr>
        <p:spPr>
          <a:xfrm>
            <a:off x="256032" y="237744"/>
            <a:ext cx="8631936" cy="4672584"/>
          </a:xfrm>
          <a:prstGeom prst="roundRect">
            <a:avLst>
              <a:gd name="adj" fmla="val 2348"/>
            </a:avLst>
          </a:prstGeom>
          <a:solidFill>
            <a:srgbClr val="FBF8F3"/>
          </a:solidFill>
          <a:ln w="12700">
            <a:solidFill>
              <a:srgbClr val="FFFFFF"/>
            </a:solidFill>
            <a:prstDash val="solid"/>
          </a:ln>
          <a:effectLst>
            <a:outerShdw blurRad="152400" dist="25400" dir="5400000" algn="bl" rotWithShape="0">
              <a:srgbClr val="000000">
                <a:alpha val="25000"/>
              </a:srgbClr>
            </a:outerShdw>
          </a:effectLst>
        </p:spPr>
      </p:sp>
      <p:sp>
        <p:nvSpPr>
          <p:cNvPr id="5" name="Text 3"/>
          <p:cNvSpPr txBox="1"/>
          <p:nvPr/>
        </p:nvSpPr>
        <p:spPr>
          <a:xfrm>
            <a:off x="530352" y="384048"/>
            <a:ext cx="8083296" cy="502920"/>
          </a:xfrm>
          <a:prstGeom prst="rect">
            <a:avLst/>
          </a:prstGeom>
          <a:noFill/>
        </p:spPr>
        <p:txBody>
          <a:bodyPr wrap="square" lIns="0" tIns="0" rIns="0" bIns="0" rtlCol="0" anchor="ctr"/>
          <a:lstStyle/>
          <a:p>
            <a:pPr marL="0" indent="0" algn="ctr">
              <a:buNone/>
            </a:pPr>
            <a:r>
              <a:rPr lang="en-US" sz="2800" b="1" dirty="0">
                <a:solidFill>
                  <a:srgbClr val="141B3D"/>
                </a:solidFill>
                <a:latin typeface="Cambria" panose="02040503050406030204" pitchFamily="34" charset="0"/>
                <a:ea typeface="Cambria" panose="02040503050406030204" pitchFamily="34" charset="-122"/>
                <a:cs typeface="Cambria" panose="02040503050406030204" pitchFamily="34" charset="-120"/>
              </a:rPr>
              <a:t>INTRODUCTION</a:t>
            </a:r>
            <a:endParaRPr lang="en-US" sz="2800" dirty="0"/>
          </a:p>
        </p:txBody>
      </p:sp>
      <p:sp>
        <p:nvSpPr>
          <p:cNvPr id="6" name="Text 4"/>
          <p:cNvSpPr txBox="1"/>
          <p:nvPr/>
        </p:nvSpPr>
        <p:spPr>
          <a:xfrm>
            <a:off x="667512" y="932688"/>
            <a:ext cx="4937760" cy="1463040"/>
          </a:xfrm>
          <a:prstGeom prst="rect">
            <a:avLst/>
          </a:prstGeom>
          <a:noFill/>
        </p:spPr>
        <p:txBody>
          <a:bodyPr wrap="square" lIns="0" tIns="0" rIns="0" bIns="0" rtlCol="0" anchor="t"/>
          <a:lstStyle/>
          <a:p>
            <a:pPr marL="0" indent="0" algn="just">
              <a:lnSpc>
                <a:spcPct val="115000"/>
              </a:lnSpc>
              <a:buNone/>
            </a:pPr>
            <a:r>
              <a:rPr lang="en-US" sz="1300" dirty="0">
                <a:solidFill>
                  <a:srgbClr val="333A56"/>
                </a:solidFill>
                <a:latin typeface="Calibri" panose="020F0502020204030204" pitchFamily="34" charset="0"/>
                <a:ea typeface="Calibri" panose="020F0502020204030204" pitchFamily="34" charset="-122"/>
                <a:cs typeface="Calibri" panose="020F0502020204030204" pitchFamily="34" charset="-120"/>
              </a:rPr>
              <a:t>Students today have more study material than time — lecture PDFs, handwritten notes, recorded classes and reference books. The bottleneck is no longer access to information but the effort needed to convert that information into understanding. Most learners spend the bulk of their time re-reading material instead of actively testing themselves, which research on learning consistently shows is the weaker strategy.</a:t>
            </a:r>
            <a:endParaRPr lang="en-US" sz="1300" dirty="0"/>
          </a:p>
        </p:txBody>
      </p:sp>
      <p:sp>
        <p:nvSpPr>
          <p:cNvPr id="7" name="Text 5"/>
          <p:cNvSpPr txBox="1"/>
          <p:nvPr/>
        </p:nvSpPr>
        <p:spPr>
          <a:xfrm>
            <a:off x="667512" y="2487168"/>
            <a:ext cx="4937760" cy="1554480"/>
          </a:xfrm>
          <a:prstGeom prst="rect">
            <a:avLst/>
          </a:prstGeom>
          <a:noFill/>
        </p:spPr>
        <p:txBody>
          <a:bodyPr wrap="square" lIns="0" tIns="0" rIns="0" bIns="0" rtlCol="0" anchor="t"/>
          <a:lstStyle/>
          <a:p>
            <a:pPr marL="0" indent="0" algn="just">
              <a:lnSpc>
                <a:spcPct val="115000"/>
              </a:lnSpc>
              <a:buNone/>
            </a:pPr>
            <a:r>
              <a:rPr lang="en-US" sz="1300" dirty="0">
                <a:solidFill>
                  <a:srgbClr val="333A56"/>
                </a:solidFill>
                <a:latin typeface="Calibri" panose="020F0502020204030204" pitchFamily="34" charset="0"/>
                <a:ea typeface="Calibri" panose="020F0502020204030204" pitchFamily="34" charset="-122"/>
                <a:cs typeface="Calibri" panose="020F0502020204030204" pitchFamily="34" charset="-120"/>
              </a:rPr>
              <a:t>The AI Study Companion is a web application built around subject workspaces. A student uploads the PDF or DOCX material for a subject; the system extracts the text, stores it, and sends it to the Google Gemini API with a task-specific prompt. From that single upload it can hold a doubt-solving conversation, write revision notes, prepare exam material</a:t>
            </a:r>
            <a:r>
              <a:rPr lang="en-IN" altLang="en-US" sz="1300" dirty="0">
                <a:solidFill>
                  <a:srgbClr val="333A56"/>
                </a:solidFill>
                <a:latin typeface="Calibri" panose="020F0502020204030204" pitchFamily="34" charset="0"/>
                <a:ea typeface="Calibri" panose="020F0502020204030204" pitchFamily="34" charset="-122"/>
                <a:cs typeface="Calibri" panose="020F0502020204030204" pitchFamily="34" charset="-120"/>
              </a:rPr>
              <a:t> notes</a:t>
            </a:r>
            <a:r>
              <a:rPr lang="en-US" sz="1300" dirty="0">
                <a:solidFill>
                  <a:srgbClr val="333A56"/>
                </a:solidFill>
                <a:latin typeface="Calibri" panose="020F0502020204030204" pitchFamily="34" charset="0"/>
                <a:ea typeface="Calibri" panose="020F0502020204030204" pitchFamily="34" charset="-122"/>
                <a:cs typeface="Calibri" panose="020F0502020204030204" pitchFamily="34" charset="-120"/>
              </a:rPr>
              <a:t> and lay out a concept roadmap and logic flow — turning passive notes into an active study loop.</a:t>
            </a:r>
            <a:endParaRPr lang="en-US" sz="1300" dirty="0"/>
          </a:p>
        </p:txBody>
      </p:sp>
      <p:sp>
        <p:nvSpPr>
          <p:cNvPr id="8" name="Shape 6"/>
          <p:cNvSpPr/>
          <p:nvPr/>
        </p:nvSpPr>
        <p:spPr>
          <a:xfrm>
            <a:off x="5623560" y="1143000"/>
            <a:ext cx="2971800" cy="841248"/>
          </a:xfrm>
          <a:prstGeom prst="roundRect">
            <a:avLst>
              <a:gd name="adj" fmla="val 8696"/>
            </a:avLst>
          </a:prstGeom>
          <a:solidFill>
            <a:srgbClr val="141B3D">
              <a:alpha val="7000"/>
            </a:srgbClr>
          </a:solidFill>
        </p:spPr>
      </p:sp>
      <p:sp>
        <p:nvSpPr>
          <p:cNvPr id="9" name="Shape 7"/>
          <p:cNvSpPr/>
          <p:nvPr/>
        </p:nvSpPr>
        <p:spPr>
          <a:xfrm>
            <a:off x="5806440" y="1380744"/>
            <a:ext cx="365760" cy="365760"/>
          </a:xfrm>
          <a:prstGeom prst="ellipse">
            <a:avLst/>
          </a:prstGeom>
          <a:solidFill>
            <a:srgbClr val="141B3D"/>
          </a:solidFill>
        </p:spPr>
      </p:sp>
      <p:sp>
        <p:nvSpPr>
          <p:cNvPr id="10" name="Text 8"/>
          <p:cNvSpPr txBox="1"/>
          <p:nvPr/>
        </p:nvSpPr>
        <p:spPr>
          <a:xfrm>
            <a:off x="5806440" y="1380744"/>
            <a:ext cx="365760" cy="365760"/>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200" dirty="0"/>
          </a:p>
        </p:txBody>
      </p:sp>
      <p:sp>
        <p:nvSpPr>
          <p:cNvPr id="11" name="Text 9"/>
          <p:cNvSpPr txBox="1"/>
          <p:nvPr/>
        </p:nvSpPr>
        <p:spPr>
          <a:xfrm>
            <a:off x="6309360" y="1325880"/>
            <a:ext cx="2148840" cy="237744"/>
          </a:xfrm>
          <a:prstGeom prst="rect">
            <a:avLst/>
          </a:prstGeom>
          <a:noFill/>
        </p:spPr>
        <p:txBody>
          <a:bodyPr wrap="square" lIns="0" tIns="0" rIns="0" bIns="0" rtlCol="0" anchor="ctr"/>
          <a:lstStyle/>
          <a:p>
            <a:pPr marL="0" indent="0">
              <a:buNone/>
            </a:pPr>
            <a:r>
              <a:rPr lang="en-US" sz="1250" b="1" dirty="0">
                <a:solidFill>
                  <a:srgbClr val="141B3D"/>
                </a:solidFill>
                <a:latin typeface="Calibri" panose="020F0502020204030204" pitchFamily="34" charset="0"/>
                <a:ea typeface="Calibri" panose="020F0502020204030204" pitchFamily="34" charset="-122"/>
                <a:cs typeface="Calibri" panose="020F0502020204030204" pitchFamily="34" charset="-120"/>
              </a:rPr>
              <a:t>Reads your material</a:t>
            </a:r>
            <a:endParaRPr lang="en-US" sz="1250" dirty="0"/>
          </a:p>
        </p:txBody>
      </p:sp>
      <p:sp>
        <p:nvSpPr>
          <p:cNvPr id="12" name="Text 10"/>
          <p:cNvSpPr txBox="1"/>
          <p:nvPr/>
        </p:nvSpPr>
        <p:spPr>
          <a:xfrm>
            <a:off x="6309360" y="1563624"/>
            <a:ext cx="2148840" cy="237744"/>
          </a:xfrm>
          <a:prstGeom prst="rect">
            <a:avLst/>
          </a:prstGeom>
          <a:noFill/>
        </p:spPr>
        <p:txBody>
          <a:bodyPr wrap="square" lIns="0" tIns="0" rIns="0" bIns="0" rtlCol="0" anchor="ctr"/>
          <a:lstStyle/>
          <a:p>
            <a:pPr marL="0" indent="0">
              <a:buNone/>
            </a:pPr>
            <a:r>
              <a:rPr lang="en-US" sz="1050" dirty="0">
                <a:solidFill>
                  <a:srgbClr val="6B7280"/>
                </a:solidFill>
                <a:latin typeface="Calibri" panose="020F0502020204030204" pitchFamily="34" charset="0"/>
                <a:ea typeface="Calibri" panose="020F0502020204030204" pitchFamily="34" charset="-122"/>
                <a:cs typeface="Calibri" panose="020F0502020204030204" pitchFamily="34" charset="-120"/>
              </a:rPr>
              <a:t>PDF and DOCX uploads</a:t>
            </a:r>
            <a:endParaRPr lang="en-US" sz="1050" dirty="0"/>
          </a:p>
        </p:txBody>
      </p:sp>
      <p:sp>
        <p:nvSpPr>
          <p:cNvPr id="13" name="Shape 11"/>
          <p:cNvSpPr/>
          <p:nvPr/>
        </p:nvSpPr>
        <p:spPr>
          <a:xfrm>
            <a:off x="5623560" y="2167128"/>
            <a:ext cx="2971800" cy="841248"/>
          </a:xfrm>
          <a:prstGeom prst="roundRect">
            <a:avLst>
              <a:gd name="adj" fmla="val 8696"/>
            </a:avLst>
          </a:prstGeom>
          <a:solidFill>
            <a:srgbClr val="141B3D">
              <a:alpha val="7000"/>
            </a:srgbClr>
          </a:solidFill>
        </p:spPr>
      </p:sp>
      <p:sp>
        <p:nvSpPr>
          <p:cNvPr id="14" name="Shape 12"/>
          <p:cNvSpPr/>
          <p:nvPr/>
        </p:nvSpPr>
        <p:spPr>
          <a:xfrm>
            <a:off x="5806440" y="2404872"/>
            <a:ext cx="365760" cy="365760"/>
          </a:xfrm>
          <a:prstGeom prst="ellipse">
            <a:avLst/>
          </a:prstGeom>
          <a:solidFill>
            <a:srgbClr val="2E8B8B"/>
          </a:solidFill>
        </p:spPr>
      </p:sp>
      <p:sp>
        <p:nvSpPr>
          <p:cNvPr id="15" name="Text 13"/>
          <p:cNvSpPr txBox="1"/>
          <p:nvPr/>
        </p:nvSpPr>
        <p:spPr>
          <a:xfrm>
            <a:off x="5806440" y="2404872"/>
            <a:ext cx="365760" cy="365760"/>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200" dirty="0"/>
          </a:p>
        </p:txBody>
      </p:sp>
      <p:sp>
        <p:nvSpPr>
          <p:cNvPr id="16" name="Text 14"/>
          <p:cNvSpPr txBox="1"/>
          <p:nvPr/>
        </p:nvSpPr>
        <p:spPr>
          <a:xfrm>
            <a:off x="6309360" y="2350008"/>
            <a:ext cx="2148840" cy="237744"/>
          </a:xfrm>
          <a:prstGeom prst="rect">
            <a:avLst/>
          </a:prstGeom>
          <a:noFill/>
        </p:spPr>
        <p:txBody>
          <a:bodyPr wrap="square" lIns="0" tIns="0" rIns="0" bIns="0" rtlCol="0" anchor="ctr"/>
          <a:lstStyle/>
          <a:p>
            <a:pPr marL="0" indent="0">
              <a:buNone/>
            </a:pPr>
            <a:r>
              <a:rPr lang="en-US" sz="1250" b="1" dirty="0">
                <a:solidFill>
                  <a:srgbClr val="141B3D"/>
                </a:solidFill>
                <a:latin typeface="Calibri" panose="020F0502020204030204" pitchFamily="34" charset="0"/>
                <a:ea typeface="Calibri" panose="020F0502020204030204" pitchFamily="34" charset="-122"/>
                <a:cs typeface="Calibri" panose="020F0502020204030204" pitchFamily="34" charset="-120"/>
              </a:rPr>
              <a:t>Explains and answers</a:t>
            </a:r>
            <a:endParaRPr lang="en-US" sz="1250" dirty="0"/>
          </a:p>
        </p:txBody>
      </p:sp>
      <p:sp>
        <p:nvSpPr>
          <p:cNvPr id="17" name="Text 15"/>
          <p:cNvSpPr txBox="1"/>
          <p:nvPr/>
        </p:nvSpPr>
        <p:spPr>
          <a:xfrm>
            <a:off x="6309360" y="2587752"/>
            <a:ext cx="2148840" cy="237744"/>
          </a:xfrm>
          <a:prstGeom prst="rect">
            <a:avLst/>
          </a:prstGeom>
          <a:noFill/>
        </p:spPr>
        <p:txBody>
          <a:bodyPr wrap="square" lIns="0" tIns="0" rIns="0" bIns="0" rtlCol="0" anchor="ctr"/>
          <a:lstStyle/>
          <a:p>
            <a:pPr marL="0" indent="0">
              <a:buNone/>
            </a:pPr>
            <a:r>
              <a:rPr lang="en-US" sz="1050" dirty="0">
                <a:solidFill>
                  <a:srgbClr val="6B7280"/>
                </a:solidFill>
                <a:latin typeface="Calibri" panose="020F0502020204030204" pitchFamily="34" charset="0"/>
                <a:ea typeface="Calibri" panose="020F0502020204030204" pitchFamily="34" charset="-122"/>
                <a:cs typeface="Calibri" panose="020F0502020204030204" pitchFamily="34" charset="-120"/>
              </a:rPr>
              <a:t>AI chat on your own notes</a:t>
            </a:r>
            <a:endParaRPr lang="en-US" sz="1050" dirty="0"/>
          </a:p>
        </p:txBody>
      </p:sp>
      <p:sp>
        <p:nvSpPr>
          <p:cNvPr id="18" name="Shape 16"/>
          <p:cNvSpPr/>
          <p:nvPr/>
        </p:nvSpPr>
        <p:spPr>
          <a:xfrm>
            <a:off x="5623560" y="3191256"/>
            <a:ext cx="2971800" cy="841248"/>
          </a:xfrm>
          <a:prstGeom prst="roundRect">
            <a:avLst>
              <a:gd name="adj" fmla="val 8696"/>
            </a:avLst>
          </a:prstGeom>
          <a:solidFill>
            <a:srgbClr val="141B3D">
              <a:alpha val="7000"/>
            </a:srgbClr>
          </a:solidFill>
        </p:spPr>
      </p:sp>
      <p:sp>
        <p:nvSpPr>
          <p:cNvPr id="19" name="Shape 17"/>
          <p:cNvSpPr/>
          <p:nvPr/>
        </p:nvSpPr>
        <p:spPr>
          <a:xfrm>
            <a:off x="5806440" y="3429000"/>
            <a:ext cx="365760" cy="365760"/>
          </a:xfrm>
          <a:prstGeom prst="ellipse">
            <a:avLst/>
          </a:prstGeom>
          <a:solidFill>
            <a:srgbClr val="E0A458"/>
          </a:solidFill>
        </p:spPr>
      </p:sp>
      <p:sp>
        <p:nvSpPr>
          <p:cNvPr id="20" name="Text 18"/>
          <p:cNvSpPr txBox="1"/>
          <p:nvPr/>
        </p:nvSpPr>
        <p:spPr>
          <a:xfrm>
            <a:off x="5806440" y="3429000"/>
            <a:ext cx="365760" cy="365760"/>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200" dirty="0"/>
          </a:p>
        </p:txBody>
      </p:sp>
      <p:sp>
        <p:nvSpPr>
          <p:cNvPr id="21" name="Text 19"/>
          <p:cNvSpPr txBox="1"/>
          <p:nvPr/>
        </p:nvSpPr>
        <p:spPr>
          <a:xfrm>
            <a:off x="6309360" y="3374136"/>
            <a:ext cx="2148840" cy="237744"/>
          </a:xfrm>
          <a:prstGeom prst="rect">
            <a:avLst/>
          </a:prstGeom>
          <a:noFill/>
        </p:spPr>
        <p:txBody>
          <a:bodyPr wrap="square" lIns="0" tIns="0" rIns="0" bIns="0" rtlCol="0" anchor="ctr"/>
          <a:lstStyle/>
          <a:p>
            <a:pPr marL="0" indent="0">
              <a:buNone/>
            </a:pPr>
            <a:r>
              <a:rPr lang="en-US" sz="1250" b="1" dirty="0">
                <a:solidFill>
                  <a:srgbClr val="141B3D"/>
                </a:solidFill>
                <a:latin typeface="Calibri" panose="020F0502020204030204" pitchFamily="34" charset="0"/>
                <a:ea typeface="Calibri" panose="020F0502020204030204" pitchFamily="34" charset="-122"/>
                <a:cs typeface="Calibri" panose="020F0502020204030204" pitchFamily="34" charset="-120"/>
              </a:rPr>
              <a:t>Prepares and tests</a:t>
            </a:r>
            <a:endParaRPr lang="en-US" sz="1250" dirty="0"/>
          </a:p>
        </p:txBody>
      </p:sp>
      <p:sp>
        <p:nvSpPr>
          <p:cNvPr id="22" name="Text 20"/>
          <p:cNvSpPr txBox="1"/>
          <p:nvPr/>
        </p:nvSpPr>
        <p:spPr>
          <a:xfrm>
            <a:off x="6309360" y="3611880"/>
            <a:ext cx="2148840" cy="237744"/>
          </a:xfrm>
          <a:prstGeom prst="rect">
            <a:avLst/>
          </a:prstGeom>
          <a:noFill/>
        </p:spPr>
        <p:txBody>
          <a:bodyPr wrap="square" lIns="0" tIns="0" rIns="0" bIns="0" rtlCol="0" anchor="ctr"/>
          <a:lstStyle/>
          <a:p>
            <a:pPr marL="0" indent="0">
              <a:buNone/>
            </a:pPr>
            <a:r>
              <a:rPr lang="en-US" sz="1050" dirty="0">
                <a:solidFill>
                  <a:srgbClr val="6B7280"/>
                </a:solidFill>
                <a:latin typeface="Calibri" panose="020F0502020204030204" pitchFamily="34" charset="0"/>
                <a:ea typeface="Calibri" panose="020F0502020204030204" pitchFamily="34" charset="-122"/>
                <a:cs typeface="Calibri" panose="020F0502020204030204" pitchFamily="34" charset="-120"/>
              </a:rPr>
              <a:t>notes</a:t>
            </a:r>
            <a:r>
              <a:rPr lang="en-IN" altLang="en-US" sz="1050" dirty="0">
                <a:solidFill>
                  <a:srgbClr val="6B7280"/>
                </a:solidFill>
                <a:latin typeface="Calibri" panose="020F0502020204030204" pitchFamily="34" charset="0"/>
                <a:ea typeface="Calibri" panose="020F0502020204030204" pitchFamily="34" charset="-122"/>
                <a:cs typeface="Calibri" panose="020F0502020204030204" pitchFamily="34" charset="-120"/>
              </a:rPr>
              <a:t> for</a:t>
            </a:r>
            <a:r>
              <a:rPr lang="en-US" sz="1050" dirty="0">
                <a:solidFill>
                  <a:srgbClr val="6B7280"/>
                </a:solidFill>
                <a:latin typeface="Calibri" panose="020F0502020204030204" pitchFamily="34" charset="0"/>
                <a:ea typeface="Calibri" panose="020F0502020204030204" pitchFamily="34" charset="-122"/>
                <a:cs typeface="Calibri" panose="020F0502020204030204" pitchFamily="34" charset="-120"/>
              </a:rPr>
              <a:t> exam prep</a:t>
            </a:r>
            <a:r>
              <a:rPr lang="en-IN" altLang="en-US" sz="105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IN" altLang="en-US" sz="1050" dirty="0">
              <a:solidFill>
                <a:srgbClr val="6B7280"/>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1B3D"/>
        </a:solidFill>
        <a:effectLst/>
      </p:bgPr>
    </p:bg>
    <p:spTree>
      <p:nvGrpSpPr>
        <p:cNvPr id="1" name=""/>
        <p:cNvGrpSpPr/>
        <p:nvPr/>
      </p:nvGrpSpPr>
      <p:grpSpPr>
        <a:xfrm>
          <a:off x="0" y="0"/>
          <a:ext cx="0" cy="0"/>
          <a:chOff x="0" y="0"/>
          <a:chExt cx="0" cy="0"/>
        </a:xfrm>
      </p:grpSpPr>
      <p:sp>
        <p:nvSpPr>
          <p:cNvPr id="2" name="Shape 0"/>
          <p:cNvSpPr/>
          <p:nvPr/>
        </p:nvSpPr>
        <p:spPr>
          <a:xfrm>
            <a:off x="-502920" y="-502920"/>
            <a:ext cx="1371600" cy="1371600"/>
          </a:xfrm>
          <a:prstGeom prst="ellipse">
            <a:avLst/>
          </a:prstGeom>
          <a:solidFill>
            <a:srgbClr val="2E8B8B">
              <a:alpha val="55000"/>
            </a:srgbClr>
          </a:solidFill>
        </p:spPr>
      </p:sp>
      <p:sp>
        <p:nvSpPr>
          <p:cNvPr id="3" name="Shape 1"/>
          <p:cNvSpPr/>
          <p:nvPr/>
        </p:nvSpPr>
        <p:spPr>
          <a:xfrm>
            <a:off x="8366760" y="4343400"/>
            <a:ext cx="1280160" cy="1280160"/>
          </a:xfrm>
          <a:prstGeom prst="ellipse">
            <a:avLst/>
          </a:prstGeom>
          <a:solidFill>
            <a:srgbClr val="E0A458">
              <a:alpha val="55000"/>
            </a:srgbClr>
          </a:solidFill>
        </p:spPr>
      </p:sp>
      <p:sp>
        <p:nvSpPr>
          <p:cNvPr id="4" name="Shape 2"/>
          <p:cNvSpPr/>
          <p:nvPr/>
        </p:nvSpPr>
        <p:spPr>
          <a:xfrm>
            <a:off x="256032" y="233299"/>
            <a:ext cx="8631936" cy="4672584"/>
          </a:xfrm>
          <a:prstGeom prst="roundRect">
            <a:avLst>
              <a:gd name="adj" fmla="val 2348"/>
            </a:avLst>
          </a:prstGeom>
          <a:solidFill>
            <a:srgbClr val="FBF8F3"/>
          </a:solidFill>
          <a:ln w="12700">
            <a:solidFill>
              <a:srgbClr val="FFFFFF"/>
            </a:solidFill>
            <a:prstDash val="solid"/>
          </a:ln>
          <a:effectLst>
            <a:outerShdw blurRad="152400" dist="25400" dir="5400000" algn="bl" rotWithShape="0">
              <a:srgbClr val="000000">
                <a:alpha val="25000"/>
              </a:srgbClr>
            </a:outerShdw>
          </a:effectLst>
        </p:spPr>
      </p:sp>
      <p:sp>
        <p:nvSpPr>
          <p:cNvPr id="5" name="Text 3"/>
          <p:cNvSpPr txBox="1"/>
          <p:nvPr/>
        </p:nvSpPr>
        <p:spPr>
          <a:xfrm>
            <a:off x="530352" y="384048"/>
            <a:ext cx="8083296" cy="502920"/>
          </a:xfrm>
          <a:prstGeom prst="rect">
            <a:avLst/>
          </a:prstGeom>
          <a:noFill/>
        </p:spPr>
        <p:txBody>
          <a:bodyPr wrap="square" lIns="0" tIns="0" rIns="0" bIns="0" rtlCol="0" anchor="ctr"/>
          <a:lstStyle/>
          <a:p>
            <a:pPr marL="0" indent="0" algn="ctr">
              <a:buNone/>
            </a:pPr>
            <a:r>
              <a:rPr lang="en-US" sz="2800" b="1" dirty="0">
                <a:solidFill>
                  <a:srgbClr val="141B3D"/>
                </a:solidFill>
                <a:latin typeface="Cambria" panose="02040503050406030204" pitchFamily="34" charset="0"/>
                <a:ea typeface="Cambria" panose="02040503050406030204" pitchFamily="34" charset="-122"/>
                <a:cs typeface="Cambria" panose="02040503050406030204" pitchFamily="34" charset="-120"/>
              </a:rPr>
              <a:t>PROBLEM STATEMENT</a:t>
            </a:r>
            <a:endParaRPr lang="en-US" sz="2800" dirty="0"/>
          </a:p>
        </p:txBody>
      </p:sp>
      <p:sp>
        <p:nvSpPr>
          <p:cNvPr id="6" name="Text 4"/>
          <p:cNvSpPr txBox="1"/>
          <p:nvPr/>
        </p:nvSpPr>
        <p:spPr>
          <a:xfrm>
            <a:off x="667512" y="932688"/>
            <a:ext cx="7808976" cy="1234440"/>
          </a:xfrm>
          <a:prstGeom prst="rect">
            <a:avLst/>
          </a:prstGeom>
          <a:noFill/>
        </p:spPr>
        <p:txBody>
          <a:bodyPr wrap="square" lIns="0" tIns="0" rIns="0" bIns="0" rtlCol="0" anchor="t"/>
          <a:lstStyle/>
          <a:p>
            <a:pPr marL="0" indent="0" algn="just">
              <a:lnSpc>
                <a:spcPct val="115000"/>
              </a:lnSpc>
              <a:buNone/>
            </a:pPr>
            <a:r>
              <a:rPr lang="en-US" sz="1300" dirty="0">
                <a:solidFill>
                  <a:srgbClr val="333A56"/>
                </a:solidFill>
                <a:latin typeface="Calibri" panose="020F0502020204030204" pitchFamily="34" charset="0"/>
                <a:ea typeface="Calibri" panose="020F0502020204030204" pitchFamily="34" charset="-122"/>
                <a:cs typeface="Calibri" panose="020F0502020204030204" pitchFamily="34" charset="-120"/>
              </a:rPr>
              <a:t>General purpose chatbots are not grounded in a student's own syllabus. They answer from the open internet, hallucinate confident but wrong explanations, and cannot point to the page a fact came from — which makes them unsafe to revise from before an exam. Commercial study platforms, on the other hand, are tied to their own fixed content libraries and cannot ingest a particular college's notes or question papers.</a:t>
            </a:r>
            <a:endParaRPr lang="en-US" sz="1300" dirty="0"/>
          </a:p>
        </p:txBody>
      </p:sp>
      <p:sp>
        <p:nvSpPr>
          <p:cNvPr id="7" name="Text 5"/>
          <p:cNvSpPr txBox="1"/>
          <p:nvPr/>
        </p:nvSpPr>
        <p:spPr>
          <a:xfrm>
            <a:off x="667512" y="2212848"/>
            <a:ext cx="7808976" cy="1234440"/>
          </a:xfrm>
          <a:prstGeom prst="rect">
            <a:avLst/>
          </a:prstGeom>
          <a:noFill/>
        </p:spPr>
        <p:txBody>
          <a:bodyPr wrap="square" lIns="0" tIns="0" rIns="0" bIns="0" rtlCol="0" anchor="t"/>
          <a:lstStyle/>
          <a:p>
            <a:pPr marL="0" indent="0" algn="just">
              <a:lnSpc>
                <a:spcPct val="115000"/>
              </a:lnSpc>
              <a:buNone/>
            </a:pPr>
            <a:r>
              <a:rPr lang="en-US" sz="1300" dirty="0">
                <a:solidFill>
                  <a:srgbClr val="333A56"/>
                </a:solidFill>
                <a:latin typeface="Calibri" panose="020F0502020204030204" pitchFamily="34" charset="0"/>
                <a:ea typeface="Calibri" panose="020F0502020204030204" pitchFamily="34" charset="-122"/>
                <a:cs typeface="Calibri" panose="020F0502020204030204" pitchFamily="34" charset="-120"/>
              </a:rPr>
              <a:t>There is therefore a gap for a system that works from material the student actually uploads, keeps that material organised by subject, and turns it into the different forms revision demands — explanations, notes</a:t>
            </a:r>
            <a:r>
              <a:rPr lang="en-IN" altLang="en-US" sz="1300" dirty="0">
                <a:solidFill>
                  <a:srgbClr val="333A56"/>
                </a:solidFill>
                <a:latin typeface="Calibri" panose="020F0502020204030204" pitchFamily="34" charset="0"/>
                <a:ea typeface="Calibri" panose="020F0502020204030204" pitchFamily="34" charset="-122"/>
                <a:cs typeface="Calibri" panose="020F0502020204030204" pitchFamily="34" charset="-120"/>
              </a:rPr>
              <a:t> for</a:t>
            </a:r>
            <a:r>
              <a:rPr lang="en-US" sz="1300" dirty="0">
                <a:solidFill>
                  <a:srgbClr val="333A56"/>
                </a:solidFill>
                <a:latin typeface="Calibri" panose="020F0502020204030204" pitchFamily="34" charset="0"/>
                <a:ea typeface="Calibri" panose="020F0502020204030204" pitchFamily="34" charset="-122"/>
                <a:cs typeface="Calibri" panose="020F0502020204030204" pitchFamily="34" charset="-120"/>
              </a:rPr>
              <a:t> exam preparation and concept maps. This project builds that system as a full-stack web application using FastAPI, React and the Google Gemini API.</a:t>
            </a:r>
            <a:endParaRPr lang="en-US" sz="1300" dirty="0"/>
          </a:p>
        </p:txBody>
      </p:sp>
      <p:sp>
        <p:nvSpPr>
          <p:cNvPr id="8" name="Shape 6"/>
          <p:cNvSpPr/>
          <p:nvPr/>
        </p:nvSpPr>
        <p:spPr>
          <a:xfrm>
            <a:off x="667512" y="3611880"/>
            <a:ext cx="1874520" cy="777240"/>
          </a:xfrm>
          <a:prstGeom prst="roundRect">
            <a:avLst>
              <a:gd name="adj" fmla="val 9412"/>
            </a:avLst>
          </a:prstGeom>
          <a:solidFill>
            <a:srgbClr val="E0A458">
              <a:alpha val="12000"/>
            </a:srgbClr>
          </a:solidFill>
        </p:spPr>
      </p:sp>
      <p:sp>
        <p:nvSpPr>
          <p:cNvPr id="9" name="Text 7"/>
          <p:cNvSpPr txBox="1"/>
          <p:nvPr/>
        </p:nvSpPr>
        <p:spPr>
          <a:xfrm>
            <a:off x="795528" y="3685032"/>
            <a:ext cx="1618488" cy="640080"/>
          </a:xfrm>
          <a:prstGeom prst="rect">
            <a:avLst/>
          </a:prstGeom>
          <a:noFill/>
        </p:spPr>
        <p:txBody>
          <a:bodyPr wrap="square" lIns="0" tIns="0" rIns="0" bIns="0" rtlCol="0" anchor="ctr"/>
          <a:lstStyle/>
          <a:p>
            <a:pPr marL="0" indent="0" algn="ctr">
              <a:buNone/>
            </a:pPr>
            <a:r>
              <a:rPr lang="en-US" sz="1050" b="1" dirty="0">
                <a:solidFill>
                  <a:srgbClr val="141B3D"/>
                </a:solidFill>
                <a:latin typeface="Calibri" panose="020F0502020204030204" pitchFamily="34" charset="0"/>
                <a:ea typeface="Calibri" panose="020F0502020204030204" pitchFamily="34" charset="-122"/>
                <a:cs typeface="Calibri" panose="020F0502020204030204" pitchFamily="34" charset="-120"/>
              </a:rPr>
              <a:t>Not tied to your own syllabus</a:t>
            </a:r>
            <a:endParaRPr lang="en-US" sz="1050" dirty="0"/>
          </a:p>
        </p:txBody>
      </p:sp>
      <p:sp>
        <p:nvSpPr>
          <p:cNvPr id="10" name="Shape 8"/>
          <p:cNvSpPr/>
          <p:nvPr/>
        </p:nvSpPr>
        <p:spPr>
          <a:xfrm>
            <a:off x="2724912" y="3611880"/>
            <a:ext cx="1874520" cy="777240"/>
          </a:xfrm>
          <a:prstGeom prst="roundRect">
            <a:avLst>
              <a:gd name="adj" fmla="val 9412"/>
            </a:avLst>
          </a:prstGeom>
          <a:solidFill>
            <a:srgbClr val="E0A458">
              <a:alpha val="12000"/>
            </a:srgbClr>
          </a:solidFill>
        </p:spPr>
      </p:sp>
      <p:sp>
        <p:nvSpPr>
          <p:cNvPr id="11" name="Text 9"/>
          <p:cNvSpPr txBox="1"/>
          <p:nvPr/>
        </p:nvSpPr>
        <p:spPr>
          <a:xfrm>
            <a:off x="2852928" y="3685032"/>
            <a:ext cx="1618488" cy="640080"/>
          </a:xfrm>
          <a:prstGeom prst="rect">
            <a:avLst/>
          </a:prstGeom>
          <a:noFill/>
        </p:spPr>
        <p:txBody>
          <a:bodyPr wrap="square" lIns="0" tIns="0" rIns="0" bIns="0" rtlCol="0" anchor="ctr"/>
          <a:lstStyle/>
          <a:p>
            <a:pPr marL="0" indent="0" algn="ctr">
              <a:buNone/>
            </a:pPr>
            <a:r>
              <a:rPr lang="en-US" sz="1050" b="1" dirty="0">
                <a:solidFill>
                  <a:srgbClr val="141B3D"/>
                </a:solidFill>
                <a:latin typeface="Calibri" panose="020F0502020204030204" pitchFamily="34" charset="0"/>
                <a:ea typeface="Calibri" panose="020F0502020204030204" pitchFamily="34" charset="-122"/>
                <a:cs typeface="Calibri" panose="020F0502020204030204" pitchFamily="34" charset="-120"/>
              </a:rPr>
              <a:t>Material scattered across tools</a:t>
            </a:r>
            <a:endParaRPr lang="en-US" sz="1050" dirty="0"/>
          </a:p>
        </p:txBody>
      </p:sp>
      <p:sp>
        <p:nvSpPr>
          <p:cNvPr id="12" name="Shape 10"/>
          <p:cNvSpPr/>
          <p:nvPr/>
        </p:nvSpPr>
        <p:spPr>
          <a:xfrm>
            <a:off x="4782312" y="3611880"/>
            <a:ext cx="1874520" cy="777240"/>
          </a:xfrm>
          <a:prstGeom prst="roundRect">
            <a:avLst>
              <a:gd name="adj" fmla="val 9412"/>
            </a:avLst>
          </a:prstGeom>
          <a:solidFill>
            <a:srgbClr val="E0A458">
              <a:alpha val="12000"/>
            </a:srgbClr>
          </a:solidFill>
        </p:spPr>
      </p:sp>
      <p:sp>
        <p:nvSpPr>
          <p:cNvPr id="13" name="Text 11"/>
          <p:cNvSpPr txBox="1"/>
          <p:nvPr/>
        </p:nvSpPr>
        <p:spPr>
          <a:xfrm>
            <a:off x="4910328" y="3685032"/>
            <a:ext cx="1618488" cy="640080"/>
          </a:xfrm>
          <a:prstGeom prst="rect">
            <a:avLst/>
          </a:prstGeom>
          <a:noFill/>
        </p:spPr>
        <p:txBody>
          <a:bodyPr wrap="square" lIns="0" tIns="0" rIns="0" bIns="0" rtlCol="0" anchor="ctr"/>
          <a:lstStyle/>
          <a:p>
            <a:pPr marL="0" indent="0" algn="ctr">
              <a:buNone/>
            </a:pPr>
            <a:r>
              <a:rPr lang="en-US" sz="1050" b="1" dirty="0">
                <a:solidFill>
                  <a:srgbClr val="141B3D"/>
                </a:solidFill>
                <a:latin typeface="Calibri" panose="020F0502020204030204" pitchFamily="34" charset="0"/>
                <a:ea typeface="Calibri" panose="020F0502020204030204" pitchFamily="34" charset="-122"/>
                <a:cs typeface="Calibri" panose="020F0502020204030204" pitchFamily="34" charset="-120"/>
              </a:rPr>
              <a:t>No practice generated from notes</a:t>
            </a:r>
            <a:endParaRPr lang="en-US" sz="1050" dirty="0"/>
          </a:p>
        </p:txBody>
      </p:sp>
      <p:sp>
        <p:nvSpPr>
          <p:cNvPr id="14" name="Shape 12"/>
          <p:cNvSpPr/>
          <p:nvPr/>
        </p:nvSpPr>
        <p:spPr>
          <a:xfrm>
            <a:off x="6839712" y="3611880"/>
            <a:ext cx="1874520" cy="777240"/>
          </a:xfrm>
          <a:prstGeom prst="roundRect">
            <a:avLst>
              <a:gd name="adj" fmla="val 9412"/>
            </a:avLst>
          </a:prstGeom>
          <a:solidFill>
            <a:srgbClr val="E0A458">
              <a:alpha val="12000"/>
            </a:srgbClr>
          </a:solidFill>
        </p:spPr>
      </p:sp>
      <p:sp>
        <p:nvSpPr>
          <p:cNvPr id="15" name="Text 13"/>
          <p:cNvSpPr txBox="1"/>
          <p:nvPr/>
        </p:nvSpPr>
        <p:spPr>
          <a:xfrm>
            <a:off x="6967728" y="3685032"/>
            <a:ext cx="1618488" cy="640080"/>
          </a:xfrm>
          <a:prstGeom prst="rect">
            <a:avLst/>
          </a:prstGeom>
          <a:noFill/>
        </p:spPr>
        <p:txBody>
          <a:bodyPr wrap="square" lIns="0" tIns="0" rIns="0" bIns="0" rtlCol="0" anchor="ctr"/>
          <a:lstStyle/>
          <a:p>
            <a:pPr marL="0" indent="0" algn="ctr">
              <a:buNone/>
            </a:pPr>
            <a:r>
              <a:rPr lang="en-US" sz="1050" b="1" dirty="0">
                <a:solidFill>
                  <a:srgbClr val="141B3D"/>
                </a:solidFill>
                <a:latin typeface="Calibri" panose="020F0502020204030204" pitchFamily="34" charset="0"/>
                <a:ea typeface="Calibri" panose="020F0502020204030204" pitchFamily="34" charset="-122"/>
                <a:cs typeface="Calibri" panose="020F0502020204030204" pitchFamily="34" charset="-120"/>
              </a:rPr>
              <a:t>Revision progress is untracked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1B3D"/>
        </a:solidFill>
        <a:effectLst/>
      </p:bgPr>
    </p:bg>
    <p:spTree>
      <p:nvGrpSpPr>
        <p:cNvPr id="1" name=""/>
        <p:cNvGrpSpPr/>
        <p:nvPr/>
      </p:nvGrpSpPr>
      <p:grpSpPr>
        <a:xfrm>
          <a:off x="0" y="0"/>
          <a:ext cx="0" cy="0"/>
          <a:chOff x="0" y="0"/>
          <a:chExt cx="0" cy="0"/>
        </a:xfrm>
      </p:grpSpPr>
      <p:sp>
        <p:nvSpPr>
          <p:cNvPr id="2" name="Shape 0"/>
          <p:cNvSpPr/>
          <p:nvPr/>
        </p:nvSpPr>
        <p:spPr>
          <a:xfrm>
            <a:off x="-502920" y="-502920"/>
            <a:ext cx="1371600" cy="1371600"/>
          </a:xfrm>
          <a:prstGeom prst="ellipse">
            <a:avLst/>
          </a:prstGeom>
          <a:solidFill>
            <a:srgbClr val="2E8B8B">
              <a:alpha val="55000"/>
            </a:srgbClr>
          </a:solidFill>
        </p:spPr>
      </p:sp>
      <p:sp>
        <p:nvSpPr>
          <p:cNvPr id="3" name="Shape 1"/>
          <p:cNvSpPr/>
          <p:nvPr/>
        </p:nvSpPr>
        <p:spPr>
          <a:xfrm>
            <a:off x="8366760" y="4343400"/>
            <a:ext cx="1280160" cy="1280160"/>
          </a:xfrm>
          <a:prstGeom prst="ellipse">
            <a:avLst/>
          </a:prstGeom>
          <a:solidFill>
            <a:srgbClr val="E0A458">
              <a:alpha val="55000"/>
            </a:srgbClr>
          </a:solidFill>
        </p:spPr>
      </p:sp>
      <p:sp>
        <p:nvSpPr>
          <p:cNvPr id="4" name="Shape 2"/>
          <p:cNvSpPr/>
          <p:nvPr/>
        </p:nvSpPr>
        <p:spPr>
          <a:xfrm>
            <a:off x="256032" y="237744"/>
            <a:ext cx="8631936" cy="4672584"/>
          </a:xfrm>
          <a:prstGeom prst="roundRect">
            <a:avLst>
              <a:gd name="adj" fmla="val 2348"/>
            </a:avLst>
          </a:prstGeom>
          <a:solidFill>
            <a:srgbClr val="FBF8F3"/>
          </a:solidFill>
          <a:ln w="12700">
            <a:solidFill>
              <a:srgbClr val="FFFFFF"/>
            </a:solidFill>
            <a:prstDash val="solid"/>
          </a:ln>
          <a:effectLst>
            <a:outerShdw blurRad="152400" dist="25400" dir="5400000" algn="bl" rotWithShape="0">
              <a:srgbClr val="000000">
                <a:alpha val="25000"/>
              </a:srgbClr>
            </a:outerShdw>
          </a:effectLst>
        </p:spPr>
      </p:sp>
      <p:sp>
        <p:nvSpPr>
          <p:cNvPr id="5" name="Text 3"/>
          <p:cNvSpPr txBox="1"/>
          <p:nvPr/>
        </p:nvSpPr>
        <p:spPr>
          <a:xfrm>
            <a:off x="530352" y="384048"/>
            <a:ext cx="8083296" cy="502920"/>
          </a:xfrm>
          <a:prstGeom prst="rect">
            <a:avLst/>
          </a:prstGeom>
          <a:noFill/>
        </p:spPr>
        <p:txBody>
          <a:bodyPr wrap="square" lIns="0" tIns="0" rIns="0" bIns="0" rtlCol="0" anchor="ctr"/>
          <a:lstStyle/>
          <a:p>
            <a:pPr marL="0" indent="0" algn="ctr">
              <a:buNone/>
            </a:pPr>
            <a:r>
              <a:rPr lang="en-US" sz="2800" b="1" dirty="0">
                <a:solidFill>
                  <a:srgbClr val="141B3D"/>
                </a:solidFill>
                <a:latin typeface="Cambria" panose="02040503050406030204" pitchFamily="34" charset="0"/>
                <a:ea typeface="Cambria" panose="02040503050406030204" pitchFamily="34" charset="-122"/>
                <a:cs typeface="Cambria" panose="02040503050406030204" pitchFamily="34" charset="-120"/>
              </a:rPr>
              <a:t>OBJECTIVES</a:t>
            </a:r>
            <a:endParaRPr lang="en-US" sz="2800" dirty="0"/>
          </a:p>
        </p:txBody>
      </p:sp>
      <p:sp>
        <p:nvSpPr>
          <p:cNvPr id="6" name="Text 4"/>
          <p:cNvSpPr txBox="1"/>
          <p:nvPr/>
        </p:nvSpPr>
        <p:spPr>
          <a:xfrm>
            <a:off x="667385" y="914400"/>
            <a:ext cx="6866890" cy="661670"/>
          </a:xfrm>
          <a:prstGeom prst="rect">
            <a:avLst/>
          </a:prstGeom>
          <a:noFill/>
        </p:spPr>
        <p:txBody>
          <a:bodyPr wrap="square" lIns="0" tIns="0" rIns="0" bIns="0" rtlCol="0" anchor="t"/>
          <a:lstStyle/>
          <a:p>
            <a:pPr marL="0" indent="0" algn="just">
              <a:lnSpc>
                <a:spcPct val="115000"/>
              </a:lnSpc>
              <a:buNone/>
            </a:pPr>
            <a:r>
              <a:rPr lang="en-US" sz="1300" dirty="0">
                <a:solidFill>
                  <a:srgbClr val="333A56"/>
                </a:solidFill>
                <a:latin typeface="Calibri" panose="020F0502020204030204" pitchFamily="34" charset="0"/>
                <a:ea typeface="Calibri" panose="020F0502020204030204" pitchFamily="34" charset="-122"/>
                <a:cs typeface="Calibri" panose="020F0502020204030204" pitchFamily="34" charset="-120"/>
              </a:rPr>
              <a:t>To build a grounded, personalised study assistant that converts a learner's own material into active practice and measurable retention. The specific objectives are:</a:t>
            </a:r>
            <a:endParaRPr lang="en-US" sz="1300" dirty="0"/>
          </a:p>
        </p:txBody>
      </p:sp>
      <p:sp>
        <p:nvSpPr>
          <p:cNvPr id="7" name="Text 5"/>
          <p:cNvSpPr txBox="1"/>
          <p:nvPr/>
        </p:nvSpPr>
        <p:spPr>
          <a:xfrm>
            <a:off x="601345" y="1756410"/>
            <a:ext cx="7581900" cy="2879090"/>
          </a:xfrm>
          <a:prstGeom prst="rect">
            <a:avLst/>
          </a:prstGeom>
          <a:noFill/>
        </p:spPr>
        <p:txBody>
          <a:bodyPr wrap="square" lIns="0" tIns="0" rIns="0" bIns="0" rtlCol="0" anchor="t"/>
          <a:lstStyle/>
          <a:p>
            <a:pPr marL="177800" indent="-177800">
              <a:spcAft>
                <a:spcPts val="700"/>
              </a:spcAft>
              <a:buSzPct val="100000"/>
              <a:buChar char="•"/>
            </a:pPr>
            <a:r>
              <a:rPr lang="en-US" sz="1200" dirty="0">
                <a:solidFill>
                  <a:srgbClr val="333A56"/>
                </a:solidFill>
                <a:latin typeface="Calibri" panose="020F0502020204030204" pitchFamily="34" charset="0"/>
                <a:ea typeface="Calibri" panose="020F0502020204030204" pitchFamily="34" charset="-122"/>
                <a:cs typeface="Calibri" panose="020F0502020204030204" pitchFamily="34" charset="-120"/>
              </a:rPr>
              <a:t>Secure access — JWT-based registration and login, with subject workspaces per student.</a:t>
            </a:r>
            <a:endParaRPr lang="en-US" sz="1200" dirty="0"/>
          </a:p>
          <a:p>
            <a:pPr marL="177800" indent="-177800">
              <a:spcAft>
                <a:spcPts val="700"/>
              </a:spcAft>
              <a:buSzPct val="100000"/>
              <a:buChar char="•"/>
            </a:pPr>
            <a:r>
              <a:rPr lang="en-US" sz="1200" dirty="0">
                <a:solidFill>
                  <a:srgbClr val="333A56"/>
                </a:solidFill>
                <a:latin typeface="Calibri" panose="020F0502020204030204" pitchFamily="34" charset="0"/>
                <a:ea typeface="Calibri" panose="020F0502020204030204" pitchFamily="34" charset="-122"/>
                <a:cs typeface="Calibri" panose="020F0502020204030204" pitchFamily="34" charset="-120"/>
              </a:rPr>
              <a:t>Document ingestion — accept PDF and DOCX uploads and extract clean text from them.</a:t>
            </a:r>
            <a:endParaRPr lang="en-US" sz="1200" dirty="0"/>
          </a:p>
          <a:p>
            <a:pPr marL="177800" indent="-177800">
              <a:spcAft>
                <a:spcPts val="700"/>
              </a:spcAft>
              <a:buSzPct val="100000"/>
              <a:buChar char="•"/>
            </a:pPr>
            <a:r>
              <a:rPr lang="en-US" sz="1200" dirty="0">
                <a:solidFill>
                  <a:srgbClr val="333A56"/>
                </a:solidFill>
                <a:latin typeface="Calibri" panose="020F0502020204030204" pitchFamily="34" charset="0"/>
                <a:ea typeface="Calibri" panose="020F0502020204030204" pitchFamily="34" charset="-122"/>
                <a:cs typeface="Calibri" panose="020F0502020204030204" pitchFamily="34" charset="-120"/>
              </a:rPr>
              <a:t>AI doubt solving — a chat interface that answers from the material in the active workspace.</a:t>
            </a:r>
            <a:endParaRPr lang="en-US" sz="1200" dirty="0"/>
          </a:p>
          <a:p>
            <a:pPr marL="177800" indent="-177800">
              <a:spcAft>
                <a:spcPts val="700"/>
              </a:spcAft>
              <a:buSzPct val="100000"/>
              <a:buChar char="•"/>
            </a:pPr>
            <a:r>
              <a:rPr lang="en-US" sz="1200" dirty="0">
                <a:solidFill>
                  <a:srgbClr val="333A56"/>
                </a:solidFill>
                <a:latin typeface="Calibri" panose="020F0502020204030204" pitchFamily="34" charset="0"/>
                <a:ea typeface="Calibri" panose="020F0502020204030204" pitchFamily="34" charset="-122"/>
                <a:cs typeface="Calibri" panose="020F0502020204030204" pitchFamily="34" charset="-120"/>
              </a:rPr>
              <a:t>Revision notes — condensed, structured notes generated from the uploaded documents.</a:t>
            </a:r>
            <a:endParaRPr lang="en-US" sz="1200" dirty="0"/>
          </a:p>
          <a:p>
            <a:pPr marL="177800" indent="-177800">
              <a:spcAft>
                <a:spcPts val="700"/>
              </a:spcAft>
              <a:buSzPct val="100000"/>
              <a:buChar char="•"/>
            </a:pPr>
            <a:r>
              <a:rPr lang="en-US" sz="1200" dirty="0">
                <a:solidFill>
                  <a:srgbClr val="333A56"/>
                </a:solidFill>
                <a:latin typeface="Calibri" panose="020F0502020204030204" pitchFamily="34" charset="0"/>
                <a:ea typeface="Calibri" panose="020F0502020204030204" pitchFamily="34" charset="-122"/>
                <a:cs typeface="Calibri" panose="020F0502020204030204" pitchFamily="34" charset="-120"/>
              </a:rPr>
              <a:t>Concept roadmap and logic flow — unit-wise concept lists and step-by-step explanations.</a:t>
            </a:r>
            <a:r>
              <a:rPr lang="en-US" sz="1200" dirty="0">
                <a:solidFill>
                  <a:srgbClr val="333A56"/>
                </a:solidFill>
                <a:latin typeface="Calibri" panose="020F0502020204030204" pitchFamily="34" charset="0"/>
                <a:ea typeface="Calibri" panose="020F0502020204030204" pitchFamily="34" charset="-122"/>
                <a:cs typeface="Calibri" panose="020F0502020204030204" pitchFamily="34" charset="-120"/>
                <a:sym typeface="+mn-ea"/>
              </a:rPr>
              <a:t>store documents, chat history, generated content and roadmap progress.</a:t>
            </a:r>
            <a:endParaRPr lang="en-US" sz="1200" dirty="0"/>
          </a:p>
          <a:p>
            <a:pPr marL="177800" indent="-177800">
              <a:spcAft>
                <a:spcPts val="700"/>
              </a:spcAft>
              <a:buSzPct val="100000"/>
              <a:buChar char="•"/>
            </a:pPr>
            <a:endParaRPr lang="en-US" sz="1200" dirty="0"/>
          </a:p>
          <a:p>
            <a:pPr indent="0">
              <a:spcAft>
                <a:spcPts val="700"/>
              </a:spcAft>
              <a:buSzPct val="100000"/>
              <a:buNone/>
            </a:pP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1B3D"/>
        </a:solidFill>
        <a:effectLst/>
      </p:bgPr>
    </p:bg>
    <p:spTree>
      <p:nvGrpSpPr>
        <p:cNvPr id="1" name=""/>
        <p:cNvGrpSpPr/>
        <p:nvPr/>
      </p:nvGrpSpPr>
      <p:grpSpPr>
        <a:xfrm>
          <a:off x="0" y="0"/>
          <a:ext cx="0" cy="0"/>
          <a:chOff x="0" y="0"/>
          <a:chExt cx="0" cy="0"/>
        </a:xfrm>
      </p:grpSpPr>
      <p:sp>
        <p:nvSpPr>
          <p:cNvPr id="2" name="Shape 0"/>
          <p:cNvSpPr/>
          <p:nvPr/>
        </p:nvSpPr>
        <p:spPr>
          <a:xfrm>
            <a:off x="-502920" y="-502920"/>
            <a:ext cx="1371600" cy="1371600"/>
          </a:xfrm>
          <a:prstGeom prst="ellipse">
            <a:avLst/>
          </a:prstGeom>
          <a:solidFill>
            <a:srgbClr val="2E8B8B">
              <a:alpha val="55000"/>
            </a:srgbClr>
          </a:solidFill>
        </p:spPr>
      </p:sp>
      <p:sp>
        <p:nvSpPr>
          <p:cNvPr id="3" name="Shape 1"/>
          <p:cNvSpPr/>
          <p:nvPr/>
        </p:nvSpPr>
        <p:spPr>
          <a:xfrm>
            <a:off x="8366760" y="4343400"/>
            <a:ext cx="1280160" cy="1280160"/>
          </a:xfrm>
          <a:prstGeom prst="ellipse">
            <a:avLst/>
          </a:prstGeom>
          <a:solidFill>
            <a:srgbClr val="E0A458">
              <a:alpha val="55000"/>
            </a:srgbClr>
          </a:solidFill>
        </p:spPr>
      </p:sp>
      <p:sp>
        <p:nvSpPr>
          <p:cNvPr id="4" name="Shape 2"/>
          <p:cNvSpPr/>
          <p:nvPr/>
        </p:nvSpPr>
        <p:spPr>
          <a:xfrm>
            <a:off x="256032" y="237744"/>
            <a:ext cx="8631936" cy="4672584"/>
          </a:xfrm>
          <a:prstGeom prst="roundRect">
            <a:avLst>
              <a:gd name="adj" fmla="val 2348"/>
            </a:avLst>
          </a:prstGeom>
          <a:solidFill>
            <a:srgbClr val="FBF8F3"/>
          </a:solidFill>
          <a:ln w="12700">
            <a:solidFill>
              <a:srgbClr val="FFFFFF"/>
            </a:solidFill>
            <a:prstDash val="solid"/>
          </a:ln>
          <a:effectLst>
            <a:outerShdw blurRad="152400" dist="25400" dir="5400000" algn="bl" rotWithShape="0">
              <a:srgbClr val="000000">
                <a:alpha val="25000"/>
              </a:srgbClr>
            </a:outerShdw>
          </a:effectLst>
        </p:spPr>
      </p:sp>
      <p:sp>
        <p:nvSpPr>
          <p:cNvPr id="5" name="Text 3"/>
          <p:cNvSpPr txBox="1"/>
          <p:nvPr/>
        </p:nvSpPr>
        <p:spPr>
          <a:xfrm>
            <a:off x="530352" y="384048"/>
            <a:ext cx="8083296" cy="502920"/>
          </a:xfrm>
          <a:prstGeom prst="rect">
            <a:avLst/>
          </a:prstGeom>
          <a:noFill/>
        </p:spPr>
        <p:txBody>
          <a:bodyPr wrap="square" lIns="0" tIns="0" rIns="0" bIns="0" rtlCol="0" anchor="ctr"/>
          <a:lstStyle/>
          <a:p>
            <a:pPr marL="0" indent="0" algn="ctr">
              <a:buNone/>
            </a:pPr>
            <a:r>
              <a:rPr lang="en-US" sz="2800" b="1" dirty="0">
                <a:solidFill>
                  <a:srgbClr val="141B3D"/>
                </a:solidFill>
                <a:latin typeface="Cambria" panose="02040503050406030204" pitchFamily="34" charset="0"/>
                <a:ea typeface="Cambria" panose="02040503050406030204" pitchFamily="34" charset="-122"/>
                <a:cs typeface="Cambria" panose="02040503050406030204" pitchFamily="34" charset="-120"/>
              </a:rPr>
              <a:t>LITERATURE SURVEY</a:t>
            </a:r>
            <a:endParaRPr lang="en-US" sz="2800" dirty="0"/>
          </a:p>
        </p:txBody>
      </p:sp>
      <p:sp>
        <p:nvSpPr>
          <p:cNvPr id="6" name="Shape 4"/>
          <p:cNvSpPr/>
          <p:nvPr/>
        </p:nvSpPr>
        <p:spPr>
          <a:xfrm>
            <a:off x="621792" y="987552"/>
            <a:ext cx="7900416" cy="1097280"/>
          </a:xfrm>
          <a:prstGeom prst="roundRect">
            <a:avLst>
              <a:gd name="adj" fmla="val 5833"/>
            </a:avLst>
          </a:prstGeom>
          <a:solidFill>
            <a:srgbClr val="141B3D">
              <a:alpha val="6000"/>
            </a:srgbClr>
          </a:solidFill>
        </p:spPr>
      </p:sp>
      <p:sp>
        <p:nvSpPr>
          <p:cNvPr id="7" name="Text 5"/>
          <p:cNvSpPr txBox="1"/>
          <p:nvPr/>
        </p:nvSpPr>
        <p:spPr>
          <a:xfrm>
            <a:off x="804672" y="1088136"/>
            <a:ext cx="7534656" cy="237744"/>
          </a:xfrm>
          <a:prstGeom prst="rect">
            <a:avLst/>
          </a:prstGeom>
          <a:noFill/>
        </p:spPr>
        <p:txBody>
          <a:bodyPr wrap="square" lIns="0" tIns="0" rIns="0" bIns="0" rtlCol="0" anchor="ctr"/>
          <a:lstStyle/>
          <a:p>
            <a:pPr marL="0" indent="0">
              <a:buNone/>
            </a:pPr>
            <a:r>
              <a:rPr lang="en-US" sz="1150" b="1" dirty="0">
                <a:solidFill>
                  <a:srgbClr val="141B3D"/>
                </a:solidFill>
                <a:latin typeface="Calibri" panose="020F0502020204030204" pitchFamily="34" charset="0"/>
                <a:ea typeface="Calibri" panose="020F0502020204030204" pitchFamily="34" charset="-122"/>
                <a:cs typeface="Calibri" panose="020F0502020204030204" pitchFamily="34" charset="-120"/>
              </a:rPr>
              <a:t>1.  “Attention Is All You Need” — Vaswani et al. (2017)</a:t>
            </a:r>
            <a:endParaRPr lang="en-US" sz="1150" dirty="0"/>
          </a:p>
        </p:txBody>
      </p:sp>
      <p:sp>
        <p:nvSpPr>
          <p:cNvPr id="8" name="Text 6"/>
          <p:cNvSpPr txBox="1"/>
          <p:nvPr/>
        </p:nvSpPr>
        <p:spPr>
          <a:xfrm>
            <a:off x="804672" y="1353312"/>
            <a:ext cx="7534656" cy="658368"/>
          </a:xfrm>
          <a:prstGeom prst="rect">
            <a:avLst/>
          </a:prstGeom>
          <a:noFill/>
        </p:spPr>
        <p:txBody>
          <a:bodyPr wrap="square" lIns="0" tIns="0" rIns="0" bIns="0" rtlCol="0" anchor="ctr"/>
          <a:lstStyle/>
          <a:p>
            <a:pPr marL="0" indent="0" algn="just">
              <a:buNone/>
            </a:pPr>
            <a:r>
              <a:rPr lang="en-US" altLang="en-US" sz="1050" dirty="0"/>
              <a:t>Introduced the Transformer architecture, which uses self-attention to process text efficiently in parallel. This became the foundation for modern NLP and large language models, enabling features such as text summarization, question answering, and content generation used in the AI Study Companion.</a:t>
            </a:r>
            <a:endParaRPr lang="en-US" altLang="en-US" sz="1050" dirty="0"/>
          </a:p>
        </p:txBody>
      </p:sp>
      <p:sp>
        <p:nvSpPr>
          <p:cNvPr id="9" name="Shape 7"/>
          <p:cNvSpPr/>
          <p:nvPr/>
        </p:nvSpPr>
        <p:spPr>
          <a:xfrm>
            <a:off x="621792" y="2203704"/>
            <a:ext cx="7900416" cy="1097280"/>
          </a:xfrm>
          <a:prstGeom prst="roundRect">
            <a:avLst>
              <a:gd name="adj" fmla="val 5833"/>
            </a:avLst>
          </a:prstGeom>
          <a:solidFill>
            <a:srgbClr val="2E8B8B">
              <a:alpha val="6000"/>
            </a:srgbClr>
          </a:solidFill>
        </p:spPr>
      </p:sp>
      <p:sp>
        <p:nvSpPr>
          <p:cNvPr id="10" name="Text 8"/>
          <p:cNvSpPr txBox="1"/>
          <p:nvPr/>
        </p:nvSpPr>
        <p:spPr>
          <a:xfrm>
            <a:off x="804672" y="2304288"/>
            <a:ext cx="7534656" cy="237744"/>
          </a:xfrm>
          <a:prstGeom prst="rect">
            <a:avLst/>
          </a:prstGeom>
          <a:noFill/>
        </p:spPr>
        <p:txBody>
          <a:bodyPr wrap="square" lIns="0" tIns="0" rIns="0" bIns="0" rtlCol="0" anchor="ctr"/>
          <a:lstStyle/>
          <a:p>
            <a:pPr marL="0" indent="0">
              <a:buNone/>
            </a:pPr>
            <a:r>
              <a:rPr lang="en-US" sz="1150" b="1" dirty="0">
                <a:solidFill>
                  <a:srgbClr val="141B3D"/>
                </a:solidFill>
                <a:latin typeface="Calibri" panose="020F0502020204030204" pitchFamily="34" charset="0"/>
                <a:ea typeface="Calibri" panose="020F0502020204030204" pitchFamily="34" charset="-122"/>
                <a:cs typeface="Calibri" panose="020F0502020204030204" pitchFamily="34" charset="-120"/>
              </a:rPr>
              <a:t>2.  “Language Models are Few-Shot Learners” — Brown et al. (2020)</a:t>
            </a:r>
            <a:endParaRPr lang="en-US" sz="1150" dirty="0"/>
          </a:p>
        </p:txBody>
      </p:sp>
      <p:sp>
        <p:nvSpPr>
          <p:cNvPr id="11" name="Text 9"/>
          <p:cNvSpPr txBox="1"/>
          <p:nvPr/>
        </p:nvSpPr>
        <p:spPr>
          <a:xfrm>
            <a:off x="804672" y="2569464"/>
            <a:ext cx="7534656" cy="658368"/>
          </a:xfrm>
          <a:prstGeom prst="rect">
            <a:avLst/>
          </a:prstGeom>
          <a:noFill/>
        </p:spPr>
        <p:txBody>
          <a:bodyPr wrap="square" lIns="0" tIns="0" rIns="0" bIns="0" rtlCol="0" anchor="ctr"/>
          <a:lstStyle/>
          <a:p>
            <a:pPr marL="0" indent="0" algn="just">
              <a:buNone/>
            </a:pPr>
            <a:r>
              <a:rPr lang="en-US" altLang="en-US" sz="1050" dirty="0"/>
              <a:t>Demonstrated that large language models can perform new tasks using natural language instructions and a few examples without additional training. This concept supports the AI Study Companion's prompt-based generation of notes, quizzes, explanations, and study roadmaps. </a:t>
            </a:r>
            <a:endParaRPr lang="en-US" altLang="en-US" sz="1050" dirty="0"/>
          </a:p>
        </p:txBody>
      </p:sp>
      <p:sp>
        <p:nvSpPr>
          <p:cNvPr id="12" name="Shape 10"/>
          <p:cNvSpPr/>
          <p:nvPr/>
        </p:nvSpPr>
        <p:spPr>
          <a:xfrm>
            <a:off x="621792" y="3419856"/>
            <a:ext cx="7900416" cy="1097280"/>
          </a:xfrm>
          <a:prstGeom prst="roundRect">
            <a:avLst>
              <a:gd name="adj" fmla="val 5833"/>
            </a:avLst>
          </a:prstGeom>
          <a:solidFill>
            <a:srgbClr val="E0A458">
              <a:alpha val="6000"/>
            </a:srgbClr>
          </a:solidFill>
        </p:spPr>
      </p:sp>
      <p:sp>
        <p:nvSpPr>
          <p:cNvPr id="13" name="Text 11"/>
          <p:cNvSpPr txBox="1"/>
          <p:nvPr/>
        </p:nvSpPr>
        <p:spPr>
          <a:xfrm>
            <a:off x="804672" y="3520440"/>
            <a:ext cx="7534656" cy="237744"/>
          </a:xfrm>
          <a:prstGeom prst="rect">
            <a:avLst/>
          </a:prstGeom>
          <a:noFill/>
        </p:spPr>
        <p:txBody>
          <a:bodyPr wrap="square" lIns="0" tIns="0" rIns="0" bIns="0" rtlCol="0" anchor="ctr"/>
          <a:lstStyle/>
          <a:p>
            <a:pPr marL="0" indent="0">
              <a:buNone/>
            </a:pPr>
            <a:r>
              <a:rPr lang="en-US" sz="1150" b="1" dirty="0">
                <a:solidFill>
                  <a:srgbClr val="141B3D"/>
                </a:solidFill>
                <a:latin typeface="Calibri" panose="020F0502020204030204" pitchFamily="34" charset="0"/>
                <a:ea typeface="Calibri" panose="020F0502020204030204" pitchFamily="34" charset="-122"/>
                <a:cs typeface="Calibri" panose="020F0502020204030204" pitchFamily="34" charset="-120"/>
              </a:rPr>
              <a:t>3.  “A Systematic Review of Automatic Question Generation for Educational Purposes” — Kurdi et al. (2020)</a:t>
            </a:r>
            <a:endParaRPr lang="en-US" sz="1150" dirty="0"/>
          </a:p>
        </p:txBody>
      </p:sp>
      <p:sp>
        <p:nvSpPr>
          <p:cNvPr id="14" name="Text 12"/>
          <p:cNvSpPr txBox="1"/>
          <p:nvPr/>
        </p:nvSpPr>
        <p:spPr>
          <a:xfrm>
            <a:off x="804672" y="3785616"/>
            <a:ext cx="7534656" cy="658368"/>
          </a:xfrm>
          <a:prstGeom prst="rect">
            <a:avLst/>
          </a:prstGeom>
          <a:noFill/>
        </p:spPr>
        <p:txBody>
          <a:bodyPr wrap="square" lIns="0" tIns="0" rIns="0" bIns="0" rtlCol="0" anchor="ctr"/>
          <a:lstStyle/>
          <a:p>
            <a:pPr marL="0" indent="0" algn="just">
              <a:buNone/>
            </a:pPr>
            <a:r>
              <a:rPr lang="en-US" altLang="en-US" sz="1050" dirty="0"/>
              <a:t>Reviewed techniques for automatic question generation, including source text selection, question creation, and quality evaluation. This directly relates to the AI Study Companion's quiz-generation feature by providing established methods for creating educational assessment questions.</a:t>
            </a:r>
            <a:endParaRPr lang="en-US" alt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1B3D"/>
        </a:solidFill>
        <a:effectLst/>
      </p:bgPr>
    </p:bg>
    <p:spTree>
      <p:nvGrpSpPr>
        <p:cNvPr id="1" name=""/>
        <p:cNvGrpSpPr/>
        <p:nvPr/>
      </p:nvGrpSpPr>
      <p:grpSpPr>
        <a:xfrm>
          <a:off x="0" y="0"/>
          <a:ext cx="0" cy="0"/>
          <a:chOff x="0" y="0"/>
          <a:chExt cx="0" cy="0"/>
        </a:xfrm>
      </p:grpSpPr>
      <p:sp>
        <p:nvSpPr>
          <p:cNvPr id="2" name="Shape 0"/>
          <p:cNvSpPr/>
          <p:nvPr/>
        </p:nvSpPr>
        <p:spPr>
          <a:xfrm>
            <a:off x="-502920" y="-502920"/>
            <a:ext cx="1371600" cy="1371600"/>
          </a:xfrm>
          <a:prstGeom prst="ellipse">
            <a:avLst/>
          </a:prstGeom>
          <a:solidFill>
            <a:srgbClr val="2E8B8B">
              <a:alpha val="55000"/>
            </a:srgbClr>
          </a:solidFill>
        </p:spPr>
      </p:sp>
      <p:sp>
        <p:nvSpPr>
          <p:cNvPr id="3" name="Shape 1"/>
          <p:cNvSpPr/>
          <p:nvPr/>
        </p:nvSpPr>
        <p:spPr>
          <a:xfrm>
            <a:off x="8366760" y="4343400"/>
            <a:ext cx="1280160" cy="1280160"/>
          </a:xfrm>
          <a:prstGeom prst="ellipse">
            <a:avLst/>
          </a:prstGeom>
          <a:solidFill>
            <a:srgbClr val="E0A458">
              <a:alpha val="55000"/>
            </a:srgbClr>
          </a:solidFill>
        </p:spPr>
      </p:sp>
      <p:sp>
        <p:nvSpPr>
          <p:cNvPr id="4" name="Shape 2"/>
          <p:cNvSpPr/>
          <p:nvPr/>
        </p:nvSpPr>
        <p:spPr>
          <a:xfrm>
            <a:off x="256032" y="237744"/>
            <a:ext cx="8631936" cy="4672584"/>
          </a:xfrm>
          <a:prstGeom prst="roundRect">
            <a:avLst>
              <a:gd name="adj" fmla="val 2348"/>
            </a:avLst>
          </a:prstGeom>
          <a:solidFill>
            <a:srgbClr val="FBF8F3"/>
          </a:solidFill>
          <a:ln w="12700">
            <a:solidFill>
              <a:srgbClr val="FFFFFF"/>
            </a:solidFill>
            <a:prstDash val="solid"/>
          </a:ln>
          <a:effectLst>
            <a:outerShdw blurRad="152400" dist="25400" dir="5400000" algn="bl" rotWithShape="0">
              <a:srgbClr val="000000">
                <a:alpha val="25000"/>
              </a:srgbClr>
            </a:outerShdw>
          </a:effectLst>
        </p:spPr>
      </p:sp>
      <p:sp>
        <p:nvSpPr>
          <p:cNvPr id="5" name="Text 3"/>
          <p:cNvSpPr txBox="1"/>
          <p:nvPr/>
        </p:nvSpPr>
        <p:spPr>
          <a:xfrm>
            <a:off x="530352" y="384048"/>
            <a:ext cx="8083296" cy="502920"/>
          </a:xfrm>
          <a:prstGeom prst="rect">
            <a:avLst/>
          </a:prstGeom>
          <a:noFill/>
        </p:spPr>
        <p:txBody>
          <a:bodyPr wrap="square" lIns="0" tIns="0" rIns="0" bIns="0" rtlCol="0" anchor="ctr"/>
          <a:lstStyle/>
          <a:p>
            <a:pPr marL="0" indent="0" algn="ctr">
              <a:buNone/>
            </a:pPr>
            <a:r>
              <a:rPr lang="en-US" sz="2800" b="1" dirty="0">
                <a:solidFill>
                  <a:srgbClr val="141B3D"/>
                </a:solidFill>
                <a:latin typeface="Cambria" panose="02040503050406030204" pitchFamily="34" charset="0"/>
                <a:ea typeface="Cambria" panose="02040503050406030204" pitchFamily="34" charset="-122"/>
                <a:cs typeface="Cambria" panose="02040503050406030204" pitchFamily="34" charset="-120"/>
              </a:rPr>
              <a:t>PROPOSED SYSTEM</a:t>
            </a:r>
            <a:endParaRPr lang="en-US" sz="2800" dirty="0"/>
          </a:p>
        </p:txBody>
      </p:sp>
      <p:sp>
        <p:nvSpPr>
          <p:cNvPr id="6" name="Text 4"/>
          <p:cNvSpPr txBox="1"/>
          <p:nvPr/>
        </p:nvSpPr>
        <p:spPr>
          <a:xfrm>
            <a:off x="667512" y="914400"/>
            <a:ext cx="4846320" cy="1188720"/>
          </a:xfrm>
          <a:prstGeom prst="rect">
            <a:avLst/>
          </a:prstGeom>
          <a:noFill/>
        </p:spPr>
        <p:txBody>
          <a:bodyPr wrap="square" lIns="0" tIns="0" rIns="0" bIns="0" rtlCol="0" anchor="t"/>
          <a:lstStyle/>
          <a:p>
            <a:pPr marL="0" indent="0" algn="just">
              <a:lnSpc>
                <a:spcPct val="115000"/>
              </a:lnSpc>
              <a:buNone/>
            </a:pPr>
            <a:r>
              <a:rPr lang="en-US" sz="1200" dirty="0">
                <a:solidFill>
                  <a:srgbClr val="333A56"/>
                </a:solidFill>
                <a:latin typeface="Calibri" panose="020F0502020204030204" pitchFamily="34" charset="0"/>
                <a:ea typeface="Calibri" panose="020F0502020204030204" pitchFamily="34" charset="-122"/>
                <a:cs typeface="Calibri" panose="020F0502020204030204" pitchFamily="34" charset="-120"/>
              </a:rPr>
              <a:t>The proposed AI Study Companion is a full-stack web application organised around subject workspaces. A student uploads the PDF or DOCX material for a subject; the backend extracts the text, stores it in PostgreSQL, and sends it to the Google Gemini API with a task-specific prompt. Every generated resource is saved back to the workspace.</a:t>
            </a:r>
            <a:endParaRPr lang="en-US" sz="1200" dirty="0"/>
          </a:p>
        </p:txBody>
      </p:sp>
      <p:sp>
        <p:nvSpPr>
          <p:cNvPr id="7" name="Text 5"/>
          <p:cNvSpPr txBox="1"/>
          <p:nvPr/>
        </p:nvSpPr>
        <p:spPr>
          <a:xfrm>
            <a:off x="667512" y="2084832"/>
            <a:ext cx="4846320" cy="2514600"/>
          </a:xfrm>
          <a:prstGeom prst="rect">
            <a:avLst/>
          </a:prstGeom>
          <a:noFill/>
        </p:spPr>
        <p:txBody>
          <a:bodyPr wrap="square" lIns="0" tIns="0" rIns="0" bIns="0" rtlCol="0" anchor="t"/>
          <a:lstStyle/>
          <a:p>
            <a:pPr marL="177800" indent="-177800">
              <a:spcAft>
                <a:spcPts val="700"/>
              </a:spcAft>
              <a:buSzPct val="100000"/>
              <a:buChar char="•"/>
            </a:pPr>
            <a:r>
              <a:rPr lang="en-US" sz="1150" dirty="0">
                <a:solidFill>
                  <a:srgbClr val="333A56"/>
                </a:solidFill>
                <a:latin typeface="Calibri" panose="020F0502020204030204" pitchFamily="34" charset="0"/>
                <a:ea typeface="Calibri" panose="020F0502020204030204" pitchFamily="34" charset="-122"/>
                <a:cs typeface="Calibri" panose="020F0502020204030204" pitchFamily="34" charset="-120"/>
              </a:rPr>
              <a:t>Workspace model: material, chat history and generated content stay scoped to one subject.</a:t>
            </a:r>
            <a:endParaRPr lang="en-US" sz="1150" dirty="0"/>
          </a:p>
          <a:p>
            <a:pPr marL="177800" indent="-177800">
              <a:spcAft>
                <a:spcPts val="700"/>
              </a:spcAft>
              <a:buSzPct val="100000"/>
              <a:buChar char="•"/>
            </a:pPr>
            <a:r>
              <a:rPr lang="en-US" sz="1150" dirty="0">
                <a:solidFill>
                  <a:srgbClr val="333A56"/>
                </a:solidFill>
                <a:latin typeface="Calibri" panose="020F0502020204030204" pitchFamily="34" charset="0"/>
                <a:ea typeface="Calibri" panose="020F0502020204030204" pitchFamily="34" charset="-122"/>
                <a:cs typeface="Calibri" panose="020F0502020204030204" pitchFamily="34" charset="-120"/>
              </a:rPr>
              <a:t>Six learning resources from one source: AI chat, revision notes, exam preparation,  concept roadmap and logic flow.</a:t>
            </a:r>
            <a:endParaRPr lang="en-US" sz="1150" dirty="0"/>
          </a:p>
          <a:p>
            <a:pPr marL="177800" indent="-177800">
              <a:spcAft>
                <a:spcPts val="700"/>
              </a:spcAft>
              <a:buSzPct val="100000"/>
              <a:buChar char="•"/>
            </a:pPr>
            <a:r>
              <a:rPr lang="en-US" sz="1150" dirty="0">
                <a:solidFill>
                  <a:srgbClr val="333A56"/>
                </a:solidFill>
                <a:latin typeface="Calibri" panose="020F0502020204030204" pitchFamily="34" charset="0"/>
                <a:ea typeface="Calibri" panose="020F0502020204030204" pitchFamily="34" charset="-122"/>
                <a:cs typeface="Calibri" panose="020F0502020204030204" pitchFamily="34" charset="-120"/>
              </a:rPr>
              <a:t>Concept syllabus panel: unit-wise concept list generated from the uploaded material, with PDF export.</a:t>
            </a:r>
            <a:endParaRPr lang="en-US" sz="1150" dirty="0"/>
          </a:p>
          <a:p>
            <a:pPr marL="177800" indent="-177800">
              <a:spcAft>
                <a:spcPts val="700"/>
              </a:spcAft>
              <a:buSzPct val="100000"/>
              <a:buChar char="•"/>
            </a:pPr>
            <a:r>
              <a:rPr lang="en-US" sz="1150" dirty="0">
                <a:solidFill>
                  <a:srgbClr val="333A56"/>
                </a:solidFill>
                <a:latin typeface="Calibri" panose="020F0502020204030204" pitchFamily="34" charset="0"/>
                <a:ea typeface="Calibri" panose="020F0502020204030204" pitchFamily="34" charset="-122"/>
                <a:cs typeface="Calibri" panose="020F0502020204030204" pitchFamily="34" charset="-120"/>
              </a:rPr>
              <a:t>JWT authentication so each student's workspaces and documents remain private.</a:t>
            </a:r>
            <a:endParaRPr lang="en-US" sz="1150" dirty="0"/>
          </a:p>
          <a:p>
            <a:pPr indent="0">
              <a:spcAft>
                <a:spcPts val="700"/>
              </a:spcAft>
              <a:buSzPct val="100000"/>
              <a:buNone/>
            </a:pPr>
            <a:endParaRPr lang="en-US" sz="1150" dirty="0"/>
          </a:p>
        </p:txBody>
      </p:sp>
      <p:sp>
        <p:nvSpPr>
          <p:cNvPr id="8" name="Shape 6"/>
          <p:cNvSpPr/>
          <p:nvPr/>
        </p:nvSpPr>
        <p:spPr>
          <a:xfrm>
            <a:off x="5532120" y="1005840"/>
            <a:ext cx="3017520" cy="493776"/>
          </a:xfrm>
          <a:prstGeom prst="roundRect">
            <a:avLst>
              <a:gd name="adj" fmla="val 12963"/>
            </a:avLst>
          </a:prstGeom>
          <a:solidFill>
            <a:srgbClr val="141B3D">
              <a:alpha val="8000"/>
            </a:srgbClr>
          </a:solidFill>
        </p:spPr>
      </p:sp>
      <p:sp>
        <p:nvSpPr>
          <p:cNvPr id="9" name="Text 7"/>
          <p:cNvSpPr txBox="1"/>
          <p:nvPr/>
        </p:nvSpPr>
        <p:spPr>
          <a:xfrm>
            <a:off x="5669280" y="1005840"/>
            <a:ext cx="2743200" cy="493776"/>
          </a:xfrm>
          <a:prstGeom prst="rect">
            <a:avLst/>
          </a:prstGeom>
          <a:noFill/>
        </p:spPr>
        <p:txBody>
          <a:bodyPr wrap="square" lIns="0" tIns="0" rIns="0" bIns="0" rtlCol="0" anchor="ctr"/>
          <a:lstStyle/>
          <a:p>
            <a:pPr marL="0" indent="0">
              <a:buNone/>
            </a:pPr>
            <a:r>
              <a:rPr lang="en-US" sz="1150" b="1" dirty="0">
                <a:solidFill>
                  <a:srgbClr val="141B3D"/>
                </a:solidFill>
                <a:latin typeface="Calibri" panose="020F0502020204030204" pitchFamily="34" charset="0"/>
                <a:ea typeface="Calibri" panose="020F0502020204030204" pitchFamily="34" charset="-122"/>
                <a:cs typeface="Calibri" panose="020F0502020204030204" pitchFamily="34" charset="-120"/>
              </a:rPr>
              <a:t>Upload PDF / DOCX</a:t>
            </a:r>
            <a:endParaRPr lang="en-US" sz="1150" dirty="0"/>
          </a:p>
        </p:txBody>
      </p:sp>
      <p:sp>
        <p:nvSpPr>
          <p:cNvPr id="10" name="Shape 8"/>
          <p:cNvSpPr/>
          <p:nvPr/>
        </p:nvSpPr>
        <p:spPr>
          <a:xfrm>
            <a:off x="7040880" y="1517904"/>
            <a:ext cx="0" cy="137160"/>
          </a:xfrm>
          <a:prstGeom prst="line">
            <a:avLst/>
          </a:prstGeom>
          <a:noFill/>
          <a:ln w="19050">
            <a:solidFill>
              <a:srgbClr val="E0A458"/>
            </a:solidFill>
            <a:prstDash val="solid"/>
            <a:tailEnd type="triangle"/>
          </a:ln>
        </p:spPr>
      </p:sp>
      <p:sp>
        <p:nvSpPr>
          <p:cNvPr id="11" name="Shape 9"/>
          <p:cNvSpPr/>
          <p:nvPr/>
        </p:nvSpPr>
        <p:spPr>
          <a:xfrm>
            <a:off x="5532120" y="1673352"/>
            <a:ext cx="3017520" cy="493776"/>
          </a:xfrm>
          <a:prstGeom prst="roundRect">
            <a:avLst>
              <a:gd name="adj" fmla="val 12963"/>
            </a:avLst>
          </a:prstGeom>
          <a:solidFill>
            <a:srgbClr val="141B3D">
              <a:alpha val="8000"/>
            </a:srgbClr>
          </a:solidFill>
        </p:spPr>
      </p:sp>
      <p:sp>
        <p:nvSpPr>
          <p:cNvPr id="12" name="Text 10"/>
          <p:cNvSpPr txBox="1"/>
          <p:nvPr/>
        </p:nvSpPr>
        <p:spPr>
          <a:xfrm>
            <a:off x="5669280" y="1673352"/>
            <a:ext cx="2743200" cy="493776"/>
          </a:xfrm>
          <a:prstGeom prst="rect">
            <a:avLst/>
          </a:prstGeom>
          <a:noFill/>
        </p:spPr>
        <p:txBody>
          <a:bodyPr wrap="square" lIns="0" tIns="0" rIns="0" bIns="0" rtlCol="0" anchor="ctr"/>
          <a:lstStyle/>
          <a:p>
            <a:pPr marL="0" indent="0">
              <a:buNone/>
            </a:pPr>
            <a:r>
              <a:rPr lang="en-US" sz="1150" b="1" dirty="0">
                <a:solidFill>
                  <a:srgbClr val="141B3D"/>
                </a:solidFill>
                <a:latin typeface="Calibri" panose="020F0502020204030204" pitchFamily="34" charset="0"/>
                <a:ea typeface="Calibri" panose="020F0502020204030204" pitchFamily="34" charset="-122"/>
                <a:cs typeface="Calibri" panose="020F0502020204030204" pitchFamily="34" charset="-120"/>
              </a:rPr>
              <a:t>Extract text</a:t>
            </a:r>
            <a:endParaRPr lang="en-US" sz="1150" dirty="0"/>
          </a:p>
        </p:txBody>
      </p:sp>
      <p:sp>
        <p:nvSpPr>
          <p:cNvPr id="13" name="Shape 11"/>
          <p:cNvSpPr/>
          <p:nvPr/>
        </p:nvSpPr>
        <p:spPr>
          <a:xfrm>
            <a:off x="7040880" y="2185416"/>
            <a:ext cx="0" cy="137160"/>
          </a:xfrm>
          <a:prstGeom prst="line">
            <a:avLst/>
          </a:prstGeom>
          <a:noFill/>
          <a:ln w="19050">
            <a:solidFill>
              <a:srgbClr val="E0A458"/>
            </a:solidFill>
            <a:prstDash val="solid"/>
            <a:tailEnd type="triangle"/>
          </a:ln>
        </p:spPr>
      </p:sp>
      <p:sp>
        <p:nvSpPr>
          <p:cNvPr id="14" name="Shape 12"/>
          <p:cNvSpPr/>
          <p:nvPr/>
        </p:nvSpPr>
        <p:spPr>
          <a:xfrm>
            <a:off x="5532120" y="2340864"/>
            <a:ext cx="3017520" cy="493776"/>
          </a:xfrm>
          <a:prstGeom prst="roundRect">
            <a:avLst>
              <a:gd name="adj" fmla="val 12963"/>
            </a:avLst>
          </a:prstGeom>
          <a:solidFill>
            <a:srgbClr val="141B3D">
              <a:alpha val="8000"/>
            </a:srgbClr>
          </a:solidFill>
        </p:spPr>
      </p:sp>
      <p:sp>
        <p:nvSpPr>
          <p:cNvPr id="15" name="Text 13"/>
          <p:cNvSpPr txBox="1"/>
          <p:nvPr/>
        </p:nvSpPr>
        <p:spPr>
          <a:xfrm>
            <a:off x="5669280" y="2340864"/>
            <a:ext cx="2743200" cy="493776"/>
          </a:xfrm>
          <a:prstGeom prst="rect">
            <a:avLst/>
          </a:prstGeom>
          <a:noFill/>
        </p:spPr>
        <p:txBody>
          <a:bodyPr wrap="square" lIns="0" tIns="0" rIns="0" bIns="0" rtlCol="0" anchor="ctr"/>
          <a:lstStyle/>
          <a:p>
            <a:pPr marL="0" indent="0">
              <a:buNone/>
            </a:pPr>
            <a:r>
              <a:rPr lang="en-US" sz="1150" b="1" dirty="0">
                <a:solidFill>
                  <a:srgbClr val="141B3D"/>
                </a:solidFill>
                <a:latin typeface="Calibri" panose="020F0502020204030204" pitchFamily="34" charset="0"/>
                <a:ea typeface="Calibri" panose="020F0502020204030204" pitchFamily="34" charset="-122"/>
                <a:cs typeface="Calibri" panose="020F0502020204030204" pitchFamily="34" charset="-120"/>
              </a:rPr>
              <a:t>Store in PostgreSQL</a:t>
            </a:r>
            <a:endParaRPr lang="en-US" sz="1150" dirty="0"/>
          </a:p>
        </p:txBody>
      </p:sp>
      <p:sp>
        <p:nvSpPr>
          <p:cNvPr id="16" name="Shape 14"/>
          <p:cNvSpPr/>
          <p:nvPr/>
        </p:nvSpPr>
        <p:spPr>
          <a:xfrm>
            <a:off x="7040880" y="2852928"/>
            <a:ext cx="0" cy="137160"/>
          </a:xfrm>
          <a:prstGeom prst="line">
            <a:avLst/>
          </a:prstGeom>
          <a:noFill/>
          <a:ln w="19050">
            <a:solidFill>
              <a:srgbClr val="E0A458"/>
            </a:solidFill>
            <a:prstDash val="solid"/>
            <a:tailEnd type="triangle"/>
          </a:ln>
        </p:spPr>
      </p:sp>
      <p:sp>
        <p:nvSpPr>
          <p:cNvPr id="17" name="Shape 15"/>
          <p:cNvSpPr/>
          <p:nvPr/>
        </p:nvSpPr>
        <p:spPr>
          <a:xfrm>
            <a:off x="5532120" y="3008376"/>
            <a:ext cx="3017520" cy="493776"/>
          </a:xfrm>
          <a:prstGeom prst="roundRect">
            <a:avLst>
              <a:gd name="adj" fmla="val 12963"/>
            </a:avLst>
          </a:prstGeom>
          <a:solidFill>
            <a:srgbClr val="141B3D">
              <a:alpha val="8000"/>
            </a:srgbClr>
          </a:solidFill>
        </p:spPr>
      </p:sp>
      <p:sp>
        <p:nvSpPr>
          <p:cNvPr id="18" name="Text 16"/>
          <p:cNvSpPr txBox="1"/>
          <p:nvPr/>
        </p:nvSpPr>
        <p:spPr>
          <a:xfrm>
            <a:off x="5669280" y="3008376"/>
            <a:ext cx="2743200" cy="493776"/>
          </a:xfrm>
          <a:prstGeom prst="rect">
            <a:avLst/>
          </a:prstGeom>
          <a:noFill/>
        </p:spPr>
        <p:txBody>
          <a:bodyPr wrap="square" lIns="0" tIns="0" rIns="0" bIns="0" rtlCol="0" anchor="ctr"/>
          <a:lstStyle/>
          <a:p>
            <a:pPr marL="0" indent="0">
              <a:buNone/>
            </a:pPr>
            <a:r>
              <a:rPr lang="en-US" sz="1150" b="1" dirty="0">
                <a:solidFill>
                  <a:srgbClr val="141B3D"/>
                </a:solidFill>
                <a:latin typeface="Calibri" panose="020F0502020204030204" pitchFamily="34" charset="0"/>
                <a:ea typeface="Calibri" panose="020F0502020204030204" pitchFamily="34" charset="-122"/>
                <a:cs typeface="Calibri" panose="020F0502020204030204" pitchFamily="34" charset="-120"/>
              </a:rPr>
              <a:t>Prompt + text to Gemini</a:t>
            </a:r>
            <a:endParaRPr lang="en-US" sz="1150" dirty="0"/>
          </a:p>
        </p:txBody>
      </p:sp>
      <p:sp>
        <p:nvSpPr>
          <p:cNvPr id="19" name="Shape 17"/>
          <p:cNvSpPr/>
          <p:nvPr/>
        </p:nvSpPr>
        <p:spPr>
          <a:xfrm>
            <a:off x="7040880" y="3520440"/>
            <a:ext cx="0" cy="137160"/>
          </a:xfrm>
          <a:prstGeom prst="line">
            <a:avLst/>
          </a:prstGeom>
          <a:noFill/>
          <a:ln w="19050">
            <a:solidFill>
              <a:srgbClr val="E0A458"/>
            </a:solidFill>
            <a:prstDash val="solid"/>
            <a:tailEnd type="triangle"/>
          </a:ln>
        </p:spPr>
      </p:sp>
      <p:sp>
        <p:nvSpPr>
          <p:cNvPr id="20" name="Shape 18"/>
          <p:cNvSpPr/>
          <p:nvPr/>
        </p:nvSpPr>
        <p:spPr>
          <a:xfrm>
            <a:off x="5532120" y="3675888"/>
            <a:ext cx="3017520" cy="493776"/>
          </a:xfrm>
          <a:prstGeom prst="roundRect">
            <a:avLst>
              <a:gd name="adj" fmla="val 12963"/>
            </a:avLst>
          </a:prstGeom>
          <a:solidFill>
            <a:srgbClr val="2E8B8B">
              <a:alpha val="20000"/>
            </a:srgbClr>
          </a:solidFill>
        </p:spPr>
      </p:sp>
      <p:sp>
        <p:nvSpPr>
          <p:cNvPr id="21" name="Text 19"/>
          <p:cNvSpPr txBox="1"/>
          <p:nvPr/>
        </p:nvSpPr>
        <p:spPr>
          <a:xfrm>
            <a:off x="5669280" y="3675888"/>
            <a:ext cx="2743200" cy="493776"/>
          </a:xfrm>
          <a:prstGeom prst="rect">
            <a:avLst/>
          </a:prstGeom>
          <a:noFill/>
        </p:spPr>
        <p:txBody>
          <a:bodyPr wrap="square" lIns="0" tIns="0" rIns="0" bIns="0" rtlCol="0" anchor="ctr"/>
          <a:lstStyle/>
          <a:p>
            <a:pPr marL="0" indent="0">
              <a:buNone/>
            </a:pPr>
            <a:r>
              <a:rPr lang="en-US" sz="1150" b="1" dirty="0">
                <a:solidFill>
                  <a:srgbClr val="141B3D"/>
                </a:solidFill>
                <a:latin typeface="Calibri" panose="020F0502020204030204" pitchFamily="34" charset="0"/>
                <a:ea typeface="Calibri" panose="020F0502020204030204" pitchFamily="34" charset="-122"/>
                <a:cs typeface="Calibri" panose="020F0502020204030204" pitchFamily="34" charset="-120"/>
              </a:rPr>
              <a:t>Learning resources returned</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41B3D"/>
        </a:solidFill>
        <a:effectLst/>
      </p:bgPr>
    </p:bg>
    <p:spTree>
      <p:nvGrpSpPr>
        <p:cNvPr id="1" name=""/>
        <p:cNvGrpSpPr/>
        <p:nvPr/>
      </p:nvGrpSpPr>
      <p:grpSpPr>
        <a:xfrm>
          <a:off x="0" y="0"/>
          <a:ext cx="0" cy="0"/>
          <a:chOff x="0" y="0"/>
          <a:chExt cx="0" cy="0"/>
        </a:xfrm>
      </p:grpSpPr>
      <p:sp>
        <p:nvSpPr>
          <p:cNvPr id="2" name="Shape 0"/>
          <p:cNvSpPr/>
          <p:nvPr/>
        </p:nvSpPr>
        <p:spPr>
          <a:xfrm>
            <a:off x="-502920" y="-502920"/>
            <a:ext cx="1371600" cy="1371600"/>
          </a:xfrm>
          <a:prstGeom prst="ellipse">
            <a:avLst/>
          </a:prstGeom>
          <a:solidFill>
            <a:srgbClr val="2E8B8B">
              <a:alpha val="55000"/>
            </a:srgbClr>
          </a:solidFill>
        </p:spPr>
      </p:sp>
      <p:sp>
        <p:nvSpPr>
          <p:cNvPr id="3" name="Shape 1"/>
          <p:cNvSpPr/>
          <p:nvPr/>
        </p:nvSpPr>
        <p:spPr>
          <a:xfrm>
            <a:off x="8366760" y="4343400"/>
            <a:ext cx="1280160" cy="1280160"/>
          </a:xfrm>
          <a:prstGeom prst="ellipse">
            <a:avLst/>
          </a:prstGeom>
          <a:solidFill>
            <a:srgbClr val="E0A458">
              <a:alpha val="55000"/>
            </a:srgbClr>
          </a:solidFill>
        </p:spPr>
      </p:sp>
      <p:sp>
        <p:nvSpPr>
          <p:cNvPr id="4" name="Shape 2"/>
          <p:cNvSpPr/>
          <p:nvPr/>
        </p:nvSpPr>
        <p:spPr>
          <a:xfrm>
            <a:off x="256032" y="237744"/>
            <a:ext cx="8631936" cy="4672584"/>
          </a:xfrm>
          <a:prstGeom prst="roundRect">
            <a:avLst>
              <a:gd name="adj" fmla="val 2348"/>
            </a:avLst>
          </a:prstGeom>
          <a:solidFill>
            <a:srgbClr val="FBF8F3"/>
          </a:solidFill>
          <a:ln w="12700">
            <a:solidFill>
              <a:srgbClr val="FFFFFF"/>
            </a:solidFill>
            <a:prstDash val="solid"/>
          </a:ln>
          <a:effectLst>
            <a:outerShdw blurRad="152400" dist="25400" dir="5400000" algn="bl" rotWithShape="0">
              <a:srgbClr val="000000">
                <a:alpha val="25000"/>
              </a:srgbClr>
            </a:outerShdw>
          </a:effectLst>
        </p:spPr>
      </p:sp>
      <p:sp>
        <p:nvSpPr>
          <p:cNvPr id="5" name="Text 3"/>
          <p:cNvSpPr txBox="1"/>
          <p:nvPr/>
        </p:nvSpPr>
        <p:spPr>
          <a:xfrm>
            <a:off x="530352" y="384048"/>
            <a:ext cx="8083296" cy="502920"/>
          </a:xfrm>
          <a:prstGeom prst="rect">
            <a:avLst/>
          </a:prstGeom>
          <a:noFill/>
        </p:spPr>
        <p:txBody>
          <a:bodyPr wrap="square" lIns="0" tIns="0" rIns="0" bIns="0" rtlCol="0" anchor="ctr"/>
          <a:lstStyle/>
          <a:p>
            <a:pPr marL="0" indent="0" algn="ctr">
              <a:buNone/>
            </a:pPr>
            <a:r>
              <a:rPr lang="en-US" sz="2800" b="1" dirty="0">
                <a:solidFill>
                  <a:srgbClr val="141B3D"/>
                </a:solidFill>
                <a:latin typeface="Cambria" panose="02040503050406030204" pitchFamily="34" charset="0"/>
                <a:ea typeface="Cambria" panose="02040503050406030204" pitchFamily="34" charset="-122"/>
                <a:cs typeface="Cambria" panose="02040503050406030204" pitchFamily="34" charset="-120"/>
              </a:rPr>
              <a:t>SOFTWARE REQUIREMENTS</a:t>
            </a:r>
            <a:endParaRPr lang="en-US" sz="2800" dirty="0"/>
          </a:p>
        </p:txBody>
      </p:sp>
      <p:sp>
        <p:nvSpPr>
          <p:cNvPr id="6" name="Shape 4"/>
          <p:cNvSpPr/>
          <p:nvPr/>
        </p:nvSpPr>
        <p:spPr>
          <a:xfrm>
            <a:off x="640080" y="1078992"/>
            <a:ext cx="1883664" cy="1078992"/>
          </a:xfrm>
          <a:prstGeom prst="roundRect">
            <a:avLst>
              <a:gd name="adj" fmla="val 6780"/>
            </a:avLst>
          </a:prstGeom>
          <a:solidFill>
            <a:srgbClr val="141B3D">
              <a:alpha val="8000"/>
            </a:srgbClr>
          </a:solidFill>
        </p:spPr>
      </p:sp>
      <p:sp>
        <p:nvSpPr>
          <p:cNvPr id="7" name="Shape 5"/>
          <p:cNvSpPr/>
          <p:nvPr/>
        </p:nvSpPr>
        <p:spPr>
          <a:xfrm>
            <a:off x="768096" y="1207008"/>
            <a:ext cx="292608" cy="292608"/>
          </a:xfrm>
          <a:prstGeom prst="ellipse">
            <a:avLst/>
          </a:prstGeom>
          <a:solidFill>
            <a:srgbClr val="141B3D"/>
          </a:solidFill>
        </p:spPr>
      </p:sp>
      <p:sp>
        <p:nvSpPr>
          <p:cNvPr id="8" name="Text 6"/>
          <p:cNvSpPr txBox="1"/>
          <p:nvPr/>
        </p:nvSpPr>
        <p:spPr>
          <a:xfrm>
            <a:off x="768096" y="1554480"/>
            <a:ext cx="1627632" cy="274320"/>
          </a:xfrm>
          <a:prstGeom prst="rect">
            <a:avLst/>
          </a:prstGeom>
          <a:noFill/>
        </p:spPr>
        <p:txBody>
          <a:bodyPr wrap="square" lIns="0" tIns="0" rIns="0" bIns="0" rtlCol="0" anchor="ctr"/>
          <a:lstStyle/>
          <a:p>
            <a:pPr marL="0" indent="0">
              <a:buNone/>
            </a:pPr>
            <a:r>
              <a:rPr lang="en-US" sz="1150" b="1" dirty="0">
                <a:solidFill>
                  <a:srgbClr val="141B3D"/>
                </a:solidFill>
                <a:latin typeface="Calibri" panose="020F0502020204030204" pitchFamily="34" charset="0"/>
                <a:ea typeface="Calibri" panose="020F0502020204030204" pitchFamily="34" charset="-122"/>
                <a:cs typeface="Calibri" panose="020F0502020204030204" pitchFamily="34" charset="-120"/>
              </a:rPr>
              <a:t>Python 3.10</a:t>
            </a:r>
            <a:endParaRPr lang="en-US" sz="1150" dirty="0"/>
          </a:p>
        </p:txBody>
      </p:sp>
      <p:sp>
        <p:nvSpPr>
          <p:cNvPr id="9" name="Text 7"/>
          <p:cNvSpPr txBox="1"/>
          <p:nvPr/>
        </p:nvSpPr>
        <p:spPr>
          <a:xfrm>
            <a:off x="768096" y="1810512"/>
            <a:ext cx="1627632" cy="274320"/>
          </a:xfrm>
          <a:prstGeom prst="rect">
            <a:avLst/>
          </a:prstGeom>
          <a:noFill/>
        </p:spPr>
        <p:txBody>
          <a:bodyPr wrap="square" lIns="0" tIns="0" rIns="0" bIns="0" rtlCol="0" anchor="ctr"/>
          <a:lstStyle/>
          <a:p>
            <a:pPr marL="0" indent="0">
              <a:buNone/>
            </a:pPr>
            <a:r>
              <a:rPr lang="en-US" sz="950" dirty="0">
                <a:solidFill>
                  <a:srgbClr val="6B7280"/>
                </a:solidFill>
                <a:latin typeface="Calibri" panose="020F0502020204030204" pitchFamily="34" charset="0"/>
                <a:ea typeface="Calibri" panose="020F0502020204030204" pitchFamily="34" charset="-122"/>
                <a:cs typeface="Calibri" panose="020F0502020204030204" pitchFamily="34" charset="-120"/>
              </a:rPr>
              <a:t>Core backend language</a:t>
            </a:r>
            <a:endParaRPr lang="en-US" sz="950" dirty="0"/>
          </a:p>
        </p:txBody>
      </p:sp>
      <p:sp>
        <p:nvSpPr>
          <p:cNvPr id="10" name="Shape 8"/>
          <p:cNvSpPr/>
          <p:nvPr/>
        </p:nvSpPr>
        <p:spPr>
          <a:xfrm>
            <a:off x="2706624" y="1078992"/>
            <a:ext cx="1883664" cy="1078992"/>
          </a:xfrm>
          <a:prstGeom prst="roundRect">
            <a:avLst>
              <a:gd name="adj" fmla="val 6780"/>
            </a:avLst>
          </a:prstGeom>
          <a:solidFill>
            <a:srgbClr val="2E8B8B">
              <a:alpha val="8000"/>
            </a:srgbClr>
          </a:solidFill>
        </p:spPr>
      </p:sp>
      <p:sp>
        <p:nvSpPr>
          <p:cNvPr id="11" name="Shape 9"/>
          <p:cNvSpPr/>
          <p:nvPr/>
        </p:nvSpPr>
        <p:spPr>
          <a:xfrm>
            <a:off x="2834640" y="1207008"/>
            <a:ext cx="292608" cy="292608"/>
          </a:xfrm>
          <a:prstGeom prst="ellipse">
            <a:avLst/>
          </a:prstGeom>
          <a:solidFill>
            <a:srgbClr val="2E8B8B"/>
          </a:solidFill>
        </p:spPr>
      </p:sp>
      <p:sp>
        <p:nvSpPr>
          <p:cNvPr id="12" name="Text 10"/>
          <p:cNvSpPr txBox="1"/>
          <p:nvPr/>
        </p:nvSpPr>
        <p:spPr>
          <a:xfrm>
            <a:off x="2834640" y="1554480"/>
            <a:ext cx="1627632" cy="274320"/>
          </a:xfrm>
          <a:prstGeom prst="rect">
            <a:avLst/>
          </a:prstGeom>
          <a:noFill/>
        </p:spPr>
        <p:txBody>
          <a:bodyPr wrap="square" lIns="0" tIns="0" rIns="0" bIns="0" rtlCol="0" anchor="ctr"/>
          <a:lstStyle/>
          <a:p>
            <a:pPr marL="0" indent="0">
              <a:buNone/>
            </a:pPr>
            <a:r>
              <a:rPr lang="en-US" sz="1150" b="1" dirty="0">
                <a:solidFill>
                  <a:srgbClr val="141B3D"/>
                </a:solidFill>
                <a:latin typeface="Calibri" panose="020F0502020204030204" pitchFamily="34" charset="0"/>
                <a:ea typeface="Calibri" panose="020F0502020204030204" pitchFamily="34" charset="-122"/>
                <a:cs typeface="Calibri" panose="020F0502020204030204" pitchFamily="34" charset="-120"/>
              </a:rPr>
              <a:t>FastAPI</a:t>
            </a:r>
            <a:endParaRPr lang="en-US" sz="1150" dirty="0"/>
          </a:p>
        </p:txBody>
      </p:sp>
      <p:sp>
        <p:nvSpPr>
          <p:cNvPr id="13" name="Text 11"/>
          <p:cNvSpPr txBox="1"/>
          <p:nvPr/>
        </p:nvSpPr>
        <p:spPr>
          <a:xfrm>
            <a:off x="2834640" y="1810512"/>
            <a:ext cx="1627632" cy="274320"/>
          </a:xfrm>
          <a:prstGeom prst="rect">
            <a:avLst/>
          </a:prstGeom>
          <a:noFill/>
        </p:spPr>
        <p:txBody>
          <a:bodyPr wrap="square" lIns="0" tIns="0" rIns="0" bIns="0" rtlCol="0" anchor="ctr"/>
          <a:lstStyle/>
          <a:p>
            <a:pPr marL="0" indent="0">
              <a:buNone/>
            </a:pPr>
            <a:r>
              <a:rPr lang="en-US" sz="950" dirty="0">
                <a:solidFill>
                  <a:srgbClr val="6B7280"/>
                </a:solidFill>
                <a:latin typeface="Calibri" panose="020F0502020204030204" pitchFamily="34" charset="0"/>
                <a:ea typeface="Calibri" panose="020F0502020204030204" pitchFamily="34" charset="-122"/>
                <a:cs typeface="Calibri" panose="020F0502020204030204" pitchFamily="34" charset="-120"/>
              </a:rPr>
              <a:t>REST API and business logic</a:t>
            </a:r>
            <a:endParaRPr lang="en-US" sz="950" dirty="0"/>
          </a:p>
        </p:txBody>
      </p:sp>
      <p:sp>
        <p:nvSpPr>
          <p:cNvPr id="14" name="Shape 12"/>
          <p:cNvSpPr/>
          <p:nvPr/>
        </p:nvSpPr>
        <p:spPr>
          <a:xfrm>
            <a:off x="4773168" y="1078992"/>
            <a:ext cx="1883664" cy="1078992"/>
          </a:xfrm>
          <a:prstGeom prst="roundRect">
            <a:avLst>
              <a:gd name="adj" fmla="val 6780"/>
            </a:avLst>
          </a:prstGeom>
          <a:solidFill>
            <a:srgbClr val="E0A458">
              <a:alpha val="8000"/>
            </a:srgbClr>
          </a:solidFill>
        </p:spPr>
      </p:sp>
      <p:sp>
        <p:nvSpPr>
          <p:cNvPr id="15" name="Shape 13"/>
          <p:cNvSpPr/>
          <p:nvPr/>
        </p:nvSpPr>
        <p:spPr>
          <a:xfrm>
            <a:off x="4901184" y="1207008"/>
            <a:ext cx="292608" cy="292608"/>
          </a:xfrm>
          <a:prstGeom prst="ellipse">
            <a:avLst/>
          </a:prstGeom>
          <a:solidFill>
            <a:srgbClr val="E0A458"/>
          </a:solidFill>
        </p:spPr>
      </p:sp>
      <p:sp>
        <p:nvSpPr>
          <p:cNvPr id="16" name="Text 14"/>
          <p:cNvSpPr txBox="1"/>
          <p:nvPr/>
        </p:nvSpPr>
        <p:spPr>
          <a:xfrm>
            <a:off x="4901184" y="1554480"/>
            <a:ext cx="1627632" cy="274320"/>
          </a:xfrm>
          <a:prstGeom prst="rect">
            <a:avLst/>
          </a:prstGeom>
          <a:noFill/>
        </p:spPr>
        <p:txBody>
          <a:bodyPr wrap="square" lIns="0" tIns="0" rIns="0" bIns="0" rtlCol="0" anchor="ctr"/>
          <a:lstStyle/>
          <a:p>
            <a:pPr marL="0" indent="0">
              <a:buNone/>
            </a:pPr>
            <a:r>
              <a:rPr lang="en-US" sz="1150" b="1" dirty="0">
                <a:solidFill>
                  <a:srgbClr val="141B3D"/>
                </a:solidFill>
                <a:latin typeface="Calibri" panose="020F0502020204030204" pitchFamily="34" charset="0"/>
                <a:ea typeface="Calibri" panose="020F0502020204030204" pitchFamily="34" charset="-122"/>
                <a:cs typeface="Calibri" panose="020F0502020204030204" pitchFamily="34" charset="-120"/>
              </a:rPr>
              <a:t>React.js + Vite</a:t>
            </a:r>
            <a:endParaRPr lang="en-US" sz="1150" dirty="0"/>
          </a:p>
        </p:txBody>
      </p:sp>
      <p:sp>
        <p:nvSpPr>
          <p:cNvPr id="17" name="Text 15"/>
          <p:cNvSpPr txBox="1"/>
          <p:nvPr/>
        </p:nvSpPr>
        <p:spPr>
          <a:xfrm>
            <a:off x="4901184" y="1810512"/>
            <a:ext cx="1627632" cy="274320"/>
          </a:xfrm>
          <a:prstGeom prst="rect">
            <a:avLst/>
          </a:prstGeom>
          <a:noFill/>
        </p:spPr>
        <p:txBody>
          <a:bodyPr wrap="square" lIns="0" tIns="0" rIns="0" bIns="0" rtlCol="0" anchor="ctr"/>
          <a:lstStyle/>
          <a:p>
            <a:pPr marL="0" indent="0">
              <a:buNone/>
            </a:pPr>
            <a:r>
              <a:rPr lang="en-US" sz="950" dirty="0">
                <a:solidFill>
                  <a:srgbClr val="6B7280"/>
                </a:solidFill>
                <a:latin typeface="Calibri" panose="020F0502020204030204" pitchFamily="34" charset="0"/>
                <a:ea typeface="Calibri" panose="020F0502020204030204" pitchFamily="34" charset="-122"/>
                <a:cs typeface="Calibri" panose="020F0502020204030204" pitchFamily="34" charset="-120"/>
              </a:rPr>
              <a:t>Front-end web interface</a:t>
            </a:r>
            <a:endParaRPr lang="en-US" sz="950" dirty="0"/>
          </a:p>
        </p:txBody>
      </p:sp>
      <p:sp>
        <p:nvSpPr>
          <p:cNvPr id="18" name="Shape 16"/>
          <p:cNvSpPr/>
          <p:nvPr/>
        </p:nvSpPr>
        <p:spPr>
          <a:xfrm>
            <a:off x="6839712" y="1078992"/>
            <a:ext cx="1883664" cy="1078992"/>
          </a:xfrm>
          <a:prstGeom prst="roundRect">
            <a:avLst>
              <a:gd name="adj" fmla="val 6780"/>
            </a:avLst>
          </a:prstGeom>
          <a:solidFill>
            <a:srgbClr val="2E8B8B">
              <a:alpha val="8000"/>
            </a:srgbClr>
          </a:solidFill>
        </p:spPr>
      </p:sp>
      <p:sp>
        <p:nvSpPr>
          <p:cNvPr id="19" name="Shape 17"/>
          <p:cNvSpPr/>
          <p:nvPr/>
        </p:nvSpPr>
        <p:spPr>
          <a:xfrm>
            <a:off x="6967728" y="1207008"/>
            <a:ext cx="292608" cy="292608"/>
          </a:xfrm>
          <a:prstGeom prst="ellipse">
            <a:avLst/>
          </a:prstGeom>
          <a:solidFill>
            <a:srgbClr val="2E8B8B"/>
          </a:solidFill>
        </p:spPr>
      </p:sp>
      <p:sp>
        <p:nvSpPr>
          <p:cNvPr id="20" name="Text 18"/>
          <p:cNvSpPr txBox="1"/>
          <p:nvPr/>
        </p:nvSpPr>
        <p:spPr>
          <a:xfrm>
            <a:off x="6967728" y="1554480"/>
            <a:ext cx="1627632" cy="274320"/>
          </a:xfrm>
          <a:prstGeom prst="rect">
            <a:avLst/>
          </a:prstGeom>
          <a:noFill/>
        </p:spPr>
        <p:txBody>
          <a:bodyPr wrap="square" lIns="0" tIns="0" rIns="0" bIns="0" rtlCol="0" anchor="ctr"/>
          <a:lstStyle/>
          <a:p>
            <a:pPr marL="0" indent="0">
              <a:buNone/>
            </a:pPr>
            <a:r>
              <a:rPr lang="en-US" sz="1150" b="1" dirty="0">
                <a:solidFill>
                  <a:srgbClr val="141B3D"/>
                </a:solidFill>
                <a:latin typeface="Calibri" panose="020F0502020204030204" pitchFamily="34" charset="0"/>
                <a:ea typeface="Calibri" panose="020F0502020204030204" pitchFamily="34" charset="-122"/>
                <a:cs typeface="Calibri" panose="020F0502020204030204" pitchFamily="34" charset="-120"/>
              </a:rPr>
              <a:t>Google Gemini API</a:t>
            </a:r>
            <a:endParaRPr lang="en-US" sz="1150" dirty="0"/>
          </a:p>
        </p:txBody>
      </p:sp>
      <p:sp>
        <p:nvSpPr>
          <p:cNvPr id="21" name="Text 19"/>
          <p:cNvSpPr txBox="1"/>
          <p:nvPr/>
        </p:nvSpPr>
        <p:spPr>
          <a:xfrm>
            <a:off x="6967728" y="1810512"/>
            <a:ext cx="1627632" cy="274320"/>
          </a:xfrm>
          <a:prstGeom prst="rect">
            <a:avLst/>
          </a:prstGeom>
          <a:noFill/>
        </p:spPr>
        <p:txBody>
          <a:bodyPr wrap="square" lIns="0" tIns="0" rIns="0" bIns="0" rtlCol="0" anchor="ctr"/>
          <a:lstStyle/>
          <a:p>
            <a:pPr marL="0" indent="0">
              <a:buNone/>
            </a:pPr>
            <a:r>
              <a:rPr lang="en-US" sz="950" dirty="0">
                <a:solidFill>
                  <a:srgbClr val="6B7280"/>
                </a:solidFill>
                <a:latin typeface="Calibri" panose="020F0502020204030204" pitchFamily="34" charset="0"/>
                <a:ea typeface="Calibri" panose="020F0502020204030204" pitchFamily="34" charset="-122"/>
                <a:cs typeface="Calibri" panose="020F0502020204030204" pitchFamily="34" charset="-120"/>
              </a:rPr>
              <a:t>AI generation engine</a:t>
            </a:r>
            <a:endParaRPr lang="en-US" sz="950" dirty="0"/>
          </a:p>
        </p:txBody>
      </p:sp>
      <p:sp>
        <p:nvSpPr>
          <p:cNvPr id="22" name="Shape 20"/>
          <p:cNvSpPr/>
          <p:nvPr/>
        </p:nvSpPr>
        <p:spPr>
          <a:xfrm>
            <a:off x="640080" y="2313432"/>
            <a:ext cx="1883664" cy="1078992"/>
          </a:xfrm>
          <a:prstGeom prst="roundRect">
            <a:avLst>
              <a:gd name="adj" fmla="val 6780"/>
            </a:avLst>
          </a:prstGeom>
          <a:solidFill>
            <a:srgbClr val="141B3D">
              <a:alpha val="8000"/>
            </a:srgbClr>
          </a:solidFill>
        </p:spPr>
      </p:sp>
      <p:sp>
        <p:nvSpPr>
          <p:cNvPr id="23" name="Shape 21"/>
          <p:cNvSpPr/>
          <p:nvPr/>
        </p:nvSpPr>
        <p:spPr>
          <a:xfrm>
            <a:off x="768096" y="2441448"/>
            <a:ext cx="292608" cy="292608"/>
          </a:xfrm>
          <a:prstGeom prst="ellipse">
            <a:avLst/>
          </a:prstGeom>
          <a:solidFill>
            <a:srgbClr val="141B3D"/>
          </a:solidFill>
        </p:spPr>
      </p:sp>
      <p:sp>
        <p:nvSpPr>
          <p:cNvPr id="24" name="Text 22"/>
          <p:cNvSpPr txBox="1"/>
          <p:nvPr/>
        </p:nvSpPr>
        <p:spPr>
          <a:xfrm>
            <a:off x="768096" y="2788920"/>
            <a:ext cx="1627632" cy="274320"/>
          </a:xfrm>
          <a:prstGeom prst="rect">
            <a:avLst/>
          </a:prstGeom>
          <a:noFill/>
        </p:spPr>
        <p:txBody>
          <a:bodyPr wrap="square" lIns="0" tIns="0" rIns="0" bIns="0" rtlCol="0" anchor="ctr"/>
          <a:lstStyle/>
          <a:p>
            <a:pPr marL="0" indent="0">
              <a:buNone/>
            </a:pPr>
            <a:r>
              <a:rPr lang="en-US" sz="1150" b="1" dirty="0">
                <a:solidFill>
                  <a:srgbClr val="141B3D"/>
                </a:solidFill>
                <a:latin typeface="Calibri" panose="020F0502020204030204" pitchFamily="34" charset="0"/>
                <a:ea typeface="Calibri" panose="020F0502020204030204" pitchFamily="34" charset="-122"/>
                <a:cs typeface="Calibri" panose="020F0502020204030204" pitchFamily="34" charset="-120"/>
              </a:rPr>
              <a:t>PostgreSQL</a:t>
            </a:r>
            <a:endParaRPr lang="en-US" sz="1150" dirty="0"/>
          </a:p>
        </p:txBody>
      </p:sp>
      <p:sp>
        <p:nvSpPr>
          <p:cNvPr id="25" name="Text 23"/>
          <p:cNvSpPr txBox="1"/>
          <p:nvPr/>
        </p:nvSpPr>
        <p:spPr>
          <a:xfrm>
            <a:off x="768096" y="3044952"/>
            <a:ext cx="1627632" cy="274320"/>
          </a:xfrm>
          <a:prstGeom prst="rect">
            <a:avLst/>
          </a:prstGeom>
          <a:noFill/>
        </p:spPr>
        <p:txBody>
          <a:bodyPr wrap="square" lIns="0" tIns="0" rIns="0" bIns="0" rtlCol="0" anchor="ctr"/>
          <a:lstStyle/>
          <a:p>
            <a:pPr marL="0" indent="0">
              <a:buNone/>
            </a:pPr>
            <a:r>
              <a:rPr lang="en-US" sz="950" dirty="0">
                <a:solidFill>
                  <a:srgbClr val="6B7280"/>
                </a:solidFill>
                <a:latin typeface="Calibri" panose="020F0502020204030204" pitchFamily="34" charset="0"/>
                <a:ea typeface="Calibri" panose="020F0502020204030204" pitchFamily="34" charset="-122"/>
                <a:cs typeface="Calibri" panose="020F0502020204030204" pitchFamily="34" charset="-120"/>
              </a:rPr>
              <a:t>Users, documents, chat history</a:t>
            </a:r>
            <a:endParaRPr lang="en-US" sz="950" dirty="0"/>
          </a:p>
        </p:txBody>
      </p:sp>
      <p:sp>
        <p:nvSpPr>
          <p:cNvPr id="26" name="Shape 24"/>
          <p:cNvSpPr/>
          <p:nvPr/>
        </p:nvSpPr>
        <p:spPr>
          <a:xfrm>
            <a:off x="2706624" y="2313432"/>
            <a:ext cx="1883664" cy="1078992"/>
          </a:xfrm>
          <a:prstGeom prst="roundRect">
            <a:avLst>
              <a:gd name="adj" fmla="val 6780"/>
            </a:avLst>
          </a:prstGeom>
          <a:solidFill>
            <a:srgbClr val="E0A458">
              <a:alpha val="8000"/>
            </a:srgbClr>
          </a:solidFill>
        </p:spPr>
      </p:sp>
      <p:sp>
        <p:nvSpPr>
          <p:cNvPr id="27" name="Shape 25"/>
          <p:cNvSpPr/>
          <p:nvPr/>
        </p:nvSpPr>
        <p:spPr>
          <a:xfrm>
            <a:off x="2834640" y="2441448"/>
            <a:ext cx="292608" cy="292608"/>
          </a:xfrm>
          <a:prstGeom prst="ellipse">
            <a:avLst/>
          </a:prstGeom>
          <a:solidFill>
            <a:srgbClr val="E0A458"/>
          </a:solidFill>
        </p:spPr>
      </p:sp>
      <p:sp>
        <p:nvSpPr>
          <p:cNvPr id="28" name="Text 26"/>
          <p:cNvSpPr txBox="1"/>
          <p:nvPr/>
        </p:nvSpPr>
        <p:spPr>
          <a:xfrm>
            <a:off x="2834640" y="2788920"/>
            <a:ext cx="1627632" cy="274320"/>
          </a:xfrm>
          <a:prstGeom prst="rect">
            <a:avLst/>
          </a:prstGeom>
          <a:noFill/>
        </p:spPr>
        <p:txBody>
          <a:bodyPr wrap="square" lIns="0" tIns="0" rIns="0" bIns="0" rtlCol="0" anchor="ctr"/>
          <a:lstStyle/>
          <a:p>
            <a:pPr marL="0" indent="0">
              <a:buNone/>
            </a:pPr>
            <a:r>
              <a:rPr lang="en-US" sz="1150" b="1" dirty="0">
                <a:solidFill>
                  <a:srgbClr val="141B3D"/>
                </a:solidFill>
                <a:latin typeface="Calibri" panose="020F0502020204030204" pitchFamily="34" charset="0"/>
                <a:ea typeface="Calibri" panose="020F0502020204030204" pitchFamily="34" charset="-122"/>
                <a:cs typeface="Calibri" panose="020F0502020204030204" pitchFamily="34" charset="-120"/>
              </a:rPr>
              <a:t>PyPDF2</a:t>
            </a:r>
            <a:endParaRPr lang="en-US" sz="1150" dirty="0"/>
          </a:p>
        </p:txBody>
      </p:sp>
      <p:sp>
        <p:nvSpPr>
          <p:cNvPr id="29" name="Text 27"/>
          <p:cNvSpPr txBox="1"/>
          <p:nvPr/>
        </p:nvSpPr>
        <p:spPr>
          <a:xfrm>
            <a:off x="2834640" y="3044952"/>
            <a:ext cx="1627632" cy="274320"/>
          </a:xfrm>
          <a:prstGeom prst="rect">
            <a:avLst/>
          </a:prstGeom>
          <a:noFill/>
        </p:spPr>
        <p:txBody>
          <a:bodyPr wrap="square" lIns="0" tIns="0" rIns="0" bIns="0" rtlCol="0" anchor="ctr"/>
          <a:lstStyle/>
          <a:p>
            <a:pPr marL="0" indent="0">
              <a:buNone/>
            </a:pPr>
            <a:r>
              <a:rPr lang="en-US" sz="950" dirty="0">
                <a:solidFill>
                  <a:srgbClr val="6B7280"/>
                </a:solidFill>
                <a:latin typeface="Calibri" panose="020F0502020204030204" pitchFamily="34" charset="0"/>
                <a:ea typeface="Calibri" panose="020F0502020204030204" pitchFamily="34" charset="-122"/>
                <a:cs typeface="Calibri" panose="020F0502020204030204" pitchFamily="34" charset="-120"/>
              </a:rPr>
              <a:t>PDF text extraction</a:t>
            </a:r>
            <a:endParaRPr lang="en-US" sz="950" dirty="0"/>
          </a:p>
        </p:txBody>
      </p:sp>
      <p:sp>
        <p:nvSpPr>
          <p:cNvPr id="30" name="Shape 28"/>
          <p:cNvSpPr/>
          <p:nvPr/>
        </p:nvSpPr>
        <p:spPr>
          <a:xfrm>
            <a:off x="4773168" y="2313432"/>
            <a:ext cx="1883664" cy="1078992"/>
          </a:xfrm>
          <a:prstGeom prst="roundRect">
            <a:avLst>
              <a:gd name="adj" fmla="val 6780"/>
            </a:avLst>
          </a:prstGeom>
          <a:solidFill>
            <a:srgbClr val="141B3D">
              <a:alpha val="8000"/>
            </a:srgbClr>
          </a:solidFill>
        </p:spPr>
      </p:sp>
      <p:sp>
        <p:nvSpPr>
          <p:cNvPr id="31" name="Shape 29"/>
          <p:cNvSpPr/>
          <p:nvPr/>
        </p:nvSpPr>
        <p:spPr>
          <a:xfrm>
            <a:off x="4901184" y="2441448"/>
            <a:ext cx="292608" cy="292608"/>
          </a:xfrm>
          <a:prstGeom prst="ellipse">
            <a:avLst/>
          </a:prstGeom>
          <a:solidFill>
            <a:srgbClr val="141B3D"/>
          </a:solidFill>
        </p:spPr>
      </p:sp>
      <p:sp>
        <p:nvSpPr>
          <p:cNvPr id="32" name="Text 30"/>
          <p:cNvSpPr txBox="1"/>
          <p:nvPr/>
        </p:nvSpPr>
        <p:spPr>
          <a:xfrm>
            <a:off x="4901184" y="2788920"/>
            <a:ext cx="1627632" cy="274320"/>
          </a:xfrm>
          <a:prstGeom prst="rect">
            <a:avLst/>
          </a:prstGeom>
          <a:noFill/>
        </p:spPr>
        <p:txBody>
          <a:bodyPr wrap="square" lIns="0" tIns="0" rIns="0" bIns="0" rtlCol="0" anchor="ctr"/>
          <a:lstStyle/>
          <a:p>
            <a:pPr marL="0" indent="0">
              <a:buNone/>
            </a:pPr>
            <a:r>
              <a:rPr lang="en-US" sz="1150" b="1" dirty="0">
                <a:solidFill>
                  <a:srgbClr val="141B3D"/>
                </a:solidFill>
                <a:latin typeface="Calibri" panose="020F0502020204030204" pitchFamily="34" charset="0"/>
                <a:ea typeface="Calibri" panose="020F0502020204030204" pitchFamily="34" charset="-122"/>
                <a:cs typeface="Calibri" panose="020F0502020204030204" pitchFamily="34" charset="-120"/>
              </a:rPr>
              <a:t>python-docx</a:t>
            </a:r>
            <a:endParaRPr lang="en-US" sz="1150" dirty="0"/>
          </a:p>
        </p:txBody>
      </p:sp>
      <p:sp>
        <p:nvSpPr>
          <p:cNvPr id="33" name="Text 31"/>
          <p:cNvSpPr txBox="1"/>
          <p:nvPr/>
        </p:nvSpPr>
        <p:spPr>
          <a:xfrm>
            <a:off x="4901184" y="3044952"/>
            <a:ext cx="1627632" cy="274320"/>
          </a:xfrm>
          <a:prstGeom prst="rect">
            <a:avLst/>
          </a:prstGeom>
          <a:noFill/>
        </p:spPr>
        <p:txBody>
          <a:bodyPr wrap="square" lIns="0" tIns="0" rIns="0" bIns="0" rtlCol="0" anchor="ctr"/>
          <a:lstStyle/>
          <a:p>
            <a:pPr marL="0" indent="0">
              <a:buNone/>
            </a:pPr>
            <a:r>
              <a:rPr lang="en-US" sz="950" dirty="0">
                <a:solidFill>
                  <a:srgbClr val="6B7280"/>
                </a:solidFill>
                <a:latin typeface="Calibri" panose="020F0502020204030204" pitchFamily="34" charset="0"/>
                <a:ea typeface="Calibri" panose="020F0502020204030204" pitchFamily="34" charset="-122"/>
                <a:cs typeface="Calibri" panose="020F0502020204030204" pitchFamily="34" charset="-120"/>
              </a:rPr>
              <a:t>DOCX text extraction</a:t>
            </a:r>
            <a:endParaRPr lang="en-US" sz="950" dirty="0"/>
          </a:p>
        </p:txBody>
      </p:sp>
      <p:sp>
        <p:nvSpPr>
          <p:cNvPr id="34" name="Shape 32"/>
          <p:cNvSpPr/>
          <p:nvPr/>
        </p:nvSpPr>
        <p:spPr>
          <a:xfrm>
            <a:off x="6839712" y="2313432"/>
            <a:ext cx="1883664" cy="1078992"/>
          </a:xfrm>
          <a:prstGeom prst="roundRect">
            <a:avLst>
              <a:gd name="adj" fmla="val 6780"/>
            </a:avLst>
          </a:prstGeom>
          <a:solidFill>
            <a:srgbClr val="2E8B8B">
              <a:alpha val="8000"/>
            </a:srgbClr>
          </a:solidFill>
        </p:spPr>
      </p:sp>
      <p:sp>
        <p:nvSpPr>
          <p:cNvPr id="35" name="Shape 33"/>
          <p:cNvSpPr/>
          <p:nvPr/>
        </p:nvSpPr>
        <p:spPr>
          <a:xfrm>
            <a:off x="6967728" y="2441448"/>
            <a:ext cx="292608" cy="292608"/>
          </a:xfrm>
          <a:prstGeom prst="ellipse">
            <a:avLst/>
          </a:prstGeom>
          <a:solidFill>
            <a:srgbClr val="2E8B8B"/>
          </a:solidFill>
        </p:spPr>
      </p:sp>
      <p:sp>
        <p:nvSpPr>
          <p:cNvPr id="36" name="Text 34"/>
          <p:cNvSpPr txBox="1"/>
          <p:nvPr/>
        </p:nvSpPr>
        <p:spPr>
          <a:xfrm>
            <a:off x="6967728" y="2788920"/>
            <a:ext cx="1627632" cy="274320"/>
          </a:xfrm>
          <a:prstGeom prst="rect">
            <a:avLst/>
          </a:prstGeom>
          <a:noFill/>
        </p:spPr>
        <p:txBody>
          <a:bodyPr wrap="square" lIns="0" tIns="0" rIns="0" bIns="0" rtlCol="0" anchor="ctr"/>
          <a:lstStyle/>
          <a:p>
            <a:pPr marL="0" indent="0">
              <a:buNone/>
            </a:pPr>
            <a:r>
              <a:rPr lang="en-US" sz="1150" b="1" dirty="0">
                <a:solidFill>
                  <a:srgbClr val="141B3D"/>
                </a:solidFill>
                <a:latin typeface="Calibri" panose="020F0502020204030204" pitchFamily="34" charset="0"/>
                <a:ea typeface="Calibri" panose="020F0502020204030204" pitchFamily="34" charset="-122"/>
                <a:cs typeface="Calibri" panose="020F0502020204030204" pitchFamily="34" charset="-120"/>
              </a:rPr>
              <a:t>JWT</a:t>
            </a:r>
            <a:endParaRPr lang="en-US" sz="1150" dirty="0"/>
          </a:p>
        </p:txBody>
      </p:sp>
      <p:sp>
        <p:nvSpPr>
          <p:cNvPr id="37" name="Text 35"/>
          <p:cNvSpPr txBox="1"/>
          <p:nvPr/>
        </p:nvSpPr>
        <p:spPr>
          <a:xfrm>
            <a:off x="6967728" y="3044952"/>
            <a:ext cx="1627632" cy="274320"/>
          </a:xfrm>
          <a:prstGeom prst="rect">
            <a:avLst/>
          </a:prstGeom>
          <a:noFill/>
        </p:spPr>
        <p:txBody>
          <a:bodyPr wrap="square" lIns="0" tIns="0" rIns="0" bIns="0" rtlCol="0" anchor="ctr"/>
          <a:lstStyle/>
          <a:p>
            <a:pPr marL="0" indent="0">
              <a:buNone/>
            </a:pPr>
            <a:r>
              <a:rPr lang="en-US" sz="950" dirty="0">
                <a:solidFill>
                  <a:srgbClr val="6B7280"/>
                </a:solidFill>
                <a:latin typeface="Calibri" panose="020F0502020204030204" pitchFamily="34" charset="0"/>
                <a:ea typeface="Calibri" panose="020F0502020204030204" pitchFamily="34" charset="-122"/>
                <a:cs typeface="Calibri" panose="020F0502020204030204" pitchFamily="34" charset="-120"/>
              </a:rPr>
              <a:t>Authentication and sessions</a:t>
            </a:r>
            <a:endParaRPr lang="en-US" sz="950" dirty="0"/>
          </a:p>
        </p:txBody>
      </p:sp>
      <p:sp>
        <p:nvSpPr>
          <p:cNvPr id="38" name="Text 36"/>
          <p:cNvSpPr txBox="1"/>
          <p:nvPr/>
        </p:nvSpPr>
        <p:spPr>
          <a:xfrm>
            <a:off x="640080" y="4160520"/>
            <a:ext cx="7863840" cy="274320"/>
          </a:xfrm>
          <a:prstGeom prst="rect">
            <a:avLst/>
          </a:prstGeom>
          <a:noFill/>
        </p:spPr>
        <p:txBody>
          <a:bodyPr wrap="square" lIns="0" tIns="0" rIns="0" bIns="0" rtlCol="0" anchor="ctr"/>
          <a:lstStyle/>
          <a:p>
            <a:pPr marL="0" indent="0" algn="ctr">
              <a:buNone/>
            </a:pPr>
            <a:r>
              <a:rPr lang="en-US" sz="1050" i="1" dirty="0">
                <a:solidFill>
                  <a:srgbClr val="6B7280"/>
                </a:solidFill>
                <a:latin typeface="Calibri" panose="020F0502020204030204" pitchFamily="34" charset="0"/>
                <a:ea typeface="Calibri" panose="020F0502020204030204" pitchFamily="34" charset="-122"/>
                <a:cs typeface="Calibri" panose="020F0502020204030204" pitchFamily="34" charset="-120"/>
              </a:rPr>
              <a:t>Hardware: 8 GB RAM, 4-core CPU, stable internet connection   |   OS: Windows 10 / Ubuntu 22.04   |   Browser: Chrome / Edge / Firefox</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41B3D"/>
        </a:solidFill>
        <a:effectLst/>
      </p:bgPr>
    </p:bg>
    <p:spTree>
      <p:nvGrpSpPr>
        <p:cNvPr id="1" name=""/>
        <p:cNvGrpSpPr/>
        <p:nvPr/>
      </p:nvGrpSpPr>
      <p:grpSpPr>
        <a:xfrm>
          <a:off x="0" y="0"/>
          <a:ext cx="0" cy="0"/>
          <a:chOff x="0" y="0"/>
          <a:chExt cx="0" cy="0"/>
        </a:xfrm>
      </p:grpSpPr>
      <p:sp>
        <p:nvSpPr>
          <p:cNvPr id="2" name="Shape 0"/>
          <p:cNvSpPr/>
          <p:nvPr/>
        </p:nvSpPr>
        <p:spPr>
          <a:xfrm>
            <a:off x="-502920" y="-502920"/>
            <a:ext cx="1371600" cy="1371600"/>
          </a:xfrm>
          <a:prstGeom prst="ellipse">
            <a:avLst/>
          </a:prstGeom>
          <a:solidFill>
            <a:srgbClr val="2E8B8B">
              <a:alpha val="55000"/>
            </a:srgbClr>
          </a:solidFill>
        </p:spPr>
      </p:sp>
      <p:sp>
        <p:nvSpPr>
          <p:cNvPr id="3" name="Shape 1"/>
          <p:cNvSpPr/>
          <p:nvPr/>
        </p:nvSpPr>
        <p:spPr>
          <a:xfrm>
            <a:off x="8366760" y="4343400"/>
            <a:ext cx="1280160" cy="1280160"/>
          </a:xfrm>
          <a:prstGeom prst="ellipse">
            <a:avLst/>
          </a:prstGeom>
          <a:solidFill>
            <a:srgbClr val="E0A458">
              <a:alpha val="55000"/>
            </a:srgbClr>
          </a:solidFill>
        </p:spPr>
      </p:sp>
      <p:sp>
        <p:nvSpPr>
          <p:cNvPr id="4" name="Shape 2"/>
          <p:cNvSpPr/>
          <p:nvPr/>
        </p:nvSpPr>
        <p:spPr>
          <a:xfrm>
            <a:off x="256032" y="237744"/>
            <a:ext cx="8631936" cy="4672584"/>
          </a:xfrm>
          <a:prstGeom prst="roundRect">
            <a:avLst>
              <a:gd name="adj" fmla="val 2348"/>
            </a:avLst>
          </a:prstGeom>
          <a:solidFill>
            <a:srgbClr val="FBF8F3"/>
          </a:solidFill>
          <a:ln w="12700">
            <a:solidFill>
              <a:srgbClr val="FFFFFF"/>
            </a:solidFill>
            <a:prstDash val="solid"/>
          </a:ln>
          <a:effectLst>
            <a:outerShdw blurRad="152400" dist="25400" dir="5400000" algn="bl" rotWithShape="0">
              <a:srgbClr val="000000">
                <a:alpha val="25000"/>
              </a:srgbClr>
            </a:outerShdw>
          </a:effectLst>
        </p:spPr>
      </p:sp>
      <p:sp>
        <p:nvSpPr>
          <p:cNvPr id="5" name="Text 3"/>
          <p:cNvSpPr txBox="1"/>
          <p:nvPr/>
        </p:nvSpPr>
        <p:spPr>
          <a:xfrm>
            <a:off x="530352" y="384048"/>
            <a:ext cx="8083296" cy="502920"/>
          </a:xfrm>
          <a:prstGeom prst="rect">
            <a:avLst/>
          </a:prstGeom>
          <a:noFill/>
        </p:spPr>
        <p:txBody>
          <a:bodyPr wrap="square" lIns="0" tIns="0" rIns="0" bIns="0" rtlCol="0" anchor="ctr"/>
          <a:lstStyle/>
          <a:p>
            <a:pPr marL="0" indent="0" algn="ctr">
              <a:buNone/>
            </a:pPr>
            <a:r>
              <a:rPr lang="en-US" sz="2800" b="1" dirty="0">
                <a:solidFill>
                  <a:srgbClr val="141B3D"/>
                </a:solidFill>
                <a:latin typeface="Cambria" panose="02040503050406030204" pitchFamily="34" charset="0"/>
                <a:ea typeface="Cambria" panose="02040503050406030204" pitchFamily="34" charset="-122"/>
                <a:cs typeface="Cambria" panose="02040503050406030204" pitchFamily="34" charset="-120"/>
              </a:rPr>
              <a:t>SYSTEM ARCHITECTURE</a:t>
            </a:r>
            <a:endParaRPr lang="en-US" sz="2800" dirty="0"/>
          </a:p>
        </p:txBody>
      </p:sp>
      <p:pic>
        <p:nvPicPr>
          <p:cNvPr id="6" name="Image 0" descr="/home/claude/arch.png"/>
          <p:cNvPicPr>
            <a:picLocks noChangeAspect="1"/>
          </p:cNvPicPr>
          <p:nvPr/>
        </p:nvPicPr>
        <p:blipFill>
          <a:blip r:embed="rId1"/>
          <a:stretch>
            <a:fillRect/>
          </a:stretch>
        </p:blipFill>
        <p:spPr>
          <a:xfrm>
            <a:off x="566928" y="841248"/>
            <a:ext cx="3822192" cy="3977640"/>
          </a:xfrm>
          <a:prstGeom prst="rect">
            <a:avLst/>
          </a:prstGeom>
        </p:spPr>
      </p:pic>
      <p:sp>
        <p:nvSpPr>
          <p:cNvPr id="7" name="Text 4"/>
          <p:cNvSpPr txBox="1"/>
          <p:nvPr/>
        </p:nvSpPr>
        <p:spPr>
          <a:xfrm>
            <a:off x="4709160" y="914400"/>
            <a:ext cx="3886200" cy="3840480"/>
          </a:xfrm>
          <a:prstGeom prst="rect">
            <a:avLst/>
          </a:prstGeom>
          <a:noFill/>
        </p:spPr>
        <p:txBody>
          <a:bodyPr wrap="square" lIns="0" tIns="0" rIns="0" bIns="0" rtlCol="0" anchor="t"/>
          <a:lstStyle/>
          <a:p>
            <a:pPr marL="177800" indent="-177800">
              <a:spcAft>
                <a:spcPts val="900"/>
              </a:spcAft>
              <a:buSzPct val="100000"/>
              <a:buChar char="•"/>
            </a:pPr>
            <a:r>
              <a:rPr lang="en-US" sz="1100" dirty="0">
                <a:solidFill>
                  <a:srgbClr val="333A56"/>
                </a:solidFill>
                <a:latin typeface="Calibri" panose="020F0502020204030204" pitchFamily="34" charset="0"/>
                <a:ea typeface="Calibri" panose="020F0502020204030204" pitchFamily="34" charset="-122"/>
                <a:cs typeface="Calibri" panose="020F0502020204030204" pitchFamily="34" charset="-120"/>
              </a:rPr>
              <a:t>Frontend (React.js + Vite): workspace management, document upload, chat, revision, exam prep and quiz views, with dark/light mode.</a:t>
            </a:r>
            <a:endParaRPr lang="en-US" sz="1100" dirty="0"/>
          </a:p>
          <a:p>
            <a:pPr marL="177800" indent="-177800">
              <a:spcAft>
                <a:spcPts val="900"/>
              </a:spcAft>
              <a:buSzPct val="100000"/>
              <a:buChar char="•"/>
            </a:pPr>
            <a:r>
              <a:rPr lang="en-US" sz="1100" dirty="0">
                <a:solidFill>
                  <a:srgbClr val="333A56"/>
                </a:solidFill>
                <a:latin typeface="Calibri" panose="020F0502020204030204" pitchFamily="34" charset="0"/>
                <a:ea typeface="Calibri" panose="020F0502020204030204" pitchFamily="34" charset="-122"/>
                <a:cs typeface="Calibri" panose="020F0502020204030204" pitchFamily="34" charset="-120"/>
              </a:rPr>
              <a:t>Backend (FastAPI): JWT authentication, API endpoints, business logic, document processing, and all communication with the database and Gemini.</a:t>
            </a:r>
            <a:endParaRPr lang="en-US" sz="1100" dirty="0"/>
          </a:p>
          <a:p>
            <a:pPr marL="177800" indent="-177800">
              <a:spcAft>
                <a:spcPts val="900"/>
              </a:spcAft>
              <a:buSzPct val="100000"/>
              <a:buChar char="•"/>
            </a:pPr>
            <a:r>
              <a:rPr lang="en-US" sz="1100" dirty="0">
                <a:solidFill>
                  <a:srgbClr val="333A56"/>
                </a:solidFill>
                <a:latin typeface="Calibri" panose="020F0502020204030204" pitchFamily="34" charset="0"/>
                <a:ea typeface="Calibri" panose="020F0502020204030204" pitchFamily="34" charset="-122"/>
                <a:cs typeface="Calibri" panose="020F0502020204030204" pitchFamily="34" charset="-120"/>
              </a:rPr>
              <a:t>Document processing: PyPDF2 extracts text from PDFs, python-docx from Word files; the cleaned text is passed on to the backend.</a:t>
            </a:r>
            <a:endParaRPr lang="en-US" sz="1100" dirty="0"/>
          </a:p>
          <a:p>
            <a:pPr marL="177800" indent="-177800">
              <a:spcAft>
                <a:spcPts val="900"/>
              </a:spcAft>
              <a:buSzPct val="100000"/>
              <a:buChar char="•"/>
            </a:pPr>
            <a:r>
              <a:rPr lang="en-US" sz="1100" dirty="0">
                <a:solidFill>
                  <a:srgbClr val="333A56"/>
                </a:solidFill>
                <a:latin typeface="Calibri" panose="020F0502020204030204" pitchFamily="34" charset="0"/>
                <a:ea typeface="Calibri" panose="020F0502020204030204" pitchFamily="34" charset="-122"/>
                <a:cs typeface="Calibri" panose="020F0502020204030204" pitchFamily="34" charset="-120"/>
              </a:rPr>
              <a:t>PostgreSQL: stores users, workspaces, documents, extracted text, chat history, generated content and roadmap progress.</a:t>
            </a:r>
            <a:endParaRPr lang="en-US" sz="1100" dirty="0"/>
          </a:p>
          <a:p>
            <a:pPr marL="177800" indent="-177800">
              <a:spcAft>
                <a:spcPts val="900"/>
              </a:spcAft>
              <a:buSzPct val="100000"/>
              <a:buChar char="•"/>
            </a:pPr>
            <a:r>
              <a:rPr lang="en-US" sz="1100" dirty="0">
                <a:solidFill>
                  <a:srgbClr val="333A56"/>
                </a:solidFill>
                <a:latin typeface="Calibri" panose="020F0502020204030204" pitchFamily="34" charset="0"/>
                <a:ea typeface="Calibri" panose="020F0502020204030204" pitchFamily="34" charset="-122"/>
                <a:cs typeface="Calibri" panose="020F0502020204030204" pitchFamily="34" charset="-120"/>
              </a:rPr>
              <a:t>Google Gemini API: returns chat answers, revision notes</a:t>
            </a:r>
            <a:r>
              <a:rPr lang="en-IN" altLang="en-US" sz="1100" dirty="0">
                <a:solidFill>
                  <a:srgbClr val="333A56"/>
                </a:solidFill>
                <a:latin typeface="Calibri" panose="020F0502020204030204" pitchFamily="34" charset="0"/>
                <a:ea typeface="Calibri" panose="020F0502020204030204" pitchFamily="34" charset="-122"/>
                <a:cs typeface="Calibri" panose="020F0502020204030204" pitchFamily="34" charset="-120"/>
              </a:rPr>
              <a:t> or</a:t>
            </a:r>
            <a:r>
              <a:rPr lang="en-US" sz="1100" dirty="0">
                <a:solidFill>
                  <a:srgbClr val="333A56"/>
                </a:solidFill>
                <a:latin typeface="Calibri" panose="020F0502020204030204" pitchFamily="34" charset="0"/>
                <a:ea typeface="Calibri" panose="020F0502020204030204" pitchFamily="34" charset="-122"/>
                <a:cs typeface="Calibri" panose="020F0502020204030204" pitchFamily="34" charset="-120"/>
              </a:rPr>
              <a:t>  concept roadmaps and logic-flow explanations.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1B3D"/>
        </a:solidFill>
        <a:effectLst/>
      </p:bgPr>
    </p:bg>
    <p:spTree>
      <p:nvGrpSpPr>
        <p:cNvPr id="1" name=""/>
        <p:cNvGrpSpPr/>
        <p:nvPr/>
      </p:nvGrpSpPr>
      <p:grpSpPr>
        <a:xfrm>
          <a:off x="0" y="0"/>
          <a:ext cx="0" cy="0"/>
          <a:chOff x="0" y="0"/>
          <a:chExt cx="0" cy="0"/>
        </a:xfrm>
      </p:grpSpPr>
      <p:sp>
        <p:nvSpPr>
          <p:cNvPr id="2" name="Shape 0"/>
          <p:cNvSpPr/>
          <p:nvPr/>
        </p:nvSpPr>
        <p:spPr>
          <a:xfrm>
            <a:off x="-502920" y="-502920"/>
            <a:ext cx="1371600" cy="1371600"/>
          </a:xfrm>
          <a:prstGeom prst="ellipse">
            <a:avLst/>
          </a:prstGeom>
          <a:solidFill>
            <a:srgbClr val="2E8B8B">
              <a:alpha val="55000"/>
            </a:srgbClr>
          </a:solidFill>
        </p:spPr>
      </p:sp>
      <p:sp>
        <p:nvSpPr>
          <p:cNvPr id="3" name="Shape 1"/>
          <p:cNvSpPr/>
          <p:nvPr/>
        </p:nvSpPr>
        <p:spPr>
          <a:xfrm>
            <a:off x="8366760" y="4343400"/>
            <a:ext cx="1280160" cy="1280160"/>
          </a:xfrm>
          <a:prstGeom prst="ellipse">
            <a:avLst/>
          </a:prstGeom>
          <a:solidFill>
            <a:srgbClr val="E0A458">
              <a:alpha val="55000"/>
            </a:srgbClr>
          </a:solidFill>
        </p:spPr>
      </p:sp>
      <p:sp>
        <p:nvSpPr>
          <p:cNvPr id="4" name="Shape 2"/>
          <p:cNvSpPr/>
          <p:nvPr/>
        </p:nvSpPr>
        <p:spPr>
          <a:xfrm>
            <a:off x="256032" y="237744"/>
            <a:ext cx="8631936" cy="4672584"/>
          </a:xfrm>
          <a:prstGeom prst="roundRect">
            <a:avLst>
              <a:gd name="adj" fmla="val 2348"/>
            </a:avLst>
          </a:prstGeom>
          <a:solidFill>
            <a:srgbClr val="FBF8F3"/>
          </a:solidFill>
          <a:ln w="12700">
            <a:solidFill>
              <a:srgbClr val="FFFFFF"/>
            </a:solidFill>
            <a:prstDash val="solid"/>
          </a:ln>
          <a:effectLst>
            <a:outerShdw blurRad="152400" dist="25400" dir="5400000" algn="bl" rotWithShape="0">
              <a:srgbClr val="000000">
                <a:alpha val="25000"/>
              </a:srgbClr>
            </a:outerShdw>
          </a:effectLst>
        </p:spPr>
      </p:sp>
      <p:sp>
        <p:nvSpPr>
          <p:cNvPr id="5" name="Text 3"/>
          <p:cNvSpPr txBox="1"/>
          <p:nvPr/>
        </p:nvSpPr>
        <p:spPr>
          <a:xfrm>
            <a:off x="530352" y="384048"/>
            <a:ext cx="8083296" cy="502920"/>
          </a:xfrm>
          <a:prstGeom prst="rect">
            <a:avLst/>
          </a:prstGeom>
          <a:noFill/>
        </p:spPr>
        <p:txBody>
          <a:bodyPr wrap="square" lIns="0" tIns="0" rIns="0" bIns="0" rtlCol="0" anchor="ctr"/>
          <a:lstStyle/>
          <a:p>
            <a:pPr marL="0" indent="0" algn="ctr">
              <a:buNone/>
            </a:pPr>
            <a:r>
              <a:rPr lang="en-US" sz="2800" b="1" dirty="0">
                <a:solidFill>
                  <a:srgbClr val="141B3D"/>
                </a:solidFill>
                <a:latin typeface="Cambria" panose="02040503050406030204" pitchFamily="34" charset="0"/>
                <a:ea typeface="Cambria" panose="02040503050406030204" pitchFamily="34" charset="-122"/>
                <a:cs typeface="Cambria" panose="02040503050406030204" pitchFamily="34" charset="-120"/>
              </a:rPr>
              <a:t>WORKFLOW</a:t>
            </a:r>
            <a:endParaRPr lang="en-US" sz="2800" dirty="0"/>
          </a:p>
        </p:txBody>
      </p:sp>
      <p:pic>
        <p:nvPicPr>
          <p:cNvPr id="6" name="Image 0" descr="/home/claude/flow.png"/>
          <p:cNvPicPr>
            <a:picLocks noChangeAspect="1"/>
          </p:cNvPicPr>
          <p:nvPr/>
        </p:nvPicPr>
        <p:blipFill>
          <a:blip r:embed="rId1"/>
          <a:stretch>
            <a:fillRect/>
          </a:stretch>
        </p:blipFill>
        <p:spPr>
          <a:xfrm>
            <a:off x="658368" y="841248"/>
            <a:ext cx="3273552" cy="3977640"/>
          </a:xfrm>
          <a:prstGeom prst="rect">
            <a:avLst/>
          </a:prstGeom>
        </p:spPr>
      </p:pic>
      <p:sp>
        <p:nvSpPr>
          <p:cNvPr id="7" name="Shape 4"/>
          <p:cNvSpPr/>
          <p:nvPr/>
        </p:nvSpPr>
        <p:spPr>
          <a:xfrm>
            <a:off x="4343400" y="987552"/>
            <a:ext cx="274320" cy="274320"/>
          </a:xfrm>
          <a:prstGeom prst="ellipse">
            <a:avLst/>
          </a:prstGeom>
          <a:solidFill>
            <a:srgbClr val="141B3D"/>
          </a:solidFill>
        </p:spPr>
      </p:sp>
      <p:sp>
        <p:nvSpPr>
          <p:cNvPr id="8" name="Text 5"/>
          <p:cNvSpPr txBox="1"/>
          <p:nvPr/>
        </p:nvSpPr>
        <p:spPr>
          <a:xfrm>
            <a:off x="4343400" y="987552"/>
            <a:ext cx="274320" cy="274320"/>
          </a:xfrm>
          <a:prstGeom prst="rect">
            <a:avLst/>
          </a:prstGeom>
          <a:noFill/>
        </p:spPr>
        <p:txBody>
          <a:bodyPr wrap="square" lIns="0" tIns="0" rIns="0" bIns="0"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950" dirty="0"/>
          </a:p>
        </p:txBody>
      </p:sp>
      <p:sp>
        <p:nvSpPr>
          <p:cNvPr id="9" name="Text 6"/>
          <p:cNvSpPr txBox="1"/>
          <p:nvPr/>
        </p:nvSpPr>
        <p:spPr>
          <a:xfrm>
            <a:off x="4709160" y="932688"/>
            <a:ext cx="3840480" cy="219456"/>
          </a:xfrm>
          <a:prstGeom prst="rect">
            <a:avLst/>
          </a:prstGeom>
          <a:noFill/>
        </p:spPr>
        <p:txBody>
          <a:bodyPr wrap="square" lIns="0" tIns="0" rIns="0" bIns="0" rtlCol="0" anchor="ctr"/>
          <a:lstStyle/>
          <a:p>
            <a:pPr marL="0" indent="0">
              <a:buNone/>
            </a:pPr>
            <a:r>
              <a:rPr lang="en-US" sz="1150" b="1" dirty="0">
                <a:solidFill>
                  <a:srgbClr val="141B3D"/>
                </a:solidFill>
                <a:latin typeface="Calibri" panose="020F0502020204030204" pitchFamily="34" charset="0"/>
                <a:ea typeface="Calibri" panose="020F0502020204030204" pitchFamily="34" charset="-122"/>
                <a:cs typeface="Calibri" panose="020F0502020204030204" pitchFamily="34" charset="-120"/>
              </a:rPr>
              <a:t>User Login</a:t>
            </a:r>
            <a:endParaRPr lang="en-US" sz="1150" dirty="0"/>
          </a:p>
        </p:txBody>
      </p:sp>
      <p:sp>
        <p:nvSpPr>
          <p:cNvPr id="10" name="Text 7"/>
          <p:cNvSpPr txBox="1"/>
          <p:nvPr/>
        </p:nvSpPr>
        <p:spPr>
          <a:xfrm>
            <a:off x="4709160" y="1143000"/>
            <a:ext cx="3840480" cy="219456"/>
          </a:xfrm>
          <a:prstGeom prst="rect">
            <a:avLst/>
          </a:prstGeom>
          <a:noFill/>
        </p:spPr>
        <p:txBody>
          <a:bodyPr wrap="square" lIns="0" tIns="0" rIns="0" bIns="0" rtlCol="0" anchor="ctr"/>
          <a:lstStyle/>
          <a:p>
            <a:pPr marL="0" indent="0">
              <a:buNone/>
            </a:pPr>
            <a:r>
              <a:rPr lang="en-US" sz="950" dirty="0">
                <a:solidFill>
                  <a:srgbClr val="333A56"/>
                </a:solidFill>
                <a:latin typeface="Calibri" panose="020F0502020204030204" pitchFamily="34" charset="0"/>
                <a:ea typeface="Calibri" panose="020F0502020204030204" pitchFamily="34" charset="-122"/>
                <a:cs typeface="Calibri" panose="020F0502020204030204" pitchFamily="34" charset="-120"/>
              </a:rPr>
              <a:t>Secure sign-in using JWT authentication.</a:t>
            </a:r>
            <a:endParaRPr lang="en-US" sz="950" dirty="0"/>
          </a:p>
        </p:txBody>
      </p:sp>
      <p:sp>
        <p:nvSpPr>
          <p:cNvPr id="11" name="Shape 8"/>
          <p:cNvSpPr/>
          <p:nvPr/>
        </p:nvSpPr>
        <p:spPr>
          <a:xfrm>
            <a:off x="4343400" y="1472184"/>
            <a:ext cx="274320" cy="274320"/>
          </a:xfrm>
          <a:prstGeom prst="ellipse">
            <a:avLst/>
          </a:prstGeom>
          <a:solidFill>
            <a:srgbClr val="2E8B8B"/>
          </a:solidFill>
        </p:spPr>
      </p:sp>
      <p:sp>
        <p:nvSpPr>
          <p:cNvPr id="12" name="Text 9"/>
          <p:cNvSpPr txBox="1"/>
          <p:nvPr/>
        </p:nvSpPr>
        <p:spPr>
          <a:xfrm>
            <a:off x="4343400" y="1472184"/>
            <a:ext cx="274320" cy="274320"/>
          </a:xfrm>
          <a:prstGeom prst="rect">
            <a:avLst/>
          </a:prstGeom>
          <a:noFill/>
        </p:spPr>
        <p:txBody>
          <a:bodyPr wrap="square" lIns="0" tIns="0" rIns="0" bIns="0"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950" dirty="0"/>
          </a:p>
        </p:txBody>
      </p:sp>
      <p:sp>
        <p:nvSpPr>
          <p:cNvPr id="13" name="Text 10"/>
          <p:cNvSpPr txBox="1"/>
          <p:nvPr/>
        </p:nvSpPr>
        <p:spPr>
          <a:xfrm>
            <a:off x="4709160" y="1417320"/>
            <a:ext cx="3840480" cy="219456"/>
          </a:xfrm>
          <a:prstGeom prst="rect">
            <a:avLst/>
          </a:prstGeom>
          <a:noFill/>
        </p:spPr>
        <p:txBody>
          <a:bodyPr wrap="square" lIns="0" tIns="0" rIns="0" bIns="0" rtlCol="0" anchor="ctr"/>
          <a:lstStyle/>
          <a:p>
            <a:pPr marL="0" indent="0">
              <a:buNone/>
            </a:pPr>
            <a:r>
              <a:rPr lang="en-US" sz="1150" b="1" dirty="0">
                <a:solidFill>
                  <a:srgbClr val="141B3D"/>
                </a:solidFill>
                <a:latin typeface="Calibri" panose="020F0502020204030204" pitchFamily="34" charset="0"/>
                <a:ea typeface="Calibri" panose="020F0502020204030204" pitchFamily="34" charset="-122"/>
                <a:cs typeface="Calibri" panose="020F0502020204030204" pitchFamily="34" charset="-120"/>
              </a:rPr>
              <a:t>Create / Select Workspace</a:t>
            </a:r>
            <a:endParaRPr lang="en-US" sz="1150" dirty="0"/>
          </a:p>
        </p:txBody>
      </p:sp>
      <p:sp>
        <p:nvSpPr>
          <p:cNvPr id="14" name="Text 11"/>
          <p:cNvSpPr txBox="1"/>
          <p:nvPr/>
        </p:nvSpPr>
        <p:spPr>
          <a:xfrm>
            <a:off x="4709160" y="1627632"/>
            <a:ext cx="3840480" cy="219456"/>
          </a:xfrm>
          <a:prstGeom prst="rect">
            <a:avLst/>
          </a:prstGeom>
          <a:noFill/>
        </p:spPr>
        <p:txBody>
          <a:bodyPr wrap="square" lIns="0" tIns="0" rIns="0" bIns="0" rtlCol="0" anchor="ctr"/>
          <a:lstStyle/>
          <a:p>
            <a:pPr marL="0" indent="0">
              <a:buNone/>
            </a:pPr>
            <a:r>
              <a:rPr lang="en-US" sz="950" dirty="0">
                <a:solidFill>
                  <a:srgbClr val="333A56"/>
                </a:solidFill>
                <a:latin typeface="Calibri" panose="020F0502020204030204" pitchFamily="34" charset="0"/>
                <a:ea typeface="Calibri" panose="020F0502020204030204" pitchFamily="34" charset="-122"/>
                <a:cs typeface="Calibri" panose="020F0502020204030204" pitchFamily="34" charset="-120"/>
              </a:rPr>
              <a:t>The student opens a subject workspace.</a:t>
            </a:r>
            <a:endParaRPr lang="en-US" sz="950" dirty="0"/>
          </a:p>
        </p:txBody>
      </p:sp>
      <p:sp>
        <p:nvSpPr>
          <p:cNvPr id="15" name="Shape 12"/>
          <p:cNvSpPr/>
          <p:nvPr/>
        </p:nvSpPr>
        <p:spPr>
          <a:xfrm>
            <a:off x="4343400" y="1956816"/>
            <a:ext cx="274320" cy="274320"/>
          </a:xfrm>
          <a:prstGeom prst="ellipse">
            <a:avLst/>
          </a:prstGeom>
          <a:solidFill>
            <a:srgbClr val="E0A458"/>
          </a:solidFill>
        </p:spPr>
      </p:sp>
      <p:sp>
        <p:nvSpPr>
          <p:cNvPr id="16" name="Text 13"/>
          <p:cNvSpPr txBox="1"/>
          <p:nvPr/>
        </p:nvSpPr>
        <p:spPr>
          <a:xfrm>
            <a:off x="4343400" y="1956816"/>
            <a:ext cx="274320" cy="274320"/>
          </a:xfrm>
          <a:prstGeom prst="rect">
            <a:avLst/>
          </a:prstGeom>
          <a:noFill/>
        </p:spPr>
        <p:txBody>
          <a:bodyPr wrap="square" lIns="0" tIns="0" rIns="0" bIns="0"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950" dirty="0"/>
          </a:p>
        </p:txBody>
      </p:sp>
      <p:sp>
        <p:nvSpPr>
          <p:cNvPr id="17" name="Text 14"/>
          <p:cNvSpPr txBox="1"/>
          <p:nvPr/>
        </p:nvSpPr>
        <p:spPr>
          <a:xfrm>
            <a:off x="4709160" y="1901952"/>
            <a:ext cx="3840480" cy="219456"/>
          </a:xfrm>
          <a:prstGeom prst="rect">
            <a:avLst/>
          </a:prstGeom>
          <a:noFill/>
        </p:spPr>
        <p:txBody>
          <a:bodyPr wrap="square" lIns="0" tIns="0" rIns="0" bIns="0" rtlCol="0" anchor="ctr"/>
          <a:lstStyle/>
          <a:p>
            <a:pPr marL="0" indent="0">
              <a:buNone/>
            </a:pPr>
            <a:r>
              <a:rPr lang="en-US" sz="1150" b="1" dirty="0">
                <a:solidFill>
                  <a:srgbClr val="141B3D"/>
                </a:solidFill>
                <a:latin typeface="Calibri" panose="020F0502020204030204" pitchFamily="34" charset="0"/>
                <a:ea typeface="Calibri" panose="020F0502020204030204" pitchFamily="34" charset="-122"/>
                <a:cs typeface="Calibri" panose="020F0502020204030204" pitchFamily="34" charset="-120"/>
              </a:rPr>
              <a:t>Upload Documents</a:t>
            </a:r>
            <a:endParaRPr lang="en-US" sz="1150" dirty="0"/>
          </a:p>
        </p:txBody>
      </p:sp>
      <p:sp>
        <p:nvSpPr>
          <p:cNvPr id="18" name="Text 15"/>
          <p:cNvSpPr txBox="1"/>
          <p:nvPr/>
        </p:nvSpPr>
        <p:spPr>
          <a:xfrm>
            <a:off x="4709160" y="2112264"/>
            <a:ext cx="3840480" cy="219456"/>
          </a:xfrm>
          <a:prstGeom prst="rect">
            <a:avLst/>
          </a:prstGeom>
          <a:noFill/>
        </p:spPr>
        <p:txBody>
          <a:bodyPr wrap="square" lIns="0" tIns="0" rIns="0" bIns="0" rtlCol="0" anchor="ctr"/>
          <a:lstStyle/>
          <a:p>
            <a:pPr marL="0" indent="0">
              <a:buNone/>
            </a:pPr>
            <a:r>
              <a:rPr lang="en-US" sz="950" dirty="0">
                <a:solidFill>
                  <a:srgbClr val="333A56"/>
                </a:solidFill>
                <a:latin typeface="Calibri" panose="020F0502020204030204" pitchFamily="34" charset="0"/>
                <a:ea typeface="Calibri" panose="020F0502020204030204" pitchFamily="34" charset="-122"/>
                <a:cs typeface="Calibri" panose="020F0502020204030204" pitchFamily="34" charset="-120"/>
              </a:rPr>
              <a:t>PDF or DOCX study material is uploaded.</a:t>
            </a:r>
            <a:endParaRPr lang="en-US" sz="950" dirty="0"/>
          </a:p>
        </p:txBody>
      </p:sp>
      <p:sp>
        <p:nvSpPr>
          <p:cNvPr id="19" name="Shape 16"/>
          <p:cNvSpPr/>
          <p:nvPr/>
        </p:nvSpPr>
        <p:spPr>
          <a:xfrm>
            <a:off x="4343400" y="2441448"/>
            <a:ext cx="274320" cy="274320"/>
          </a:xfrm>
          <a:prstGeom prst="ellipse">
            <a:avLst/>
          </a:prstGeom>
          <a:solidFill>
            <a:srgbClr val="141B3D"/>
          </a:solidFill>
        </p:spPr>
      </p:sp>
      <p:sp>
        <p:nvSpPr>
          <p:cNvPr id="20" name="Text 17"/>
          <p:cNvSpPr txBox="1"/>
          <p:nvPr/>
        </p:nvSpPr>
        <p:spPr>
          <a:xfrm>
            <a:off x="4343400" y="2441448"/>
            <a:ext cx="274320" cy="274320"/>
          </a:xfrm>
          <a:prstGeom prst="rect">
            <a:avLst/>
          </a:prstGeom>
          <a:noFill/>
        </p:spPr>
        <p:txBody>
          <a:bodyPr wrap="square" lIns="0" tIns="0" rIns="0" bIns="0"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950" dirty="0"/>
          </a:p>
        </p:txBody>
      </p:sp>
      <p:sp>
        <p:nvSpPr>
          <p:cNvPr id="21" name="Text 18"/>
          <p:cNvSpPr txBox="1"/>
          <p:nvPr/>
        </p:nvSpPr>
        <p:spPr>
          <a:xfrm>
            <a:off x="4709160" y="2386584"/>
            <a:ext cx="3840480" cy="219456"/>
          </a:xfrm>
          <a:prstGeom prst="rect">
            <a:avLst/>
          </a:prstGeom>
          <a:noFill/>
        </p:spPr>
        <p:txBody>
          <a:bodyPr wrap="square" lIns="0" tIns="0" rIns="0" bIns="0" rtlCol="0" anchor="ctr"/>
          <a:lstStyle/>
          <a:p>
            <a:pPr marL="0" indent="0">
              <a:buNone/>
            </a:pPr>
            <a:r>
              <a:rPr lang="en-US" sz="1150" b="1" dirty="0">
                <a:solidFill>
                  <a:srgbClr val="141B3D"/>
                </a:solidFill>
                <a:latin typeface="Calibri" panose="020F0502020204030204" pitchFamily="34" charset="0"/>
                <a:ea typeface="Calibri" panose="020F0502020204030204" pitchFamily="34" charset="-122"/>
                <a:cs typeface="Calibri" panose="020F0502020204030204" pitchFamily="34" charset="-120"/>
              </a:rPr>
              <a:t>Text Extraction</a:t>
            </a:r>
            <a:endParaRPr lang="en-US" sz="1150" dirty="0"/>
          </a:p>
        </p:txBody>
      </p:sp>
      <p:sp>
        <p:nvSpPr>
          <p:cNvPr id="22" name="Text 19"/>
          <p:cNvSpPr txBox="1"/>
          <p:nvPr/>
        </p:nvSpPr>
        <p:spPr>
          <a:xfrm>
            <a:off x="4709160" y="2596896"/>
            <a:ext cx="3840480" cy="219456"/>
          </a:xfrm>
          <a:prstGeom prst="rect">
            <a:avLst/>
          </a:prstGeom>
          <a:noFill/>
        </p:spPr>
        <p:txBody>
          <a:bodyPr wrap="square" lIns="0" tIns="0" rIns="0" bIns="0" rtlCol="0" anchor="ctr"/>
          <a:lstStyle/>
          <a:p>
            <a:pPr marL="0" indent="0">
              <a:buNone/>
            </a:pPr>
            <a:r>
              <a:rPr lang="en-US" sz="950" dirty="0">
                <a:solidFill>
                  <a:srgbClr val="333A56"/>
                </a:solidFill>
                <a:latin typeface="Calibri" panose="020F0502020204030204" pitchFamily="34" charset="0"/>
                <a:ea typeface="Calibri" panose="020F0502020204030204" pitchFamily="34" charset="-122"/>
                <a:cs typeface="Calibri" panose="020F0502020204030204" pitchFamily="34" charset="-120"/>
              </a:rPr>
              <a:t>PyPDF2 and python-docx pull out the raw text.</a:t>
            </a:r>
            <a:endParaRPr lang="en-US" sz="950" dirty="0"/>
          </a:p>
        </p:txBody>
      </p:sp>
      <p:sp>
        <p:nvSpPr>
          <p:cNvPr id="23" name="Shape 20"/>
          <p:cNvSpPr/>
          <p:nvPr/>
        </p:nvSpPr>
        <p:spPr>
          <a:xfrm>
            <a:off x="4343400" y="2926080"/>
            <a:ext cx="274320" cy="274320"/>
          </a:xfrm>
          <a:prstGeom prst="ellipse">
            <a:avLst/>
          </a:prstGeom>
          <a:solidFill>
            <a:srgbClr val="2E8B8B"/>
          </a:solidFill>
        </p:spPr>
      </p:sp>
      <p:sp>
        <p:nvSpPr>
          <p:cNvPr id="24" name="Text 21"/>
          <p:cNvSpPr txBox="1"/>
          <p:nvPr/>
        </p:nvSpPr>
        <p:spPr>
          <a:xfrm>
            <a:off x="4343400" y="2926080"/>
            <a:ext cx="274320" cy="274320"/>
          </a:xfrm>
          <a:prstGeom prst="rect">
            <a:avLst/>
          </a:prstGeom>
          <a:noFill/>
        </p:spPr>
        <p:txBody>
          <a:bodyPr wrap="square" lIns="0" tIns="0" rIns="0" bIns="0"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950" dirty="0"/>
          </a:p>
        </p:txBody>
      </p:sp>
      <p:sp>
        <p:nvSpPr>
          <p:cNvPr id="25" name="Text 22"/>
          <p:cNvSpPr txBox="1"/>
          <p:nvPr/>
        </p:nvSpPr>
        <p:spPr>
          <a:xfrm>
            <a:off x="4709160" y="2871216"/>
            <a:ext cx="3840480" cy="219456"/>
          </a:xfrm>
          <a:prstGeom prst="rect">
            <a:avLst/>
          </a:prstGeom>
          <a:noFill/>
        </p:spPr>
        <p:txBody>
          <a:bodyPr wrap="square" lIns="0" tIns="0" rIns="0" bIns="0" rtlCol="0" anchor="ctr"/>
          <a:lstStyle/>
          <a:p>
            <a:pPr marL="0" indent="0">
              <a:buNone/>
            </a:pPr>
            <a:r>
              <a:rPr lang="en-US" sz="1150" b="1" dirty="0">
                <a:solidFill>
                  <a:srgbClr val="141B3D"/>
                </a:solidFill>
                <a:latin typeface="Calibri" panose="020F0502020204030204" pitchFamily="34" charset="0"/>
                <a:ea typeface="Calibri" panose="020F0502020204030204" pitchFamily="34" charset="-122"/>
                <a:cs typeface="Calibri" panose="020F0502020204030204" pitchFamily="34" charset="-120"/>
              </a:rPr>
              <a:t>Store in Database</a:t>
            </a:r>
            <a:endParaRPr lang="en-US" sz="1150" dirty="0"/>
          </a:p>
        </p:txBody>
      </p:sp>
      <p:sp>
        <p:nvSpPr>
          <p:cNvPr id="26" name="Text 23"/>
          <p:cNvSpPr txBox="1"/>
          <p:nvPr/>
        </p:nvSpPr>
        <p:spPr>
          <a:xfrm>
            <a:off x="4709160" y="3081528"/>
            <a:ext cx="3840480" cy="219456"/>
          </a:xfrm>
          <a:prstGeom prst="rect">
            <a:avLst/>
          </a:prstGeom>
          <a:noFill/>
        </p:spPr>
        <p:txBody>
          <a:bodyPr wrap="square" lIns="0" tIns="0" rIns="0" bIns="0" rtlCol="0" anchor="ctr"/>
          <a:lstStyle/>
          <a:p>
            <a:pPr marL="0" indent="0">
              <a:buNone/>
            </a:pPr>
            <a:r>
              <a:rPr lang="en-US" sz="950" dirty="0">
                <a:solidFill>
                  <a:srgbClr val="333A56"/>
                </a:solidFill>
                <a:latin typeface="Calibri" panose="020F0502020204030204" pitchFamily="34" charset="0"/>
                <a:ea typeface="Calibri" panose="020F0502020204030204" pitchFamily="34" charset="-122"/>
                <a:cs typeface="Calibri" panose="020F0502020204030204" pitchFamily="34" charset="-120"/>
              </a:rPr>
              <a:t>Text and document details are saved in PostgreSQL.</a:t>
            </a:r>
            <a:endParaRPr lang="en-US" sz="950" dirty="0"/>
          </a:p>
        </p:txBody>
      </p:sp>
      <p:sp>
        <p:nvSpPr>
          <p:cNvPr id="27" name="Shape 24"/>
          <p:cNvSpPr/>
          <p:nvPr/>
        </p:nvSpPr>
        <p:spPr>
          <a:xfrm>
            <a:off x="4343400" y="3410712"/>
            <a:ext cx="274320" cy="274320"/>
          </a:xfrm>
          <a:prstGeom prst="ellipse">
            <a:avLst/>
          </a:prstGeom>
          <a:solidFill>
            <a:srgbClr val="E0A458"/>
          </a:solidFill>
        </p:spPr>
      </p:sp>
      <p:sp>
        <p:nvSpPr>
          <p:cNvPr id="28" name="Text 25"/>
          <p:cNvSpPr txBox="1"/>
          <p:nvPr/>
        </p:nvSpPr>
        <p:spPr>
          <a:xfrm>
            <a:off x="4343400" y="3410712"/>
            <a:ext cx="274320" cy="274320"/>
          </a:xfrm>
          <a:prstGeom prst="rect">
            <a:avLst/>
          </a:prstGeom>
          <a:noFill/>
        </p:spPr>
        <p:txBody>
          <a:bodyPr wrap="square" lIns="0" tIns="0" rIns="0" bIns="0"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950" dirty="0"/>
          </a:p>
        </p:txBody>
      </p:sp>
      <p:sp>
        <p:nvSpPr>
          <p:cNvPr id="29" name="Text 26"/>
          <p:cNvSpPr txBox="1"/>
          <p:nvPr/>
        </p:nvSpPr>
        <p:spPr>
          <a:xfrm>
            <a:off x="4709160" y="3355848"/>
            <a:ext cx="3840480" cy="219456"/>
          </a:xfrm>
          <a:prstGeom prst="rect">
            <a:avLst/>
          </a:prstGeom>
          <a:noFill/>
        </p:spPr>
        <p:txBody>
          <a:bodyPr wrap="square" lIns="0" tIns="0" rIns="0" bIns="0" rtlCol="0" anchor="ctr"/>
          <a:lstStyle/>
          <a:p>
            <a:pPr marL="0" indent="0">
              <a:buNone/>
            </a:pPr>
            <a:r>
              <a:rPr lang="en-US" sz="1150" b="1" dirty="0">
                <a:solidFill>
                  <a:srgbClr val="141B3D"/>
                </a:solidFill>
                <a:latin typeface="Calibri" panose="020F0502020204030204" pitchFamily="34" charset="0"/>
                <a:ea typeface="Calibri" panose="020F0502020204030204" pitchFamily="34" charset="-122"/>
                <a:cs typeface="Calibri" panose="020F0502020204030204" pitchFamily="34" charset="-120"/>
              </a:rPr>
              <a:t>Send Prompt to Gemini</a:t>
            </a:r>
            <a:endParaRPr lang="en-US" sz="1150" dirty="0"/>
          </a:p>
        </p:txBody>
      </p:sp>
      <p:sp>
        <p:nvSpPr>
          <p:cNvPr id="30" name="Text 27"/>
          <p:cNvSpPr txBox="1"/>
          <p:nvPr/>
        </p:nvSpPr>
        <p:spPr>
          <a:xfrm>
            <a:off x="4709160" y="3566160"/>
            <a:ext cx="3840480" cy="219456"/>
          </a:xfrm>
          <a:prstGeom prst="rect">
            <a:avLst/>
          </a:prstGeom>
          <a:noFill/>
        </p:spPr>
        <p:txBody>
          <a:bodyPr wrap="square" lIns="0" tIns="0" rIns="0" bIns="0" rtlCol="0" anchor="ctr"/>
          <a:lstStyle/>
          <a:p>
            <a:pPr marL="0" indent="0">
              <a:buNone/>
            </a:pPr>
            <a:r>
              <a:rPr lang="en-US" sz="950" dirty="0">
                <a:solidFill>
                  <a:srgbClr val="333A56"/>
                </a:solidFill>
                <a:latin typeface="Calibri" panose="020F0502020204030204" pitchFamily="34" charset="0"/>
                <a:ea typeface="Calibri" panose="020F0502020204030204" pitchFamily="34" charset="-122"/>
                <a:cs typeface="Calibri" panose="020F0502020204030204" pitchFamily="34" charset="-120"/>
              </a:rPr>
              <a:t>Extracted text plus the user request go to the Gemini API.</a:t>
            </a:r>
            <a:endParaRPr lang="en-US" sz="950" dirty="0"/>
          </a:p>
        </p:txBody>
      </p:sp>
      <p:sp>
        <p:nvSpPr>
          <p:cNvPr id="31" name="Shape 28"/>
          <p:cNvSpPr/>
          <p:nvPr/>
        </p:nvSpPr>
        <p:spPr>
          <a:xfrm>
            <a:off x="4343400" y="3895344"/>
            <a:ext cx="274320" cy="274320"/>
          </a:xfrm>
          <a:prstGeom prst="ellipse">
            <a:avLst/>
          </a:prstGeom>
          <a:solidFill>
            <a:srgbClr val="141B3D"/>
          </a:solidFill>
        </p:spPr>
      </p:sp>
      <p:sp>
        <p:nvSpPr>
          <p:cNvPr id="32" name="Text 29"/>
          <p:cNvSpPr txBox="1"/>
          <p:nvPr/>
        </p:nvSpPr>
        <p:spPr>
          <a:xfrm>
            <a:off x="4343400" y="3895344"/>
            <a:ext cx="274320" cy="274320"/>
          </a:xfrm>
          <a:prstGeom prst="rect">
            <a:avLst/>
          </a:prstGeom>
          <a:noFill/>
        </p:spPr>
        <p:txBody>
          <a:bodyPr wrap="square" lIns="0" tIns="0" rIns="0" bIns="0"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7</a:t>
            </a:r>
            <a:endParaRPr lang="en-US" sz="950" dirty="0"/>
          </a:p>
        </p:txBody>
      </p:sp>
      <p:sp>
        <p:nvSpPr>
          <p:cNvPr id="33" name="Text 30"/>
          <p:cNvSpPr txBox="1"/>
          <p:nvPr/>
        </p:nvSpPr>
        <p:spPr>
          <a:xfrm>
            <a:off x="4709160" y="3840480"/>
            <a:ext cx="3840480" cy="219456"/>
          </a:xfrm>
          <a:prstGeom prst="rect">
            <a:avLst/>
          </a:prstGeom>
          <a:noFill/>
        </p:spPr>
        <p:txBody>
          <a:bodyPr wrap="square" lIns="0" tIns="0" rIns="0" bIns="0" rtlCol="0" anchor="ctr"/>
          <a:lstStyle/>
          <a:p>
            <a:pPr marL="0" indent="0">
              <a:buNone/>
            </a:pPr>
            <a:r>
              <a:rPr lang="en-US" sz="1150" b="1" dirty="0">
                <a:solidFill>
                  <a:srgbClr val="141B3D"/>
                </a:solidFill>
                <a:latin typeface="Calibri" panose="020F0502020204030204" pitchFamily="34" charset="0"/>
                <a:ea typeface="Calibri" panose="020F0502020204030204" pitchFamily="34" charset="-122"/>
                <a:cs typeface="Calibri" panose="020F0502020204030204" pitchFamily="34" charset="-120"/>
              </a:rPr>
              <a:t>Generate Resources</a:t>
            </a:r>
            <a:endParaRPr lang="en-US" sz="1150" dirty="0"/>
          </a:p>
        </p:txBody>
      </p:sp>
      <p:sp>
        <p:nvSpPr>
          <p:cNvPr id="34" name="Text 31"/>
          <p:cNvSpPr txBox="1"/>
          <p:nvPr/>
        </p:nvSpPr>
        <p:spPr>
          <a:xfrm>
            <a:off x="4709160" y="4050792"/>
            <a:ext cx="3840480" cy="219456"/>
          </a:xfrm>
          <a:prstGeom prst="rect">
            <a:avLst/>
          </a:prstGeom>
          <a:noFill/>
        </p:spPr>
        <p:txBody>
          <a:bodyPr wrap="square" lIns="0" tIns="0" rIns="0" bIns="0" rtlCol="0" anchor="ctr"/>
          <a:lstStyle/>
          <a:p>
            <a:pPr marL="0" indent="0">
              <a:buNone/>
            </a:pPr>
            <a:r>
              <a:rPr lang="en-US" sz="950" dirty="0">
                <a:solidFill>
                  <a:srgbClr val="333A56"/>
                </a:solidFill>
                <a:latin typeface="Calibri" panose="020F0502020204030204" pitchFamily="34" charset="0"/>
                <a:ea typeface="Calibri" panose="020F0502020204030204" pitchFamily="34" charset="-122"/>
                <a:cs typeface="Calibri" panose="020F0502020204030204" pitchFamily="34" charset="-120"/>
              </a:rPr>
              <a:t>Chat, notes, exam prep,</a:t>
            </a:r>
            <a:r>
              <a:rPr lang="en-IN" altLang="en-US" sz="950" dirty="0">
                <a:solidFill>
                  <a:srgbClr val="333A56"/>
                </a:solidFill>
                <a:latin typeface="Calibri" panose="020F0502020204030204" pitchFamily="34" charset="0"/>
                <a:ea typeface="Calibri" panose="020F0502020204030204" pitchFamily="34" charset="-122"/>
                <a:cs typeface="Calibri" panose="020F0502020204030204" pitchFamily="34" charset="-120"/>
              </a:rPr>
              <a:t>or</a:t>
            </a:r>
            <a:r>
              <a:rPr lang="en-US" sz="950" dirty="0">
                <a:solidFill>
                  <a:srgbClr val="333A56"/>
                </a:solidFill>
                <a:latin typeface="Calibri" panose="020F0502020204030204" pitchFamily="34" charset="0"/>
                <a:ea typeface="Calibri" panose="020F0502020204030204" pitchFamily="34" charset="-122"/>
                <a:cs typeface="Calibri" panose="020F0502020204030204" pitchFamily="34" charset="-120"/>
              </a:rPr>
              <a:t> roadmap or logic flow is produced.</a:t>
            </a:r>
            <a:endParaRPr lang="en-US" sz="950" dirty="0"/>
          </a:p>
        </p:txBody>
      </p:sp>
      <p:sp>
        <p:nvSpPr>
          <p:cNvPr id="35" name="Shape 32"/>
          <p:cNvSpPr/>
          <p:nvPr/>
        </p:nvSpPr>
        <p:spPr>
          <a:xfrm>
            <a:off x="4343400" y="4379976"/>
            <a:ext cx="274320" cy="274320"/>
          </a:xfrm>
          <a:prstGeom prst="ellipse">
            <a:avLst/>
          </a:prstGeom>
          <a:solidFill>
            <a:srgbClr val="2E8B8B"/>
          </a:solidFill>
        </p:spPr>
      </p:sp>
      <p:sp>
        <p:nvSpPr>
          <p:cNvPr id="36" name="Text 33"/>
          <p:cNvSpPr txBox="1"/>
          <p:nvPr/>
        </p:nvSpPr>
        <p:spPr>
          <a:xfrm>
            <a:off x="4343400" y="4379976"/>
            <a:ext cx="274320" cy="274320"/>
          </a:xfrm>
          <a:prstGeom prst="rect">
            <a:avLst/>
          </a:prstGeom>
          <a:noFill/>
        </p:spPr>
        <p:txBody>
          <a:bodyPr wrap="square" lIns="0" tIns="0" rIns="0" bIns="0"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8</a:t>
            </a:r>
            <a:endParaRPr lang="en-US" sz="950" dirty="0"/>
          </a:p>
        </p:txBody>
      </p:sp>
      <p:sp>
        <p:nvSpPr>
          <p:cNvPr id="37" name="Text 34"/>
          <p:cNvSpPr txBox="1"/>
          <p:nvPr/>
        </p:nvSpPr>
        <p:spPr>
          <a:xfrm>
            <a:off x="4709160" y="4325112"/>
            <a:ext cx="3840480" cy="219456"/>
          </a:xfrm>
          <a:prstGeom prst="rect">
            <a:avLst/>
          </a:prstGeom>
          <a:noFill/>
        </p:spPr>
        <p:txBody>
          <a:bodyPr wrap="square" lIns="0" tIns="0" rIns="0" bIns="0" rtlCol="0" anchor="ctr"/>
          <a:lstStyle/>
          <a:p>
            <a:pPr marL="0" indent="0">
              <a:buNone/>
            </a:pPr>
            <a:r>
              <a:rPr lang="en-US" sz="1150" b="1" dirty="0">
                <a:solidFill>
                  <a:srgbClr val="141B3D"/>
                </a:solidFill>
                <a:latin typeface="Calibri" panose="020F0502020204030204" pitchFamily="34" charset="0"/>
                <a:ea typeface="Calibri" panose="020F0502020204030204" pitchFamily="34" charset="-122"/>
                <a:cs typeface="Calibri" panose="020F0502020204030204" pitchFamily="34" charset="-120"/>
              </a:rPr>
              <a:t>Display &amp; Save</a:t>
            </a:r>
            <a:endParaRPr lang="en-US" sz="1150" dirty="0"/>
          </a:p>
        </p:txBody>
      </p:sp>
      <p:sp>
        <p:nvSpPr>
          <p:cNvPr id="38" name="Text 35"/>
          <p:cNvSpPr txBox="1"/>
          <p:nvPr/>
        </p:nvSpPr>
        <p:spPr>
          <a:xfrm>
            <a:off x="4709160" y="4535424"/>
            <a:ext cx="3840480" cy="219456"/>
          </a:xfrm>
          <a:prstGeom prst="rect">
            <a:avLst/>
          </a:prstGeom>
          <a:noFill/>
        </p:spPr>
        <p:txBody>
          <a:bodyPr wrap="square" lIns="0" tIns="0" rIns="0" bIns="0" rtlCol="0" anchor="ctr"/>
          <a:lstStyle/>
          <a:p>
            <a:pPr marL="0" indent="0">
              <a:buNone/>
            </a:pPr>
            <a:r>
              <a:rPr lang="en-US" sz="950" dirty="0">
                <a:solidFill>
                  <a:srgbClr val="333A56"/>
                </a:solidFill>
                <a:latin typeface="Calibri" panose="020F0502020204030204" pitchFamily="34" charset="0"/>
                <a:ea typeface="Calibri" panose="020F0502020204030204" pitchFamily="34" charset="-122"/>
                <a:cs typeface="Calibri" panose="020F0502020204030204" pitchFamily="34" charset="-120"/>
              </a:rPr>
              <a:t>Output is shown to the user and stored for future access.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1B3D"/>
        </a:solidFill>
        <a:effectLst/>
      </p:bgPr>
    </p:bg>
    <p:spTree>
      <p:nvGrpSpPr>
        <p:cNvPr id="1" name=""/>
        <p:cNvGrpSpPr/>
        <p:nvPr/>
      </p:nvGrpSpPr>
      <p:grpSpPr>
        <a:xfrm>
          <a:off x="0" y="0"/>
          <a:ext cx="0" cy="0"/>
          <a:chOff x="0" y="0"/>
          <a:chExt cx="0" cy="0"/>
        </a:xfrm>
      </p:grpSpPr>
      <p:sp>
        <p:nvSpPr>
          <p:cNvPr id="2" name="Shape 0"/>
          <p:cNvSpPr/>
          <p:nvPr/>
        </p:nvSpPr>
        <p:spPr>
          <a:xfrm>
            <a:off x="-502920" y="-502920"/>
            <a:ext cx="1371600" cy="1371600"/>
          </a:xfrm>
          <a:prstGeom prst="ellipse">
            <a:avLst/>
          </a:prstGeom>
          <a:solidFill>
            <a:srgbClr val="2E8B8B">
              <a:alpha val="55000"/>
            </a:srgbClr>
          </a:solidFill>
        </p:spPr>
      </p:sp>
      <p:sp>
        <p:nvSpPr>
          <p:cNvPr id="3" name="Shape 1"/>
          <p:cNvSpPr/>
          <p:nvPr/>
        </p:nvSpPr>
        <p:spPr>
          <a:xfrm>
            <a:off x="8366760" y="4343400"/>
            <a:ext cx="1280160" cy="1280160"/>
          </a:xfrm>
          <a:prstGeom prst="ellipse">
            <a:avLst/>
          </a:prstGeom>
          <a:solidFill>
            <a:srgbClr val="E0A458">
              <a:alpha val="55000"/>
            </a:srgbClr>
          </a:solidFill>
        </p:spPr>
      </p:sp>
      <p:sp>
        <p:nvSpPr>
          <p:cNvPr id="4" name="Shape 2"/>
          <p:cNvSpPr/>
          <p:nvPr/>
        </p:nvSpPr>
        <p:spPr>
          <a:xfrm>
            <a:off x="256032" y="237744"/>
            <a:ext cx="8631936" cy="4672584"/>
          </a:xfrm>
          <a:prstGeom prst="roundRect">
            <a:avLst>
              <a:gd name="adj" fmla="val 2348"/>
            </a:avLst>
          </a:prstGeom>
          <a:solidFill>
            <a:srgbClr val="FBF8F3"/>
          </a:solidFill>
          <a:ln w="12700">
            <a:solidFill>
              <a:srgbClr val="FFFFFF"/>
            </a:solidFill>
            <a:prstDash val="solid"/>
          </a:ln>
          <a:effectLst>
            <a:outerShdw blurRad="152400" dist="25400" dir="5400000" algn="bl" rotWithShape="0">
              <a:srgbClr val="000000">
                <a:alpha val="25000"/>
              </a:srgbClr>
            </a:outerShdw>
          </a:effectLst>
        </p:spPr>
      </p:sp>
      <p:sp>
        <p:nvSpPr>
          <p:cNvPr id="5" name="Text 3"/>
          <p:cNvSpPr txBox="1"/>
          <p:nvPr/>
        </p:nvSpPr>
        <p:spPr>
          <a:xfrm>
            <a:off x="530352" y="384048"/>
            <a:ext cx="8083296" cy="502920"/>
          </a:xfrm>
          <a:prstGeom prst="rect">
            <a:avLst/>
          </a:prstGeom>
          <a:noFill/>
        </p:spPr>
        <p:txBody>
          <a:bodyPr wrap="square" lIns="0" tIns="0" rIns="0" bIns="0" rtlCol="0" anchor="ctr"/>
          <a:lstStyle/>
          <a:p>
            <a:pPr marL="0" indent="0" algn="ctr">
              <a:buNone/>
            </a:pPr>
            <a:r>
              <a:rPr lang="en-US" sz="2800" b="1" dirty="0">
                <a:solidFill>
                  <a:srgbClr val="141B3D"/>
                </a:solidFill>
                <a:latin typeface="Cambria" panose="02040503050406030204" pitchFamily="34" charset="0"/>
                <a:ea typeface="Cambria" panose="02040503050406030204" pitchFamily="34" charset="-122"/>
                <a:cs typeface="Cambria" panose="02040503050406030204" pitchFamily="34" charset="-120"/>
              </a:rPr>
              <a:t>ALGORITHM &amp; METHODOLOGY</a:t>
            </a:r>
            <a:endParaRPr lang="en-US" sz="2800" dirty="0"/>
          </a:p>
        </p:txBody>
      </p:sp>
      <p:sp>
        <p:nvSpPr>
          <p:cNvPr id="6" name="Text 4"/>
          <p:cNvSpPr txBox="1"/>
          <p:nvPr/>
        </p:nvSpPr>
        <p:spPr>
          <a:xfrm>
            <a:off x="667512" y="932688"/>
            <a:ext cx="4023360" cy="274320"/>
          </a:xfrm>
          <a:prstGeom prst="rect">
            <a:avLst/>
          </a:prstGeom>
          <a:noFill/>
        </p:spPr>
        <p:txBody>
          <a:bodyPr wrap="square" lIns="0" tIns="0" rIns="0" bIns="0" rtlCol="0" anchor="ctr"/>
          <a:lstStyle/>
          <a:p>
            <a:pPr marL="0" indent="0">
              <a:buNone/>
            </a:pPr>
            <a:r>
              <a:rPr lang="en-US" sz="1300" b="1" dirty="0">
                <a:solidFill>
                  <a:srgbClr val="141B3D"/>
                </a:solidFill>
                <a:latin typeface="Calibri" panose="020F0502020204030204" pitchFamily="34" charset="0"/>
                <a:ea typeface="Calibri" panose="020F0502020204030204" pitchFamily="34" charset="-122"/>
                <a:cs typeface="Calibri" panose="020F0502020204030204" pitchFamily="34" charset="-120"/>
              </a:rPr>
              <a:t>A.  Document Text Extraction</a:t>
            </a:r>
            <a:endParaRPr lang="en-US" sz="1300" dirty="0"/>
          </a:p>
        </p:txBody>
      </p:sp>
      <p:sp>
        <p:nvSpPr>
          <p:cNvPr id="7" name="Text 5"/>
          <p:cNvSpPr txBox="1"/>
          <p:nvPr/>
        </p:nvSpPr>
        <p:spPr>
          <a:xfrm>
            <a:off x="667512" y="1261872"/>
            <a:ext cx="4023360" cy="1417320"/>
          </a:xfrm>
          <a:prstGeom prst="rect">
            <a:avLst/>
          </a:prstGeom>
          <a:noFill/>
        </p:spPr>
        <p:txBody>
          <a:bodyPr wrap="square" lIns="0" tIns="0" rIns="0" bIns="0" rtlCol="0" anchor="t"/>
          <a:lstStyle/>
          <a:p>
            <a:pPr marL="177800" indent="-177800">
              <a:spcAft>
                <a:spcPts val="700"/>
              </a:spcAft>
              <a:buSzPct val="100000"/>
              <a:buChar char="•"/>
            </a:pPr>
            <a:r>
              <a:rPr lang="en-US" sz="1150" dirty="0">
                <a:solidFill>
                  <a:srgbClr val="333A56"/>
                </a:solidFill>
                <a:latin typeface="Calibri" panose="020F0502020204030204" pitchFamily="34" charset="0"/>
                <a:ea typeface="Calibri" panose="020F0502020204030204" pitchFamily="34" charset="-122"/>
                <a:cs typeface="Calibri" panose="020F0502020204030204" pitchFamily="34" charset="-120"/>
              </a:rPr>
              <a:t>The uploaded file's type is detected and routed to PyPDF2 (PDF) or python-docx (DOCX).</a:t>
            </a:r>
            <a:endParaRPr lang="en-US" sz="1150" dirty="0"/>
          </a:p>
          <a:p>
            <a:pPr marL="177800" indent="-177800">
              <a:spcAft>
                <a:spcPts val="700"/>
              </a:spcAft>
              <a:buSzPct val="100000"/>
              <a:buChar char="•"/>
            </a:pPr>
            <a:r>
              <a:rPr lang="en-US" sz="1150" dirty="0">
                <a:solidFill>
                  <a:srgbClr val="333A56"/>
                </a:solidFill>
                <a:latin typeface="Calibri" panose="020F0502020204030204" pitchFamily="34" charset="0"/>
                <a:ea typeface="Calibri" panose="020F0502020204030204" pitchFamily="34" charset="-122"/>
                <a:cs typeface="Calibri" panose="020F0502020204030204" pitchFamily="34" charset="-120"/>
              </a:rPr>
              <a:t>Each page or paragraph is read in order, and headers, footers and empty runs are stripped.</a:t>
            </a:r>
            <a:endParaRPr lang="en-US" sz="1150" dirty="0"/>
          </a:p>
          <a:p>
            <a:pPr marL="177800" indent="-177800">
              <a:spcAft>
                <a:spcPts val="700"/>
              </a:spcAft>
              <a:buSzPct val="100000"/>
              <a:buChar char="•"/>
            </a:pPr>
            <a:r>
              <a:rPr lang="en-US" sz="1150" dirty="0">
                <a:solidFill>
                  <a:srgbClr val="333A56"/>
                </a:solidFill>
                <a:latin typeface="Calibri" panose="020F0502020204030204" pitchFamily="34" charset="0"/>
                <a:ea typeface="Calibri" panose="020F0502020204030204" pitchFamily="34" charset="-122"/>
                <a:cs typeface="Calibri" panose="020F0502020204030204" pitchFamily="34" charset="-120"/>
              </a:rPr>
              <a:t>The cleaned text is stored against the document record in PostgreSQL, so it is extracted once and reused.</a:t>
            </a:r>
            <a:endParaRPr lang="en-US" sz="1150" dirty="0"/>
          </a:p>
        </p:txBody>
      </p:sp>
      <p:sp>
        <p:nvSpPr>
          <p:cNvPr id="8" name="Text 6"/>
          <p:cNvSpPr txBox="1"/>
          <p:nvPr/>
        </p:nvSpPr>
        <p:spPr>
          <a:xfrm>
            <a:off x="667512" y="2743200"/>
            <a:ext cx="4023360" cy="274320"/>
          </a:xfrm>
          <a:prstGeom prst="rect">
            <a:avLst/>
          </a:prstGeom>
          <a:noFill/>
        </p:spPr>
        <p:txBody>
          <a:bodyPr wrap="square" lIns="0" tIns="0" rIns="0" bIns="0" rtlCol="0" anchor="ctr"/>
          <a:lstStyle/>
          <a:p>
            <a:pPr marL="0" indent="0">
              <a:buNone/>
            </a:pPr>
            <a:r>
              <a:rPr lang="en-US" sz="1300" b="1" dirty="0">
                <a:solidFill>
                  <a:srgbClr val="141B3D"/>
                </a:solidFill>
                <a:latin typeface="Calibri" panose="020F0502020204030204" pitchFamily="34" charset="0"/>
                <a:ea typeface="Calibri" panose="020F0502020204030204" pitchFamily="34" charset="-122"/>
                <a:cs typeface="Calibri" panose="020F0502020204030204" pitchFamily="34" charset="-120"/>
              </a:rPr>
              <a:t>B.  Prompt Construction and Generation</a:t>
            </a:r>
            <a:endParaRPr lang="en-US" sz="1300" dirty="0"/>
          </a:p>
        </p:txBody>
      </p:sp>
      <p:sp>
        <p:nvSpPr>
          <p:cNvPr id="9" name="Text 7"/>
          <p:cNvSpPr txBox="1"/>
          <p:nvPr/>
        </p:nvSpPr>
        <p:spPr>
          <a:xfrm>
            <a:off x="667512" y="3072384"/>
            <a:ext cx="4023360" cy="1371600"/>
          </a:xfrm>
          <a:prstGeom prst="rect">
            <a:avLst/>
          </a:prstGeom>
          <a:noFill/>
        </p:spPr>
        <p:txBody>
          <a:bodyPr wrap="square" lIns="0" tIns="0" rIns="0" bIns="0" rtlCol="0" anchor="t"/>
          <a:lstStyle/>
          <a:p>
            <a:pPr marL="177800" indent="-177800">
              <a:spcAft>
                <a:spcPts val="700"/>
              </a:spcAft>
              <a:buSzPct val="100000"/>
              <a:buChar char="•"/>
            </a:pPr>
            <a:r>
              <a:rPr lang="en-US" sz="1150" dirty="0">
                <a:solidFill>
                  <a:srgbClr val="333A56"/>
                </a:solidFill>
                <a:latin typeface="Calibri" panose="020F0502020204030204" pitchFamily="34" charset="0"/>
                <a:ea typeface="Calibri" panose="020F0502020204030204" pitchFamily="34" charset="-122"/>
                <a:cs typeface="Calibri" panose="020F0502020204030204" pitchFamily="34" charset="-120"/>
              </a:rPr>
              <a:t>A task template is selected for the requested resource — chat, notes, roadmap or logic flow.</a:t>
            </a:r>
            <a:endParaRPr lang="en-US" sz="1150" dirty="0"/>
          </a:p>
          <a:p>
            <a:pPr marL="177800" indent="-177800">
              <a:spcAft>
                <a:spcPts val="700"/>
              </a:spcAft>
              <a:buSzPct val="100000"/>
              <a:buChar char="•"/>
            </a:pPr>
            <a:r>
              <a:rPr lang="en-US" sz="1150" dirty="0">
                <a:solidFill>
                  <a:srgbClr val="333A56"/>
                </a:solidFill>
                <a:latin typeface="Calibri" panose="020F0502020204030204" pitchFamily="34" charset="0"/>
                <a:ea typeface="Calibri" panose="020F0502020204030204" pitchFamily="34" charset="-122"/>
                <a:cs typeface="Calibri" panose="020F0502020204030204" pitchFamily="34" charset="-120"/>
              </a:rPr>
              <a:t>The stored text and the student's request are combined into a single structured prompt for Gemini.</a:t>
            </a:r>
            <a:endParaRPr lang="en-US" sz="1150" dirty="0"/>
          </a:p>
          <a:p>
            <a:pPr marL="177800" indent="-177800">
              <a:spcAft>
                <a:spcPts val="700"/>
              </a:spcAft>
              <a:buSzPct val="100000"/>
              <a:buChar char="•"/>
            </a:pPr>
            <a:r>
              <a:rPr lang="en-US" sz="1150" dirty="0">
                <a:solidFill>
                  <a:srgbClr val="333A56"/>
                </a:solidFill>
                <a:latin typeface="Calibri" panose="020F0502020204030204" pitchFamily="34" charset="0"/>
                <a:ea typeface="Calibri" panose="020F0502020204030204" pitchFamily="34" charset="-122"/>
                <a:cs typeface="Calibri" panose="020F0502020204030204" pitchFamily="34" charset="-120"/>
              </a:rPr>
              <a:t>The model is instructed to answer from the supplied material and to return a fixed output format.</a:t>
            </a:r>
            <a:endParaRPr lang="en-US" sz="1150" dirty="0"/>
          </a:p>
          <a:p>
            <a:pPr marL="177800" indent="-177800">
              <a:spcAft>
                <a:spcPts val="700"/>
              </a:spcAft>
              <a:buSzPct val="100000"/>
              <a:buChar char="•"/>
            </a:pPr>
            <a:r>
              <a:rPr lang="en-US" sz="1150" dirty="0">
                <a:solidFill>
                  <a:srgbClr val="333A56"/>
                </a:solidFill>
                <a:latin typeface="Calibri" panose="020F0502020204030204" pitchFamily="34" charset="0"/>
                <a:ea typeface="Calibri" panose="020F0502020204030204" pitchFamily="34" charset="-122"/>
                <a:cs typeface="Calibri" panose="020F0502020204030204" pitchFamily="34" charset="-120"/>
              </a:rPr>
              <a:t>The response is parsed, rendered in the interface, and written back to the workspace.</a:t>
            </a:r>
            <a:endParaRPr lang="en-US" sz="1150" dirty="0"/>
          </a:p>
        </p:txBody>
      </p:sp>
      <p:sp>
        <p:nvSpPr>
          <p:cNvPr id="10" name="Shape 8"/>
          <p:cNvSpPr/>
          <p:nvPr/>
        </p:nvSpPr>
        <p:spPr>
          <a:xfrm>
            <a:off x="5029200" y="932688"/>
            <a:ext cx="3566160" cy="3520440"/>
          </a:xfrm>
          <a:prstGeom prst="roundRect">
            <a:avLst>
              <a:gd name="adj" fmla="val 2078"/>
            </a:avLst>
          </a:prstGeom>
          <a:solidFill>
            <a:srgbClr val="141B3D">
              <a:alpha val="6000"/>
            </a:srgbClr>
          </a:solidFill>
        </p:spPr>
      </p:sp>
      <p:sp>
        <p:nvSpPr>
          <p:cNvPr id="11" name="Text 9"/>
          <p:cNvSpPr txBox="1"/>
          <p:nvPr/>
        </p:nvSpPr>
        <p:spPr>
          <a:xfrm>
            <a:off x="5212080" y="1042416"/>
            <a:ext cx="3200400" cy="256032"/>
          </a:xfrm>
          <a:prstGeom prst="rect">
            <a:avLst/>
          </a:prstGeom>
          <a:noFill/>
        </p:spPr>
        <p:txBody>
          <a:bodyPr wrap="square" lIns="0" tIns="0" rIns="0" bIns="0" rtlCol="0" anchor="ctr"/>
          <a:lstStyle/>
          <a:p>
            <a:pPr marL="0" indent="0">
              <a:buNone/>
            </a:pPr>
            <a:r>
              <a:rPr lang="en-US" sz="1200" b="1" dirty="0">
                <a:solidFill>
                  <a:srgbClr val="141B3D"/>
                </a:solidFill>
                <a:latin typeface="Calibri" panose="020F0502020204030204" pitchFamily="34" charset="0"/>
                <a:ea typeface="Calibri" panose="020F0502020204030204" pitchFamily="34" charset="-122"/>
                <a:cs typeface="Calibri" panose="020F0502020204030204" pitchFamily="34" charset="-120"/>
              </a:rPr>
              <a:t>Prompt anatomy</a:t>
            </a:r>
            <a:endParaRPr lang="en-US" sz="1200" dirty="0"/>
          </a:p>
        </p:txBody>
      </p:sp>
      <p:sp>
        <p:nvSpPr>
          <p:cNvPr id="12" name="Shape 10"/>
          <p:cNvSpPr/>
          <p:nvPr/>
        </p:nvSpPr>
        <p:spPr>
          <a:xfrm>
            <a:off x="5212080" y="1417320"/>
            <a:ext cx="3200400" cy="502920"/>
          </a:xfrm>
          <a:prstGeom prst="roundRect">
            <a:avLst>
              <a:gd name="adj" fmla="val 9091"/>
            </a:avLst>
          </a:prstGeom>
          <a:solidFill>
            <a:srgbClr val="FFFFFF"/>
          </a:solidFill>
        </p:spPr>
      </p:sp>
      <p:sp>
        <p:nvSpPr>
          <p:cNvPr id="13" name="Text 11"/>
          <p:cNvSpPr txBox="1"/>
          <p:nvPr/>
        </p:nvSpPr>
        <p:spPr>
          <a:xfrm>
            <a:off x="5321808" y="1453896"/>
            <a:ext cx="1280160" cy="201168"/>
          </a:xfrm>
          <a:prstGeom prst="rect">
            <a:avLst/>
          </a:prstGeom>
          <a:noFill/>
        </p:spPr>
        <p:txBody>
          <a:bodyPr wrap="square" lIns="0" tIns="0" rIns="0" bIns="0" rtlCol="0" anchor="ctr"/>
          <a:lstStyle/>
          <a:p>
            <a:pPr marL="0" indent="0">
              <a:buNone/>
            </a:pPr>
            <a:r>
              <a:rPr lang="en-US" sz="900" b="1" dirty="0">
                <a:solidFill>
                  <a:srgbClr val="2E8B8B"/>
                </a:solidFill>
                <a:latin typeface="Courier New" panose="02070309020205020404" pitchFamily="34" charset="0"/>
                <a:ea typeface="Courier New" panose="02070309020205020404" pitchFamily="34" charset="-122"/>
                <a:cs typeface="Courier New" panose="02070309020205020404" pitchFamily="34" charset="-120"/>
              </a:rPr>
              <a:t>ROLE</a:t>
            </a:r>
            <a:endParaRPr lang="en-US" sz="900" dirty="0"/>
          </a:p>
        </p:txBody>
      </p:sp>
      <p:sp>
        <p:nvSpPr>
          <p:cNvPr id="14" name="Text 12"/>
          <p:cNvSpPr txBox="1"/>
          <p:nvPr/>
        </p:nvSpPr>
        <p:spPr>
          <a:xfrm>
            <a:off x="5321808" y="1645920"/>
            <a:ext cx="2980944" cy="237744"/>
          </a:xfrm>
          <a:prstGeom prst="rect">
            <a:avLst/>
          </a:prstGeom>
          <a:noFill/>
        </p:spPr>
        <p:txBody>
          <a:bodyPr wrap="square" lIns="0" tIns="0" rIns="0" bIns="0" rtlCol="0" anchor="ctr"/>
          <a:lstStyle/>
          <a:p>
            <a:pPr marL="0" indent="0">
              <a:buNone/>
            </a:pPr>
            <a:r>
              <a:rPr lang="en-US" sz="950" dirty="0">
                <a:solidFill>
                  <a:srgbClr val="333A56"/>
                </a:solidFill>
                <a:latin typeface="Calibri" panose="020F0502020204030204" pitchFamily="34" charset="0"/>
                <a:ea typeface="Calibri" panose="020F0502020204030204" pitchFamily="34" charset="-122"/>
                <a:cs typeface="Calibri" panose="020F0502020204030204" pitchFamily="34" charset="-120"/>
              </a:rPr>
              <a:t>You are a study assistant for this subject.</a:t>
            </a:r>
            <a:endParaRPr lang="en-US" sz="950" dirty="0"/>
          </a:p>
        </p:txBody>
      </p:sp>
      <p:sp>
        <p:nvSpPr>
          <p:cNvPr id="15" name="Shape 13"/>
          <p:cNvSpPr/>
          <p:nvPr/>
        </p:nvSpPr>
        <p:spPr>
          <a:xfrm>
            <a:off x="5212080" y="1993392"/>
            <a:ext cx="3200400" cy="502920"/>
          </a:xfrm>
          <a:prstGeom prst="roundRect">
            <a:avLst>
              <a:gd name="adj" fmla="val 9091"/>
            </a:avLst>
          </a:prstGeom>
          <a:solidFill>
            <a:srgbClr val="FFFFFF"/>
          </a:solidFill>
        </p:spPr>
      </p:sp>
      <p:sp>
        <p:nvSpPr>
          <p:cNvPr id="16" name="Text 14"/>
          <p:cNvSpPr txBox="1"/>
          <p:nvPr/>
        </p:nvSpPr>
        <p:spPr>
          <a:xfrm>
            <a:off x="5321808" y="2029968"/>
            <a:ext cx="1280160" cy="201168"/>
          </a:xfrm>
          <a:prstGeom prst="rect">
            <a:avLst/>
          </a:prstGeom>
          <a:noFill/>
        </p:spPr>
        <p:txBody>
          <a:bodyPr wrap="square" lIns="0" tIns="0" rIns="0" bIns="0" rtlCol="0" anchor="ctr"/>
          <a:lstStyle/>
          <a:p>
            <a:pPr marL="0" indent="0">
              <a:buNone/>
            </a:pPr>
            <a:r>
              <a:rPr lang="en-US" sz="900" b="1" dirty="0">
                <a:solidFill>
                  <a:srgbClr val="2E8B8B"/>
                </a:solidFill>
                <a:latin typeface="Courier New" panose="02070309020205020404" pitchFamily="34" charset="0"/>
                <a:ea typeface="Courier New" panose="02070309020205020404" pitchFamily="34" charset="-122"/>
                <a:cs typeface="Courier New" panose="02070309020205020404" pitchFamily="34" charset="-120"/>
              </a:rPr>
              <a:t>MATERIAL</a:t>
            </a:r>
            <a:endParaRPr lang="en-US" sz="900" dirty="0"/>
          </a:p>
        </p:txBody>
      </p:sp>
      <p:sp>
        <p:nvSpPr>
          <p:cNvPr id="17" name="Text 15"/>
          <p:cNvSpPr txBox="1"/>
          <p:nvPr/>
        </p:nvSpPr>
        <p:spPr>
          <a:xfrm>
            <a:off x="5321808" y="2221992"/>
            <a:ext cx="2980944" cy="237744"/>
          </a:xfrm>
          <a:prstGeom prst="rect">
            <a:avLst/>
          </a:prstGeom>
          <a:noFill/>
        </p:spPr>
        <p:txBody>
          <a:bodyPr wrap="square" lIns="0" tIns="0" rIns="0" bIns="0" rtlCol="0" anchor="ctr"/>
          <a:lstStyle/>
          <a:p>
            <a:pPr marL="0" indent="0">
              <a:buNone/>
            </a:pPr>
            <a:r>
              <a:rPr lang="en-US" sz="950" dirty="0">
                <a:solidFill>
                  <a:srgbClr val="333A56"/>
                </a:solidFill>
                <a:latin typeface="Calibri" panose="020F0502020204030204" pitchFamily="34" charset="0"/>
                <a:ea typeface="Calibri" panose="020F0502020204030204" pitchFamily="34" charset="-122"/>
                <a:cs typeface="Calibri" panose="020F0502020204030204" pitchFamily="34" charset="-120"/>
              </a:rPr>
              <a:t>Extracted text from the uploaded document.</a:t>
            </a:r>
            <a:endParaRPr lang="en-US" sz="950" dirty="0"/>
          </a:p>
        </p:txBody>
      </p:sp>
      <p:sp>
        <p:nvSpPr>
          <p:cNvPr id="18" name="Shape 16"/>
          <p:cNvSpPr/>
          <p:nvPr/>
        </p:nvSpPr>
        <p:spPr>
          <a:xfrm>
            <a:off x="5212080" y="2569464"/>
            <a:ext cx="3200400" cy="502920"/>
          </a:xfrm>
          <a:prstGeom prst="roundRect">
            <a:avLst>
              <a:gd name="adj" fmla="val 9091"/>
            </a:avLst>
          </a:prstGeom>
          <a:solidFill>
            <a:srgbClr val="FFFFFF"/>
          </a:solidFill>
        </p:spPr>
      </p:sp>
      <p:sp>
        <p:nvSpPr>
          <p:cNvPr id="19" name="Text 17"/>
          <p:cNvSpPr txBox="1"/>
          <p:nvPr/>
        </p:nvSpPr>
        <p:spPr>
          <a:xfrm>
            <a:off x="5321808" y="2606040"/>
            <a:ext cx="1280160" cy="201168"/>
          </a:xfrm>
          <a:prstGeom prst="rect">
            <a:avLst/>
          </a:prstGeom>
          <a:noFill/>
        </p:spPr>
        <p:txBody>
          <a:bodyPr wrap="square" lIns="0" tIns="0" rIns="0" bIns="0" rtlCol="0" anchor="ctr"/>
          <a:lstStyle/>
          <a:p>
            <a:pPr marL="0" indent="0">
              <a:buNone/>
            </a:pPr>
            <a:r>
              <a:rPr lang="en-US" sz="900" b="1" dirty="0">
                <a:solidFill>
                  <a:srgbClr val="2E8B8B"/>
                </a:solidFill>
                <a:latin typeface="Courier New" panose="02070309020205020404" pitchFamily="34" charset="0"/>
                <a:ea typeface="Courier New" panose="02070309020205020404" pitchFamily="34" charset="-122"/>
                <a:cs typeface="Courier New" panose="02070309020205020404" pitchFamily="34" charset="-120"/>
              </a:rPr>
              <a:t>TASK</a:t>
            </a:r>
            <a:endParaRPr lang="en-US" sz="900" dirty="0"/>
          </a:p>
        </p:txBody>
      </p:sp>
      <p:sp>
        <p:nvSpPr>
          <p:cNvPr id="20" name="Text 18"/>
          <p:cNvSpPr txBox="1"/>
          <p:nvPr/>
        </p:nvSpPr>
        <p:spPr>
          <a:xfrm>
            <a:off x="5321808" y="2798064"/>
            <a:ext cx="2980944" cy="237744"/>
          </a:xfrm>
          <a:prstGeom prst="rect">
            <a:avLst/>
          </a:prstGeom>
          <a:noFill/>
        </p:spPr>
        <p:txBody>
          <a:bodyPr wrap="square" lIns="0" tIns="0" rIns="0" bIns="0" rtlCol="0" anchor="ctr"/>
          <a:lstStyle/>
          <a:p>
            <a:pPr marL="0" indent="0">
              <a:buNone/>
            </a:pPr>
            <a:r>
              <a:rPr lang="en-US" sz="950" dirty="0">
                <a:solidFill>
                  <a:srgbClr val="333A56"/>
                </a:solidFill>
                <a:latin typeface="Calibri" panose="020F0502020204030204" pitchFamily="34" charset="0"/>
                <a:ea typeface="Calibri" panose="020F0502020204030204" pitchFamily="34" charset="-122"/>
                <a:cs typeface="Calibri" panose="020F0502020204030204" pitchFamily="34" charset="-120"/>
              </a:rPr>
              <a:t>Explain / summarise /  map concepts.</a:t>
            </a:r>
            <a:endParaRPr lang="en-US" sz="950" dirty="0"/>
          </a:p>
        </p:txBody>
      </p:sp>
      <p:sp>
        <p:nvSpPr>
          <p:cNvPr id="21" name="Shape 19"/>
          <p:cNvSpPr/>
          <p:nvPr/>
        </p:nvSpPr>
        <p:spPr>
          <a:xfrm>
            <a:off x="5212080" y="3145536"/>
            <a:ext cx="3200400" cy="502920"/>
          </a:xfrm>
          <a:prstGeom prst="roundRect">
            <a:avLst>
              <a:gd name="adj" fmla="val 9091"/>
            </a:avLst>
          </a:prstGeom>
          <a:solidFill>
            <a:srgbClr val="FFFFFF"/>
          </a:solidFill>
        </p:spPr>
      </p:sp>
      <p:sp>
        <p:nvSpPr>
          <p:cNvPr id="22" name="Text 20"/>
          <p:cNvSpPr txBox="1"/>
          <p:nvPr/>
        </p:nvSpPr>
        <p:spPr>
          <a:xfrm>
            <a:off x="5321808" y="3182112"/>
            <a:ext cx="1280160" cy="201168"/>
          </a:xfrm>
          <a:prstGeom prst="rect">
            <a:avLst/>
          </a:prstGeom>
          <a:noFill/>
        </p:spPr>
        <p:txBody>
          <a:bodyPr wrap="square" lIns="0" tIns="0" rIns="0" bIns="0" rtlCol="0" anchor="ctr"/>
          <a:lstStyle/>
          <a:p>
            <a:pPr marL="0" indent="0">
              <a:buNone/>
            </a:pPr>
            <a:r>
              <a:rPr lang="en-US" sz="900" b="1" dirty="0">
                <a:solidFill>
                  <a:srgbClr val="2E8B8B"/>
                </a:solidFill>
                <a:latin typeface="Courier New" panose="02070309020205020404" pitchFamily="34" charset="0"/>
                <a:ea typeface="Courier New" panose="02070309020205020404" pitchFamily="34" charset="-122"/>
                <a:cs typeface="Courier New" panose="02070309020205020404" pitchFamily="34" charset="-120"/>
              </a:rPr>
              <a:t>FORMAT</a:t>
            </a:r>
            <a:endParaRPr lang="en-US" sz="900" dirty="0"/>
          </a:p>
        </p:txBody>
      </p:sp>
      <p:sp>
        <p:nvSpPr>
          <p:cNvPr id="23" name="Text 21"/>
          <p:cNvSpPr txBox="1"/>
          <p:nvPr/>
        </p:nvSpPr>
        <p:spPr>
          <a:xfrm>
            <a:off x="5321808" y="3374136"/>
            <a:ext cx="2980944" cy="237744"/>
          </a:xfrm>
          <a:prstGeom prst="rect">
            <a:avLst/>
          </a:prstGeom>
          <a:noFill/>
        </p:spPr>
        <p:txBody>
          <a:bodyPr wrap="square" lIns="0" tIns="0" rIns="0" bIns="0" rtlCol="0" anchor="ctr"/>
          <a:lstStyle/>
          <a:p>
            <a:pPr marL="0" indent="0">
              <a:buNone/>
            </a:pPr>
            <a:r>
              <a:rPr lang="en-US" sz="950" dirty="0">
                <a:solidFill>
                  <a:srgbClr val="333A56"/>
                </a:solidFill>
                <a:latin typeface="Calibri" panose="020F0502020204030204" pitchFamily="34" charset="0"/>
                <a:ea typeface="Calibri" panose="020F0502020204030204" pitchFamily="34" charset="-122"/>
                <a:cs typeface="Calibri" panose="020F0502020204030204" pitchFamily="34" charset="-120"/>
              </a:rPr>
              <a:t>Headings, numbered points</a:t>
            </a:r>
            <a:r>
              <a:rPr lang="en-IN" altLang="en-US" sz="950" dirty="0">
                <a:solidFill>
                  <a:srgbClr val="333A56"/>
                </a:solidFill>
                <a:latin typeface="Calibri" panose="020F0502020204030204" pitchFamily="34" charset="0"/>
                <a:ea typeface="Calibri" panose="020F0502020204030204" pitchFamily="34" charset="-122"/>
                <a:cs typeface="Calibri" panose="020F0502020204030204" pitchFamily="34" charset="-120"/>
              </a:rPr>
              <a:t>.</a:t>
            </a:r>
            <a:endParaRPr lang="en-IN" altLang="en-US" sz="950" dirty="0">
              <a:solidFill>
                <a:srgbClr val="333A56"/>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Shape 22"/>
          <p:cNvSpPr/>
          <p:nvPr/>
        </p:nvSpPr>
        <p:spPr>
          <a:xfrm>
            <a:off x="5212080" y="3721608"/>
            <a:ext cx="3200400" cy="502920"/>
          </a:xfrm>
          <a:prstGeom prst="roundRect">
            <a:avLst>
              <a:gd name="adj" fmla="val 9091"/>
            </a:avLst>
          </a:prstGeom>
          <a:solidFill>
            <a:srgbClr val="FFFFFF"/>
          </a:solidFill>
        </p:spPr>
      </p:sp>
      <p:sp>
        <p:nvSpPr>
          <p:cNvPr id="25" name="Text 23"/>
          <p:cNvSpPr txBox="1"/>
          <p:nvPr/>
        </p:nvSpPr>
        <p:spPr>
          <a:xfrm>
            <a:off x="5321808" y="3758184"/>
            <a:ext cx="1280160" cy="201168"/>
          </a:xfrm>
          <a:prstGeom prst="rect">
            <a:avLst/>
          </a:prstGeom>
          <a:noFill/>
        </p:spPr>
        <p:txBody>
          <a:bodyPr wrap="square" lIns="0" tIns="0" rIns="0" bIns="0" rtlCol="0" anchor="ctr"/>
          <a:lstStyle/>
          <a:p>
            <a:pPr marL="0" indent="0">
              <a:buNone/>
            </a:pPr>
            <a:r>
              <a:rPr lang="en-US" sz="900" b="1" dirty="0">
                <a:solidFill>
                  <a:srgbClr val="2E8B8B"/>
                </a:solidFill>
                <a:latin typeface="Courier New" panose="02070309020205020404" pitchFamily="34" charset="0"/>
                <a:ea typeface="Courier New" panose="02070309020205020404" pitchFamily="34" charset="-122"/>
                <a:cs typeface="Courier New" panose="02070309020205020404" pitchFamily="34" charset="-120"/>
              </a:rPr>
              <a:t>CONSTRAINT</a:t>
            </a:r>
            <a:endParaRPr lang="en-US" sz="900" dirty="0"/>
          </a:p>
        </p:txBody>
      </p:sp>
      <p:sp>
        <p:nvSpPr>
          <p:cNvPr id="26" name="Text 24"/>
          <p:cNvSpPr txBox="1"/>
          <p:nvPr/>
        </p:nvSpPr>
        <p:spPr>
          <a:xfrm>
            <a:off x="5321808" y="3950208"/>
            <a:ext cx="2980944" cy="237744"/>
          </a:xfrm>
          <a:prstGeom prst="rect">
            <a:avLst/>
          </a:prstGeom>
          <a:noFill/>
        </p:spPr>
        <p:txBody>
          <a:bodyPr wrap="square" lIns="0" tIns="0" rIns="0" bIns="0" rtlCol="0" anchor="ctr"/>
          <a:lstStyle/>
          <a:p>
            <a:pPr marL="0" indent="0">
              <a:buNone/>
            </a:pPr>
            <a:r>
              <a:rPr lang="en-US" sz="950" dirty="0">
                <a:solidFill>
                  <a:srgbClr val="333A56"/>
                </a:solidFill>
                <a:latin typeface="Calibri" panose="020F0502020204030204" pitchFamily="34" charset="0"/>
                <a:ea typeface="Calibri" panose="020F0502020204030204" pitchFamily="34" charset="-122"/>
                <a:cs typeface="Calibri" panose="020F0502020204030204" pitchFamily="34" charset="-120"/>
              </a:rPr>
              <a:t>Stay within the supplied material.</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41B3D"/>
        </a:solidFill>
        <a:effectLst/>
      </p:bgPr>
    </p:bg>
    <p:spTree>
      <p:nvGrpSpPr>
        <p:cNvPr id="1" name=""/>
        <p:cNvGrpSpPr/>
        <p:nvPr/>
      </p:nvGrpSpPr>
      <p:grpSpPr>
        <a:xfrm>
          <a:off x="0" y="0"/>
          <a:ext cx="0" cy="0"/>
          <a:chOff x="0" y="0"/>
          <a:chExt cx="0" cy="0"/>
        </a:xfrm>
      </p:grpSpPr>
      <p:sp>
        <p:nvSpPr>
          <p:cNvPr id="2" name="Shape 0"/>
          <p:cNvSpPr/>
          <p:nvPr/>
        </p:nvSpPr>
        <p:spPr>
          <a:xfrm>
            <a:off x="-502920" y="-502920"/>
            <a:ext cx="1371600" cy="1371600"/>
          </a:xfrm>
          <a:prstGeom prst="ellipse">
            <a:avLst/>
          </a:prstGeom>
          <a:solidFill>
            <a:srgbClr val="2E8B8B">
              <a:alpha val="55000"/>
            </a:srgbClr>
          </a:solidFill>
        </p:spPr>
      </p:sp>
      <p:sp>
        <p:nvSpPr>
          <p:cNvPr id="3" name="Shape 1"/>
          <p:cNvSpPr/>
          <p:nvPr/>
        </p:nvSpPr>
        <p:spPr>
          <a:xfrm>
            <a:off x="8366760" y="4343400"/>
            <a:ext cx="1280160" cy="1280160"/>
          </a:xfrm>
          <a:prstGeom prst="ellipse">
            <a:avLst/>
          </a:prstGeom>
          <a:solidFill>
            <a:srgbClr val="E0A458">
              <a:alpha val="55000"/>
            </a:srgbClr>
          </a:solidFill>
        </p:spPr>
      </p:sp>
      <p:sp>
        <p:nvSpPr>
          <p:cNvPr id="4" name="Shape 2"/>
          <p:cNvSpPr/>
          <p:nvPr/>
        </p:nvSpPr>
        <p:spPr>
          <a:xfrm>
            <a:off x="256032" y="242189"/>
            <a:ext cx="8631936" cy="4672584"/>
          </a:xfrm>
          <a:prstGeom prst="roundRect">
            <a:avLst>
              <a:gd name="adj" fmla="val 2348"/>
            </a:avLst>
          </a:prstGeom>
          <a:solidFill>
            <a:srgbClr val="FBF8F3"/>
          </a:solidFill>
          <a:ln w="12700">
            <a:solidFill>
              <a:srgbClr val="FFFFFF"/>
            </a:solidFill>
            <a:prstDash val="solid"/>
          </a:ln>
          <a:effectLst>
            <a:outerShdw blurRad="152400" dist="25400" dir="5400000" algn="bl" rotWithShape="0">
              <a:srgbClr val="000000">
                <a:alpha val="25000"/>
              </a:srgbClr>
            </a:outerShdw>
          </a:effectLst>
        </p:spPr>
      </p:sp>
      <p:sp>
        <p:nvSpPr>
          <p:cNvPr id="5" name="Text 3"/>
          <p:cNvSpPr txBox="1"/>
          <p:nvPr/>
        </p:nvSpPr>
        <p:spPr>
          <a:xfrm>
            <a:off x="530352" y="384048"/>
            <a:ext cx="8083296" cy="502920"/>
          </a:xfrm>
          <a:prstGeom prst="rect">
            <a:avLst/>
          </a:prstGeom>
          <a:noFill/>
        </p:spPr>
        <p:txBody>
          <a:bodyPr wrap="square" lIns="0" tIns="0" rIns="0" bIns="0" rtlCol="0" anchor="ctr"/>
          <a:lstStyle/>
          <a:p>
            <a:pPr marL="0" indent="0" algn="ctr">
              <a:buNone/>
            </a:pPr>
            <a:r>
              <a:rPr lang="en-US" sz="2800" b="1" dirty="0">
                <a:solidFill>
                  <a:srgbClr val="141B3D"/>
                </a:solidFill>
                <a:latin typeface="Cambria" panose="02040503050406030204" pitchFamily="34" charset="0"/>
                <a:ea typeface="Cambria" panose="02040503050406030204" pitchFamily="34" charset="-122"/>
                <a:cs typeface="Cambria" panose="02040503050406030204" pitchFamily="34" charset="-120"/>
              </a:rPr>
              <a:t>MODULES</a:t>
            </a:r>
            <a:endParaRPr lang="en-US" sz="2800" dirty="0"/>
          </a:p>
        </p:txBody>
      </p:sp>
      <p:sp>
        <p:nvSpPr>
          <p:cNvPr id="6" name="Shape 4"/>
          <p:cNvSpPr/>
          <p:nvPr/>
        </p:nvSpPr>
        <p:spPr>
          <a:xfrm>
            <a:off x="640080" y="1051560"/>
            <a:ext cx="3931920" cy="987552"/>
          </a:xfrm>
          <a:prstGeom prst="roundRect">
            <a:avLst>
              <a:gd name="adj" fmla="val 6481"/>
            </a:avLst>
          </a:prstGeom>
          <a:solidFill>
            <a:srgbClr val="141B3D">
              <a:alpha val="7000"/>
            </a:srgbClr>
          </a:solidFill>
        </p:spPr>
      </p:sp>
      <p:sp>
        <p:nvSpPr>
          <p:cNvPr id="7" name="Text 5"/>
          <p:cNvSpPr txBox="1"/>
          <p:nvPr/>
        </p:nvSpPr>
        <p:spPr>
          <a:xfrm>
            <a:off x="786384" y="1143000"/>
            <a:ext cx="3657600" cy="237744"/>
          </a:xfrm>
          <a:prstGeom prst="rect">
            <a:avLst/>
          </a:prstGeom>
          <a:noFill/>
        </p:spPr>
        <p:txBody>
          <a:bodyPr wrap="square" lIns="0" tIns="0" rIns="0" bIns="0" rtlCol="0" anchor="ctr"/>
          <a:lstStyle/>
          <a:p>
            <a:pPr marL="0" indent="0">
              <a:buNone/>
            </a:pPr>
            <a:r>
              <a:rPr lang="en-US" sz="1200" b="1" dirty="0">
                <a:solidFill>
                  <a:srgbClr val="141B3D"/>
                </a:solidFill>
                <a:latin typeface="Calibri" panose="020F0502020204030204" pitchFamily="34" charset="0"/>
                <a:ea typeface="Calibri" panose="020F0502020204030204" pitchFamily="34" charset="-122"/>
                <a:cs typeface="Calibri" panose="020F0502020204030204" pitchFamily="34" charset="-120"/>
              </a:rPr>
              <a:t>Authentication Module</a:t>
            </a:r>
            <a:endParaRPr lang="en-US" sz="1200" dirty="0"/>
          </a:p>
        </p:txBody>
      </p:sp>
      <p:sp>
        <p:nvSpPr>
          <p:cNvPr id="8" name="Text 6"/>
          <p:cNvSpPr txBox="1"/>
          <p:nvPr/>
        </p:nvSpPr>
        <p:spPr>
          <a:xfrm>
            <a:off x="786384" y="1389888"/>
            <a:ext cx="3657600" cy="585216"/>
          </a:xfrm>
          <a:prstGeom prst="rect">
            <a:avLst/>
          </a:prstGeom>
          <a:noFill/>
        </p:spPr>
        <p:txBody>
          <a:bodyPr wrap="square" lIns="0" tIns="0" rIns="0" bIns="0" rtlCol="0" anchor="ctr"/>
          <a:lstStyle/>
          <a:p>
            <a:pPr marL="0" indent="0">
              <a:buNone/>
            </a:pPr>
            <a:r>
              <a:rPr lang="en-US" sz="1000" dirty="0">
                <a:solidFill>
                  <a:srgbClr val="333A56"/>
                </a:solidFill>
                <a:latin typeface="Calibri" panose="020F0502020204030204" pitchFamily="34" charset="0"/>
                <a:ea typeface="Calibri" panose="020F0502020204030204" pitchFamily="34" charset="-122"/>
                <a:cs typeface="Calibri" panose="020F0502020204030204" pitchFamily="34" charset="-120"/>
              </a:rPr>
              <a:t>Registration, login and JWT-based session handling, so each student's workspaces and documents stay private.</a:t>
            </a:r>
            <a:endParaRPr lang="en-US" sz="1000" dirty="0"/>
          </a:p>
        </p:txBody>
      </p:sp>
      <p:sp>
        <p:nvSpPr>
          <p:cNvPr id="9" name="Shape 7"/>
          <p:cNvSpPr/>
          <p:nvPr/>
        </p:nvSpPr>
        <p:spPr>
          <a:xfrm>
            <a:off x="4800600" y="1051560"/>
            <a:ext cx="3931920" cy="987552"/>
          </a:xfrm>
          <a:prstGeom prst="roundRect">
            <a:avLst>
              <a:gd name="adj" fmla="val 6481"/>
            </a:avLst>
          </a:prstGeom>
          <a:solidFill>
            <a:srgbClr val="141B3D">
              <a:alpha val="7000"/>
            </a:srgbClr>
          </a:solidFill>
        </p:spPr>
      </p:sp>
      <p:sp>
        <p:nvSpPr>
          <p:cNvPr id="10" name="Text 8"/>
          <p:cNvSpPr txBox="1"/>
          <p:nvPr/>
        </p:nvSpPr>
        <p:spPr>
          <a:xfrm>
            <a:off x="4946904" y="1143000"/>
            <a:ext cx="3657600" cy="237744"/>
          </a:xfrm>
          <a:prstGeom prst="rect">
            <a:avLst/>
          </a:prstGeom>
          <a:noFill/>
        </p:spPr>
        <p:txBody>
          <a:bodyPr wrap="square" lIns="0" tIns="0" rIns="0" bIns="0" rtlCol="0" anchor="ctr"/>
          <a:lstStyle/>
          <a:p>
            <a:pPr marL="0" indent="0">
              <a:buNone/>
            </a:pPr>
            <a:r>
              <a:rPr lang="en-US" sz="1200" b="1" dirty="0">
                <a:solidFill>
                  <a:srgbClr val="141B3D"/>
                </a:solidFill>
                <a:latin typeface="Calibri" panose="020F0502020204030204" pitchFamily="34" charset="0"/>
                <a:ea typeface="Calibri" panose="020F0502020204030204" pitchFamily="34" charset="-122"/>
                <a:cs typeface="Calibri" panose="020F0502020204030204" pitchFamily="34" charset="-120"/>
              </a:rPr>
              <a:t>Workspace Module</a:t>
            </a:r>
            <a:endParaRPr lang="en-US" sz="1200" dirty="0"/>
          </a:p>
        </p:txBody>
      </p:sp>
      <p:sp>
        <p:nvSpPr>
          <p:cNvPr id="11" name="Text 9"/>
          <p:cNvSpPr txBox="1"/>
          <p:nvPr/>
        </p:nvSpPr>
        <p:spPr>
          <a:xfrm>
            <a:off x="4946904" y="1389888"/>
            <a:ext cx="3657600" cy="585216"/>
          </a:xfrm>
          <a:prstGeom prst="rect">
            <a:avLst/>
          </a:prstGeom>
          <a:noFill/>
        </p:spPr>
        <p:txBody>
          <a:bodyPr wrap="square" lIns="0" tIns="0" rIns="0" bIns="0" rtlCol="0" anchor="ctr"/>
          <a:lstStyle/>
          <a:p>
            <a:pPr marL="0" indent="0">
              <a:buNone/>
            </a:pPr>
            <a:r>
              <a:rPr lang="en-US" sz="1000" dirty="0">
                <a:solidFill>
                  <a:srgbClr val="333A56"/>
                </a:solidFill>
                <a:latin typeface="Calibri" panose="020F0502020204030204" pitchFamily="34" charset="0"/>
                <a:ea typeface="Calibri" panose="020F0502020204030204" pitchFamily="34" charset="-122"/>
                <a:cs typeface="Calibri" panose="020F0502020204030204" pitchFamily="34" charset="-120"/>
              </a:rPr>
              <a:t>Creating, listing and opening subject workspaces; scopes all material and generated content to one subject.</a:t>
            </a:r>
            <a:endParaRPr lang="en-US" sz="1000" dirty="0"/>
          </a:p>
        </p:txBody>
      </p:sp>
      <p:sp>
        <p:nvSpPr>
          <p:cNvPr id="12" name="Shape 10"/>
          <p:cNvSpPr/>
          <p:nvPr/>
        </p:nvSpPr>
        <p:spPr>
          <a:xfrm>
            <a:off x="640080" y="2167128"/>
            <a:ext cx="3931920" cy="987552"/>
          </a:xfrm>
          <a:prstGeom prst="roundRect">
            <a:avLst>
              <a:gd name="adj" fmla="val 6481"/>
            </a:avLst>
          </a:prstGeom>
          <a:solidFill>
            <a:srgbClr val="2E8B8B">
              <a:alpha val="7000"/>
            </a:srgbClr>
          </a:solidFill>
        </p:spPr>
      </p:sp>
      <p:sp>
        <p:nvSpPr>
          <p:cNvPr id="13" name="Text 11"/>
          <p:cNvSpPr txBox="1"/>
          <p:nvPr/>
        </p:nvSpPr>
        <p:spPr>
          <a:xfrm>
            <a:off x="786384" y="2258568"/>
            <a:ext cx="3657600" cy="237744"/>
          </a:xfrm>
          <a:prstGeom prst="rect">
            <a:avLst/>
          </a:prstGeom>
          <a:noFill/>
        </p:spPr>
        <p:txBody>
          <a:bodyPr wrap="square" lIns="0" tIns="0" rIns="0" bIns="0" rtlCol="0" anchor="ctr"/>
          <a:lstStyle/>
          <a:p>
            <a:pPr marL="0" indent="0">
              <a:buNone/>
            </a:pPr>
            <a:r>
              <a:rPr lang="en-US" sz="1200" b="1" dirty="0">
                <a:solidFill>
                  <a:srgbClr val="141B3D"/>
                </a:solidFill>
                <a:latin typeface="Calibri" panose="020F0502020204030204" pitchFamily="34" charset="0"/>
                <a:ea typeface="Calibri" panose="020F0502020204030204" pitchFamily="34" charset="-122"/>
                <a:cs typeface="Calibri" panose="020F0502020204030204" pitchFamily="34" charset="-120"/>
              </a:rPr>
              <a:t>Document Processing Module</a:t>
            </a:r>
            <a:endParaRPr lang="en-US" sz="1200" dirty="0"/>
          </a:p>
        </p:txBody>
      </p:sp>
      <p:sp>
        <p:nvSpPr>
          <p:cNvPr id="14" name="Text 12"/>
          <p:cNvSpPr txBox="1"/>
          <p:nvPr/>
        </p:nvSpPr>
        <p:spPr>
          <a:xfrm>
            <a:off x="786384" y="2505456"/>
            <a:ext cx="3657600" cy="585216"/>
          </a:xfrm>
          <a:prstGeom prst="rect">
            <a:avLst/>
          </a:prstGeom>
          <a:noFill/>
        </p:spPr>
        <p:txBody>
          <a:bodyPr wrap="square" lIns="0" tIns="0" rIns="0" bIns="0" rtlCol="0" anchor="ctr"/>
          <a:lstStyle/>
          <a:p>
            <a:pPr marL="0" indent="0">
              <a:buNone/>
            </a:pPr>
            <a:r>
              <a:rPr lang="en-US" sz="1000" dirty="0">
                <a:solidFill>
                  <a:srgbClr val="333A56"/>
                </a:solidFill>
                <a:latin typeface="Calibri" panose="020F0502020204030204" pitchFamily="34" charset="0"/>
                <a:ea typeface="Calibri" panose="020F0502020204030204" pitchFamily="34" charset="-122"/>
                <a:cs typeface="Calibri" panose="020F0502020204030204" pitchFamily="34" charset="-120"/>
              </a:rPr>
              <a:t>Upload handling, file-type detection, and text extraction through PyPDF2 and python-docx.</a:t>
            </a:r>
            <a:endParaRPr lang="en-US" sz="1000" dirty="0"/>
          </a:p>
        </p:txBody>
      </p:sp>
      <p:sp>
        <p:nvSpPr>
          <p:cNvPr id="15" name="Shape 13"/>
          <p:cNvSpPr/>
          <p:nvPr/>
        </p:nvSpPr>
        <p:spPr>
          <a:xfrm>
            <a:off x="4800600" y="2167128"/>
            <a:ext cx="3931920" cy="987552"/>
          </a:xfrm>
          <a:prstGeom prst="roundRect">
            <a:avLst>
              <a:gd name="adj" fmla="val 6481"/>
            </a:avLst>
          </a:prstGeom>
          <a:solidFill>
            <a:srgbClr val="2E8B8B">
              <a:alpha val="7000"/>
            </a:srgbClr>
          </a:solidFill>
        </p:spPr>
      </p:sp>
      <p:sp>
        <p:nvSpPr>
          <p:cNvPr id="16" name="Text 14"/>
          <p:cNvSpPr txBox="1"/>
          <p:nvPr/>
        </p:nvSpPr>
        <p:spPr>
          <a:xfrm>
            <a:off x="4946904" y="2258568"/>
            <a:ext cx="3657600" cy="237744"/>
          </a:xfrm>
          <a:prstGeom prst="rect">
            <a:avLst/>
          </a:prstGeom>
          <a:noFill/>
        </p:spPr>
        <p:txBody>
          <a:bodyPr wrap="square" lIns="0" tIns="0" rIns="0" bIns="0" rtlCol="0" anchor="ctr"/>
          <a:lstStyle/>
          <a:p>
            <a:pPr marL="0" indent="0">
              <a:buNone/>
            </a:pPr>
            <a:r>
              <a:rPr lang="en-US" sz="1200" b="1" dirty="0">
                <a:solidFill>
                  <a:srgbClr val="141B3D"/>
                </a:solidFill>
                <a:latin typeface="Calibri" panose="020F0502020204030204" pitchFamily="34" charset="0"/>
                <a:ea typeface="Calibri" panose="020F0502020204030204" pitchFamily="34" charset="-122"/>
                <a:cs typeface="Calibri" panose="020F0502020204030204" pitchFamily="34" charset="-120"/>
              </a:rPr>
              <a:t>Gemini Integration Module</a:t>
            </a:r>
            <a:endParaRPr lang="en-US" sz="1200" dirty="0"/>
          </a:p>
        </p:txBody>
      </p:sp>
      <p:sp>
        <p:nvSpPr>
          <p:cNvPr id="17" name="Text 15"/>
          <p:cNvSpPr txBox="1"/>
          <p:nvPr/>
        </p:nvSpPr>
        <p:spPr>
          <a:xfrm>
            <a:off x="4946904" y="2505456"/>
            <a:ext cx="3657600" cy="585216"/>
          </a:xfrm>
          <a:prstGeom prst="rect">
            <a:avLst/>
          </a:prstGeom>
          <a:noFill/>
        </p:spPr>
        <p:txBody>
          <a:bodyPr wrap="square" lIns="0" tIns="0" rIns="0" bIns="0" rtlCol="0" anchor="ctr"/>
          <a:lstStyle/>
          <a:p>
            <a:pPr marL="0" indent="0">
              <a:buNone/>
            </a:pPr>
            <a:r>
              <a:rPr lang="en-US" sz="1000" dirty="0">
                <a:solidFill>
                  <a:srgbClr val="333A56"/>
                </a:solidFill>
                <a:latin typeface="Calibri" panose="020F0502020204030204" pitchFamily="34" charset="0"/>
                <a:ea typeface="Calibri" panose="020F0502020204030204" pitchFamily="34" charset="-122"/>
                <a:cs typeface="Calibri" panose="020F0502020204030204" pitchFamily="34" charset="-120"/>
              </a:rPr>
              <a:t>Builds task-specific prompts, calls the Google Gemini API, and parses the structured response.</a:t>
            </a:r>
            <a:endParaRPr lang="en-US" sz="1000" dirty="0"/>
          </a:p>
        </p:txBody>
      </p:sp>
      <p:sp>
        <p:nvSpPr>
          <p:cNvPr id="18" name="Shape 16"/>
          <p:cNvSpPr/>
          <p:nvPr/>
        </p:nvSpPr>
        <p:spPr>
          <a:xfrm>
            <a:off x="640080" y="3282696"/>
            <a:ext cx="3931920" cy="987552"/>
          </a:xfrm>
          <a:prstGeom prst="roundRect">
            <a:avLst>
              <a:gd name="adj" fmla="val 6481"/>
            </a:avLst>
          </a:prstGeom>
          <a:solidFill>
            <a:srgbClr val="E0A458">
              <a:alpha val="7000"/>
            </a:srgbClr>
          </a:solidFill>
        </p:spPr>
      </p:sp>
      <p:sp>
        <p:nvSpPr>
          <p:cNvPr id="19" name="Text 17"/>
          <p:cNvSpPr txBox="1"/>
          <p:nvPr/>
        </p:nvSpPr>
        <p:spPr>
          <a:xfrm>
            <a:off x="786384" y="3374136"/>
            <a:ext cx="3657600" cy="237744"/>
          </a:xfrm>
          <a:prstGeom prst="rect">
            <a:avLst/>
          </a:prstGeom>
          <a:noFill/>
        </p:spPr>
        <p:txBody>
          <a:bodyPr wrap="square" lIns="0" tIns="0" rIns="0" bIns="0" rtlCol="0" anchor="ctr"/>
          <a:lstStyle/>
          <a:p>
            <a:pPr marL="0" indent="0">
              <a:buNone/>
            </a:pPr>
            <a:r>
              <a:rPr lang="en-US" sz="1200" b="1" dirty="0">
                <a:solidFill>
                  <a:srgbClr val="141B3D"/>
                </a:solidFill>
                <a:latin typeface="Calibri" panose="020F0502020204030204" pitchFamily="34" charset="0"/>
                <a:ea typeface="Calibri" panose="020F0502020204030204" pitchFamily="34" charset="-122"/>
                <a:cs typeface="Calibri" panose="020F0502020204030204" pitchFamily="34" charset="-120"/>
              </a:rPr>
              <a:t>Learning Resource Module</a:t>
            </a:r>
            <a:endParaRPr lang="en-US" sz="1200" dirty="0"/>
          </a:p>
        </p:txBody>
      </p:sp>
      <p:sp>
        <p:nvSpPr>
          <p:cNvPr id="20" name="Text 18"/>
          <p:cNvSpPr txBox="1"/>
          <p:nvPr/>
        </p:nvSpPr>
        <p:spPr>
          <a:xfrm>
            <a:off x="786384" y="3621024"/>
            <a:ext cx="3657600" cy="585216"/>
          </a:xfrm>
          <a:prstGeom prst="rect">
            <a:avLst/>
          </a:prstGeom>
          <a:noFill/>
        </p:spPr>
        <p:txBody>
          <a:bodyPr wrap="square" lIns="0" tIns="0" rIns="0" bIns="0" rtlCol="0" anchor="ctr"/>
          <a:lstStyle/>
          <a:p>
            <a:pPr marL="0" indent="0">
              <a:buNone/>
            </a:pPr>
            <a:r>
              <a:rPr lang="en-US" sz="1000" dirty="0">
                <a:solidFill>
                  <a:srgbClr val="333A56"/>
                </a:solidFill>
                <a:latin typeface="Calibri" panose="020F0502020204030204" pitchFamily="34" charset="0"/>
                <a:ea typeface="Calibri" panose="020F0502020204030204" pitchFamily="34" charset="-122"/>
                <a:cs typeface="Calibri" panose="020F0502020204030204" pitchFamily="34" charset="-120"/>
              </a:rPr>
              <a:t>Produces AI chat, revision notes,  concept roadmaps and logic-flow explanations.</a:t>
            </a:r>
            <a:endParaRPr lang="en-US" sz="1000" dirty="0"/>
          </a:p>
        </p:txBody>
      </p:sp>
      <p:sp>
        <p:nvSpPr>
          <p:cNvPr id="21" name="Shape 19"/>
          <p:cNvSpPr/>
          <p:nvPr/>
        </p:nvSpPr>
        <p:spPr>
          <a:xfrm>
            <a:off x="4800600" y="3282696"/>
            <a:ext cx="3931920" cy="987552"/>
          </a:xfrm>
          <a:prstGeom prst="roundRect">
            <a:avLst>
              <a:gd name="adj" fmla="val 6481"/>
            </a:avLst>
          </a:prstGeom>
          <a:solidFill>
            <a:srgbClr val="E0A458">
              <a:alpha val="7000"/>
            </a:srgbClr>
          </a:solidFill>
        </p:spPr>
      </p:sp>
      <p:sp>
        <p:nvSpPr>
          <p:cNvPr id="22" name="Text 20"/>
          <p:cNvSpPr txBox="1"/>
          <p:nvPr/>
        </p:nvSpPr>
        <p:spPr>
          <a:xfrm>
            <a:off x="4946904" y="3374136"/>
            <a:ext cx="3657600" cy="237744"/>
          </a:xfrm>
          <a:prstGeom prst="rect">
            <a:avLst/>
          </a:prstGeom>
          <a:noFill/>
        </p:spPr>
        <p:txBody>
          <a:bodyPr wrap="square" lIns="0" tIns="0" rIns="0" bIns="0" rtlCol="0" anchor="ctr"/>
          <a:lstStyle/>
          <a:p>
            <a:pPr marL="0" indent="0">
              <a:buNone/>
            </a:pPr>
            <a:r>
              <a:rPr lang="en-US" sz="1200" b="1" dirty="0">
                <a:solidFill>
                  <a:srgbClr val="141B3D"/>
                </a:solidFill>
                <a:latin typeface="Calibri" panose="020F0502020204030204" pitchFamily="34" charset="0"/>
                <a:ea typeface="Calibri" panose="020F0502020204030204" pitchFamily="34" charset="-122"/>
                <a:cs typeface="Calibri" panose="020F0502020204030204" pitchFamily="34" charset="-120"/>
              </a:rPr>
              <a:t>Persistence &amp; Progress Module</a:t>
            </a:r>
            <a:endParaRPr lang="en-US" sz="1200" dirty="0"/>
          </a:p>
        </p:txBody>
      </p:sp>
      <p:sp>
        <p:nvSpPr>
          <p:cNvPr id="23" name="Text 21"/>
          <p:cNvSpPr txBox="1"/>
          <p:nvPr/>
        </p:nvSpPr>
        <p:spPr>
          <a:xfrm>
            <a:off x="4946904" y="3621024"/>
            <a:ext cx="3657600" cy="585216"/>
          </a:xfrm>
          <a:prstGeom prst="rect">
            <a:avLst/>
          </a:prstGeom>
          <a:noFill/>
        </p:spPr>
        <p:txBody>
          <a:bodyPr wrap="square" lIns="0" tIns="0" rIns="0" bIns="0" rtlCol="0" anchor="ctr"/>
          <a:lstStyle/>
          <a:p>
            <a:pPr marL="0" indent="0">
              <a:buNone/>
            </a:pPr>
            <a:r>
              <a:rPr lang="en-US" sz="1000" dirty="0">
                <a:solidFill>
                  <a:srgbClr val="333A56"/>
                </a:solidFill>
                <a:latin typeface="Calibri" panose="020F0502020204030204" pitchFamily="34" charset="0"/>
                <a:ea typeface="Calibri" panose="020F0502020204030204" pitchFamily="34" charset="-122"/>
                <a:cs typeface="Calibri" panose="020F0502020204030204" pitchFamily="34" charset="-120"/>
              </a:rPr>
              <a:t>Stores documents, extracted text, chat history and generated content in PostgreSQL and tracks roadmap progress.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41B3D"/>
        </a:solidFill>
        <a:effectLst/>
      </p:bgPr>
    </p:bg>
    <p:spTree>
      <p:nvGrpSpPr>
        <p:cNvPr id="1" name=""/>
        <p:cNvGrpSpPr/>
        <p:nvPr/>
      </p:nvGrpSpPr>
      <p:grpSpPr>
        <a:xfrm>
          <a:off x="0" y="0"/>
          <a:ext cx="0" cy="0"/>
          <a:chOff x="0" y="0"/>
          <a:chExt cx="0" cy="0"/>
        </a:xfrm>
      </p:grpSpPr>
      <p:sp>
        <p:nvSpPr>
          <p:cNvPr id="2" name="Shape 0"/>
          <p:cNvSpPr/>
          <p:nvPr/>
        </p:nvSpPr>
        <p:spPr>
          <a:xfrm>
            <a:off x="-502920" y="-502920"/>
            <a:ext cx="1371600" cy="1371600"/>
          </a:xfrm>
          <a:prstGeom prst="ellipse">
            <a:avLst/>
          </a:prstGeom>
          <a:solidFill>
            <a:srgbClr val="2E8B8B">
              <a:alpha val="55000"/>
            </a:srgbClr>
          </a:solidFill>
        </p:spPr>
      </p:sp>
      <p:sp>
        <p:nvSpPr>
          <p:cNvPr id="3" name="Shape 1"/>
          <p:cNvSpPr/>
          <p:nvPr/>
        </p:nvSpPr>
        <p:spPr>
          <a:xfrm>
            <a:off x="8366760" y="4343400"/>
            <a:ext cx="1280160" cy="1280160"/>
          </a:xfrm>
          <a:prstGeom prst="ellipse">
            <a:avLst/>
          </a:prstGeom>
          <a:solidFill>
            <a:srgbClr val="E0A458">
              <a:alpha val="55000"/>
            </a:srgbClr>
          </a:solidFill>
        </p:spPr>
      </p:sp>
      <p:sp>
        <p:nvSpPr>
          <p:cNvPr id="4" name="Shape 2"/>
          <p:cNvSpPr/>
          <p:nvPr/>
        </p:nvSpPr>
        <p:spPr>
          <a:xfrm>
            <a:off x="256032" y="237744"/>
            <a:ext cx="8631936" cy="4672584"/>
          </a:xfrm>
          <a:prstGeom prst="roundRect">
            <a:avLst>
              <a:gd name="adj" fmla="val 2348"/>
            </a:avLst>
          </a:prstGeom>
          <a:solidFill>
            <a:srgbClr val="FBF8F3"/>
          </a:solidFill>
          <a:ln w="12700">
            <a:solidFill>
              <a:srgbClr val="FFFFFF"/>
            </a:solidFill>
            <a:prstDash val="solid"/>
          </a:ln>
          <a:effectLst>
            <a:outerShdw blurRad="152400" dist="25400" dir="5400000" algn="bl" rotWithShape="0">
              <a:srgbClr val="000000">
                <a:alpha val="25000"/>
              </a:srgbClr>
            </a:outerShdw>
          </a:effectLst>
        </p:spPr>
      </p:sp>
      <p:sp>
        <p:nvSpPr>
          <p:cNvPr id="5" name="Text 3"/>
          <p:cNvSpPr txBox="1"/>
          <p:nvPr/>
        </p:nvSpPr>
        <p:spPr>
          <a:xfrm>
            <a:off x="530352" y="384048"/>
            <a:ext cx="8083296" cy="502920"/>
          </a:xfrm>
          <a:prstGeom prst="rect">
            <a:avLst/>
          </a:prstGeom>
          <a:noFill/>
        </p:spPr>
        <p:txBody>
          <a:bodyPr wrap="square" lIns="0" tIns="0" rIns="0" bIns="0" rtlCol="0" anchor="ctr"/>
          <a:lstStyle/>
          <a:p>
            <a:pPr marL="0" indent="0" algn="ctr">
              <a:buNone/>
            </a:pPr>
            <a:r>
              <a:rPr lang="en-US" sz="2800" b="1" dirty="0">
                <a:solidFill>
                  <a:srgbClr val="141B3D"/>
                </a:solidFill>
                <a:latin typeface="Cambria" panose="02040503050406030204" pitchFamily="34" charset="0"/>
                <a:ea typeface="Cambria" panose="02040503050406030204" pitchFamily="34" charset="-122"/>
                <a:cs typeface="Cambria" panose="02040503050406030204" pitchFamily="34" charset="-120"/>
              </a:rPr>
              <a:t>KEY ACHIEVEMENTS</a:t>
            </a:r>
            <a:endParaRPr lang="en-US" sz="2800" dirty="0"/>
          </a:p>
        </p:txBody>
      </p:sp>
      <p:sp>
        <p:nvSpPr>
          <p:cNvPr id="6" name="Text 4"/>
          <p:cNvSpPr txBox="1"/>
          <p:nvPr/>
        </p:nvSpPr>
        <p:spPr>
          <a:xfrm>
            <a:off x="667512" y="1097280"/>
            <a:ext cx="4754880" cy="3017520"/>
          </a:xfrm>
          <a:prstGeom prst="rect">
            <a:avLst/>
          </a:prstGeom>
          <a:noFill/>
        </p:spPr>
        <p:txBody>
          <a:bodyPr wrap="square" lIns="0" tIns="0" rIns="0" bIns="0" rtlCol="0" anchor="t"/>
          <a:lstStyle/>
          <a:p>
            <a:pPr marL="177800" indent="-177800">
              <a:spcAft>
                <a:spcPts val="700"/>
              </a:spcAft>
              <a:buSzPct val="100000"/>
              <a:buChar char="•"/>
            </a:pPr>
            <a:r>
              <a:rPr lang="en-US" sz="1250" dirty="0">
                <a:solidFill>
                  <a:srgbClr val="333A56"/>
                </a:solidFill>
                <a:latin typeface="Calibri" panose="020F0502020204030204" pitchFamily="34" charset="0"/>
                <a:ea typeface="Calibri" panose="020F0502020204030204" pitchFamily="34" charset="-122"/>
                <a:cs typeface="Calibri" panose="020F0502020204030204" pitchFamily="34" charset="-120"/>
              </a:rPr>
              <a:t>Working end-to-end application — login, workspace, upload, generation and storage.</a:t>
            </a:r>
            <a:endParaRPr lang="en-US" sz="1250" dirty="0"/>
          </a:p>
          <a:p>
            <a:pPr marL="177800" indent="-177800">
              <a:spcAft>
                <a:spcPts val="700"/>
              </a:spcAft>
              <a:buSzPct val="100000"/>
              <a:buChar char="•"/>
            </a:pPr>
            <a:r>
              <a:rPr lang="en-US" sz="1250" dirty="0">
                <a:solidFill>
                  <a:srgbClr val="333A56"/>
                </a:solidFill>
                <a:latin typeface="Calibri" panose="020F0502020204030204" pitchFamily="34" charset="0"/>
                <a:ea typeface="Calibri" panose="020F0502020204030204" pitchFamily="34" charset="-122"/>
                <a:cs typeface="Calibri" panose="020F0502020204030204" pitchFamily="34" charset="-120"/>
              </a:rPr>
              <a:t>Reliable text extraction from both PDF and DOCX material using PyPDF2 and python-docx.</a:t>
            </a:r>
            <a:endParaRPr lang="en-US" sz="1250" dirty="0"/>
          </a:p>
          <a:p>
            <a:pPr marL="177800" indent="-177800">
              <a:spcAft>
                <a:spcPts val="700"/>
              </a:spcAft>
              <a:buSzPct val="100000"/>
              <a:buChar char="•"/>
            </a:pPr>
            <a:r>
              <a:rPr lang="en-US" sz="1250" dirty="0">
                <a:solidFill>
                  <a:srgbClr val="333A56"/>
                </a:solidFill>
                <a:latin typeface="Calibri" panose="020F0502020204030204" pitchFamily="34" charset="0"/>
                <a:ea typeface="Calibri" panose="020F0502020204030204" pitchFamily="34" charset="-122"/>
                <a:cs typeface="Calibri" panose="020F0502020204030204" pitchFamily="34" charset="-120"/>
              </a:rPr>
              <a:t>Six learning resources generated from one upload: chat, notes,  roadmap, logic flow.</a:t>
            </a:r>
            <a:endParaRPr lang="en-US" sz="1250" dirty="0"/>
          </a:p>
          <a:p>
            <a:pPr marL="177800" indent="-177800">
              <a:spcAft>
                <a:spcPts val="700"/>
              </a:spcAft>
              <a:buSzPct val="100000"/>
              <a:buChar char="•"/>
            </a:pPr>
            <a:r>
              <a:rPr lang="en-US" sz="1250" dirty="0">
                <a:solidFill>
                  <a:srgbClr val="333A56"/>
                </a:solidFill>
                <a:latin typeface="Calibri" panose="020F0502020204030204" pitchFamily="34" charset="0"/>
                <a:ea typeface="Calibri" panose="020F0502020204030204" pitchFamily="34" charset="-122"/>
                <a:cs typeface="Calibri" panose="020F0502020204030204" pitchFamily="34" charset="-120"/>
              </a:rPr>
              <a:t>Unit-wise concept syllabus panel with progress tracking and PDF export.</a:t>
            </a:r>
            <a:endParaRPr lang="en-US" sz="1250" dirty="0"/>
          </a:p>
          <a:p>
            <a:pPr marL="177800" indent="-177800">
              <a:spcAft>
                <a:spcPts val="700"/>
              </a:spcAft>
              <a:buSzPct val="100000"/>
              <a:buChar char="•"/>
            </a:pPr>
            <a:r>
              <a:rPr lang="en-US" sz="1250" dirty="0">
                <a:solidFill>
                  <a:srgbClr val="333A56"/>
                </a:solidFill>
                <a:latin typeface="Calibri" panose="020F0502020204030204" pitchFamily="34" charset="0"/>
                <a:ea typeface="Calibri" panose="020F0502020204030204" pitchFamily="34" charset="-122"/>
                <a:cs typeface="Calibri" panose="020F0502020204030204" pitchFamily="34" charset="-120"/>
              </a:rPr>
              <a:t>Secure JWT authentication with subject-scoped workspaces for each student.</a:t>
            </a:r>
            <a:endParaRPr lang="en-US" sz="1250" dirty="0"/>
          </a:p>
          <a:p>
            <a:pPr marL="177800" indent="-177800">
              <a:spcAft>
                <a:spcPts val="700"/>
              </a:spcAft>
              <a:buSzPct val="100000"/>
              <a:buChar char="•"/>
            </a:pPr>
            <a:r>
              <a:rPr lang="en-US" sz="1250" dirty="0">
                <a:solidFill>
                  <a:srgbClr val="333A56"/>
                </a:solidFill>
                <a:latin typeface="Calibri" panose="020F0502020204030204" pitchFamily="34" charset="0"/>
                <a:ea typeface="Calibri" panose="020F0502020204030204" pitchFamily="34" charset="-122"/>
                <a:cs typeface="Calibri" panose="020F0502020204030204" pitchFamily="34" charset="-120"/>
              </a:rPr>
              <a:t>Responsive React + Vite interface with dark/light mode and a built-in focus timer.</a:t>
            </a:r>
            <a:endParaRPr lang="en-US" sz="1250" dirty="0"/>
          </a:p>
        </p:txBody>
      </p:sp>
      <p:sp>
        <p:nvSpPr>
          <p:cNvPr id="9" name="Text 7"/>
          <p:cNvSpPr txBox="1"/>
          <p:nvPr/>
        </p:nvSpPr>
        <p:spPr>
          <a:xfrm>
            <a:off x="6720840" y="1138682"/>
            <a:ext cx="1645920" cy="731520"/>
          </a:xfrm>
          <a:prstGeom prst="rect">
            <a:avLst/>
          </a:prstGeom>
          <a:noFill/>
        </p:spPr>
        <p:txBody>
          <a:bodyPr wrap="square" lIns="0" tIns="0" rIns="0" bIns="0" rtlCol="0" anchor="ctr"/>
          <a:lstStyle/>
          <a:p>
            <a:pPr marL="0" indent="0">
              <a:buNone/>
            </a:pPr>
            <a:endParaRPr lang="en-US" sz="1100" dirty="0"/>
          </a:p>
        </p:txBody>
      </p:sp>
      <p:sp>
        <p:nvSpPr>
          <p:cNvPr id="12" name="Text 10"/>
          <p:cNvSpPr txBox="1"/>
          <p:nvPr/>
        </p:nvSpPr>
        <p:spPr>
          <a:xfrm>
            <a:off x="6812280" y="2194560"/>
            <a:ext cx="1645920" cy="731520"/>
          </a:xfrm>
          <a:prstGeom prst="rect">
            <a:avLst/>
          </a:prstGeom>
          <a:noFill/>
        </p:spPr>
        <p:txBody>
          <a:bodyPr wrap="square" lIns="0" tIns="0" rIns="0" bIns="0" rtlCol="0" anchor="ctr"/>
          <a:lstStyle/>
          <a:p>
            <a:pPr marL="0" indent="0">
              <a:buNone/>
            </a:pPr>
            <a:endParaRPr lang="en-US" sz="1100" dirty="0"/>
          </a:p>
        </p:txBody>
      </p:sp>
      <p:sp>
        <p:nvSpPr>
          <p:cNvPr id="15" name="Text 13"/>
          <p:cNvSpPr txBox="1"/>
          <p:nvPr/>
        </p:nvSpPr>
        <p:spPr>
          <a:xfrm>
            <a:off x="6812280" y="3218688"/>
            <a:ext cx="1645920" cy="731520"/>
          </a:xfrm>
          <a:prstGeom prst="rect">
            <a:avLst/>
          </a:prstGeom>
          <a:noFill/>
        </p:spPr>
        <p:txBody>
          <a:bodyPr wrap="square" lIns="0" tIns="0" rIns="0" bIns="0" rtlCol="0" anchor="ctr"/>
          <a:lstStyle/>
          <a:p>
            <a:pPr marL="0" indent="0">
              <a:buNone/>
            </a:pPr>
            <a:endParaRPr lang="en-US" sz="1100" dirty="0"/>
          </a:p>
        </p:txBody>
      </p:sp>
      <p:pic>
        <p:nvPicPr>
          <p:cNvPr id="17" name="Picture 16"/>
          <p:cNvPicPr/>
          <p:nvPr/>
        </p:nvPicPr>
        <p:blipFill>
          <a:blip r:embed="rId1"/>
          <a:stretch>
            <a:fillRect/>
          </a:stretch>
        </p:blipFill>
        <p:spPr>
          <a:xfrm>
            <a:off x="5318760" y="1179830"/>
            <a:ext cx="3569335" cy="278828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41B3D"/>
        </a:solidFill>
        <a:effectLst/>
      </p:bgPr>
    </p:bg>
    <p:spTree>
      <p:nvGrpSpPr>
        <p:cNvPr id="1" name=""/>
        <p:cNvGrpSpPr/>
        <p:nvPr/>
      </p:nvGrpSpPr>
      <p:grpSpPr>
        <a:xfrm>
          <a:off x="0" y="0"/>
          <a:ext cx="0" cy="0"/>
          <a:chOff x="0" y="0"/>
          <a:chExt cx="0" cy="0"/>
        </a:xfrm>
      </p:grpSpPr>
      <p:sp>
        <p:nvSpPr>
          <p:cNvPr id="2" name="Shape 0"/>
          <p:cNvSpPr/>
          <p:nvPr/>
        </p:nvSpPr>
        <p:spPr>
          <a:xfrm>
            <a:off x="-502920" y="-502920"/>
            <a:ext cx="1371600" cy="1371600"/>
          </a:xfrm>
          <a:prstGeom prst="ellipse">
            <a:avLst/>
          </a:prstGeom>
          <a:solidFill>
            <a:srgbClr val="2E8B8B">
              <a:alpha val="55000"/>
            </a:srgbClr>
          </a:solidFill>
        </p:spPr>
      </p:sp>
      <p:sp>
        <p:nvSpPr>
          <p:cNvPr id="3" name="Shape 1"/>
          <p:cNvSpPr/>
          <p:nvPr/>
        </p:nvSpPr>
        <p:spPr>
          <a:xfrm>
            <a:off x="8366760" y="4343400"/>
            <a:ext cx="1280160" cy="1280160"/>
          </a:xfrm>
          <a:prstGeom prst="ellipse">
            <a:avLst/>
          </a:prstGeom>
          <a:solidFill>
            <a:srgbClr val="E0A458">
              <a:alpha val="55000"/>
            </a:srgbClr>
          </a:solidFill>
        </p:spPr>
      </p:sp>
      <p:sp>
        <p:nvSpPr>
          <p:cNvPr id="4" name="Shape 2"/>
          <p:cNvSpPr/>
          <p:nvPr/>
        </p:nvSpPr>
        <p:spPr>
          <a:xfrm>
            <a:off x="256032" y="237744"/>
            <a:ext cx="8631936" cy="4672584"/>
          </a:xfrm>
          <a:prstGeom prst="roundRect">
            <a:avLst>
              <a:gd name="adj" fmla="val 2348"/>
            </a:avLst>
          </a:prstGeom>
          <a:solidFill>
            <a:srgbClr val="FBF8F3"/>
          </a:solidFill>
          <a:ln w="12700">
            <a:solidFill>
              <a:srgbClr val="FFFFFF"/>
            </a:solidFill>
            <a:prstDash val="solid"/>
          </a:ln>
          <a:effectLst>
            <a:outerShdw blurRad="152400" dist="25400" dir="5400000" algn="bl" rotWithShape="0">
              <a:srgbClr val="000000">
                <a:alpha val="25000"/>
              </a:srgbClr>
            </a:outerShdw>
          </a:effectLst>
        </p:spPr>
      </p:sp>
      <p:sp>
        <p:nvSpPr>
          <p:cNvPr id="5" name="Text 3"/>
          <p:cNvSpPr txBox="1"/>
          <p:nvPr/>
        </p:nvSpPr>
        <p:spPr>
          <a:xfrm>
            <a:off x="530352" y="384048"/>
            <a:ext cx="8083296" cy="502920"/>
          </a:xfrm>
          <a:prstGeom prst="rect">
            <a:avLst/>
          </a:prstGeom>
          <a:noFill/>
        </p:spPr>
        <p:txBody>
          <a:bodyPr wrap="square" lIns="0" tIns="0" rIns="0" bIns="0" rtlCol="0" anchor="ctr"/>
          <a:lstStyle/>
          <a:p>
            <a:pPr marL="0" indent="0" algn="ctr">
              <a:buNone/>
            </a:pPr>
            <a:r>
              <a:rPr lang="en-US" sz="2800" b="1" dirty="0">
                <a:solidFill>
                  <a:srgbClr val="141B3D"/>
                </a:solidFill>
                <a:latin typeface="Cambria" panose="02040503050406030204" pitchFamily="34" charset="0"/>
                <a:ea typeface="Cambria" panose="02040503050406030204" pitchFamily="34" charset="-122"/>
                <a:cs typeface="Cambria" panose="02040503050406030204" pitchFamily="34" charset="-120"/>
              </a:rPr>
              <a:t>SCREENSHOTS</a:t>
            </a:r>
            <a:endParaRPr lang="en-US" sz="2800" dirty="0"/>
          </a:p>
        </p:txBody>
      </p:sp>
      <p:sp>
        <p:nvSpPr>
          <p:cNvPr id="6" name="Text 4"/>
          <p:cNvSpPr txBox="1"/>
          <p:nvPr/>
        </p:nvSpPr>
        <p:spPr>
          <a:xfrm>
            <a:off x="621792" y="795528"/>
            <a:ext cx="7900416" cy="237744"/>
          </a:xfrm>
          <a:prstGeom prst="rect">
            <a:avLst/>
          </a:prstGeom>
          <a:noFill/>
        </p:spPr>
        <p:txBody>
          <a:bodyPr wrap="square" lIns="0" tIns="0" rIns="0" bIns="0" rtlCol="0" anchor="ctr"/>
          <a:lstStyle/>
          <a:p>
            <a:pPr marL="0" indent="0" algn="ctr">
              <a:buNone/>
            </a:pPr>
            <a:r>
              <a:rPr lang="en-US" sz="1150" i="1" dirty="0">
                <a:solidFill>
                  <a:srgbClr val="6B7280"/>
                </a:solidFill>
                <a:latin typeface="Calibri" panose="020F0502020204030204" pitchFamily="34" charset="0"/>
                <a:ea typeface="Calibri" panose="020F0502020204030204" pitchFamily="34" charset="-122"/>
                <a:cs typeface="Calibri" panose="020F0502020204030204" pitchFamily="34" charset="-120"/>
              </a:rPr>
              <a:t>Workspace selection — the student picks a subject or creates a new one</a:t>
            </a:r>
            <a:endParaRPr lang="en-US" sz="1150" dirty="0"/>
          </a:p>
        </p:txBody>
      </p:sp>
      <p:pic>
        <p:nvPicPr>
          <p:cNvPr id="7" name="Image 0" descr="/home/claude/shot1.png"/>
          <p:cNvPicPr>
            <a:picLocks noChangeAspect="1"/>
          </p:cNvPicPr>
          <p:nvPr/>
        </p:nvPicPr>
        <p:blipFill>
          <a:blip r:embed="rId1"/>
          <a:stretch>
            <a:fillRect/>
          </a:stretch>
        </p:blipFill>
        <p:spPr>
          <a:xfrm>
            <a:off x="658368" y="1106424"/>
            <a:ext cx="7827264" cy="37490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41B3D"/>
        </a:solidFill>
        <a:effectLst/>
      </p:bgPr>
    </p:bg>
    <p:spTree>
      <p:nvGrpSpPr>
        <p:cNvPr id="1" name=""/>
        <p:cNvGrpSpPr/>
        <p:nvPr/>
      </p:nvGrpSpPr>
      <p:grpSpPr>
        <a:xfrm>
          <a:off x="0" y="0"/>
          <a:ext cx="0" cy="0"/>
          <a:chOff x="0" y="0"/>
          <a:chExt cx="0" cy="0"/>
        </a:xfrm>
      </p:grpSpPr>
      <p:sp>
        <p:nvSpPr>
          <p:cNvPr id="2" name="Shape 0"/>
          <p:cNvSpPr/>
          <p:nvPr/>
        </p:nvSpPr>
        <p:spPr>
          <a:xfrm>
            <a:off x="-502920" y="-502920"/>
            <a:ext cx="1371600" cy="1371600"/>
          </a:xfrm>
          <a:prstGeom prst="ellipse">
            <a:avLst/>
          </a:prstGeom>
          <a:solidFill>
            <a:srgbClr val="2E8B8B">
              <a:alpha val="55000"/>
            </a:srgbClr>
          </a:solidFill>
        </p:spPr>
      </p:sp>
      <p:sp>
        <p:nvSpPr>
          <p:cNvPr id="3" name="Shape 1"/>
          <p:cNvSpPr/>
          <p:nvPr/>
        </p:nvSpPr>
        <p:spPr>
          <a:xfrm>
            <a:off x="8366760" y="4343400"/>
            <a:ext cx="1280160" cy="1280160"/>
          </a:xfrm>
          <a:prstGeom prst="ellipse">
            <a:avLst/>
          </a:prstGeom>
          <a:solidFill>
            <a:srgbClr val="E0A458">
              <a:alpha val="55000"/>
            </a:srgbClr>
          </a:solidFill>
        </p:spPr>
      </p:sp>
      <p:sp>
        <p:nvSpPr>
          <p:cNvPr id="4" name="Shape 2"/>
          <p:cNvSpPr/>
          <p:nvPr/>
        </p:nvSpPr>
        <p:spPr>
          <a:xfrm>
            <a:off x="256032" y="237744"/>
            <a:ext cx="8631936" cy="4672584"/>
          </a:xfrm>
          <a:prstGeom prst="roundRect">
            <a:avLst>
              <a:gd name="adj" fmla="val 2348"/>
            </a:avLst>
          </a:prstGeom>
          <a:solidFill>
            <a:srgbClr val="FBF8F3"/>
          </a:solidFill>
          <a:ln w="12700">
            <a:solidFill>
              <a:srgbClr val="FFFFFF"/>
            </a:solidFill>
            <a:prstDash val="solid"/>
          </a:ln>
          <a:effectLst>
            <a:outerShdw blurRad="152400" dist="25400" dir="5400000" algn="bl" rotWithShape="0">
              <a:srgbClr val="000000">
                <a:alpha val="25000"/>
              </a:srgbClr>
            </a:outerShdw>
          </a:effectLst>
        </p:spPr>
      </p:sp>
      <p:sp>
        <p:nvSpPr>
          <p:cNvPr id="5" name="Text 3"/>
          <p:cNvSpPr txBox="1"/>
          <p:nvPr/>
        </p:nvSpPr>
        <p:spPr>
          <a:xfrm>
            <a:off x="530352" y="384048"/>
            <a:ext cx="8083296" cy="502920"/>
          </a:xfrm>
          <a:prstGeom prst="rect">
            <a:avLst/>
          </a:prstGeom>
          <a:noFill/>
        </p:spPr>
        <p:txBody>
          <a:bodyPr wrap="square" lIns="0" tIns="0" rIns="0" bIns="0" rtlCol="0" anchor="ctr"/>
          <a:lstStyle/>
          <a:p>
            <a:pPr marL="0" indent="0" algn="ctr">
              <a:buNone/>
            </a:pPr>
            <a:r>
              <a:rPr lang="en-US" sz="2800" b="1" dirty="0">
                <a:solidFill>
                  <a:srgbClr val="141B3D"/>
                </a:solidFill>
                <a:latin typeface="Cambria" panose="02040503050406030204" pitchFamily="34" charset="0"/>
                <a:ea typeface="Cambria" panose="02040503050406030204" pitchFamily="34" charset="-122"/>
                <a:cs typeface="Cambria" panose="02040503050406030204" pitchFamily="34" charset="-120"/>
              </a:rPr>
              <a:t>SCREENSHOTS</a:t>
            </a:r>
            <a:endParaRPr lang="en-US" sz="2800" dirty="0"/>
          </a:p>
        </p:txBody>
      </p:sp>
      <p:sp>
        <p:nvSpPr>
          <p:cNvPr id="6" name="Text 4"/>
          <p:cNvSpPr txBox="1"/>
          <p:nvPr/>
        </p:nvSpPr>
        <p:spPr>
          <a:xfrm>
            <a:off x="621792" y="795528"/>
            <a:ext cx="7900416" cy="237744"/>
          </a:xfrm>
          <a:prstGeom prst="rect">
            <a:avLst/>
          </a:prstGeom>
          <a:noFill/>
        </p:spPr>
        <p:txBody>
          <a:bodyPr wrap="square" lIns="0" tIns="0" rIns="0" bIns="0" rtlCol="0" anchor="ctr"/>
          <a:lstStyle/>
          <a:p>
            <a:pPr marL="0" indent="0" algn="ctr">
              <a:buNone/>
            </a:pPr>
            <a:r>
              <a:rPr lang="en-US" sz="1150" i="1" dirty="0">
                <a:solidFill>
                  <a:srgbClr val="6B7280"/>
                </a:solidFill>
                <a:latin typeface="Calibri" panose="020F0502020204030204" pitchFamily="34" charset="0"/>
                <a:ea typeface="Calibri" panose="020F0502020204030204" pitchFamily="34" charset="-122"/>
                <a:cs typeface="Calibri" panose="020F0502020204030204" pitchFamily="34" charset="-120"/>
              </a:rPr>
              <a:t>AI chat grounded in the uploaded material, with the concept syllabus panel alongside</a:t>
            </a:r>
            <a:endParaRPr lang="en-US" sz="1150" dirty="0"/>
          </a:p>
        </p:txBody>
      </p:sp>
      <p:pic>
        <p:nvPicPr>
          <p:cNvPr id="7" name="Image 0" descr="/home/claude/shot2.png"/>
          <p:cNvPicPr>
            <a:picLocks noChangeAspect="1"/>
          </p:cNvPicPr>
          <p:nvPr/>
        </p:nvPicPr>
        <p:blipFill>
          <a:blip r:embed="rId1"/>
          <a:stretch>
            <a:fillRect/>
          </a:stretch>
        </p:blipFill>
        <p:spPr>
          <a:xfrm>
            <a:off x="658368" y="1106424"/>
            <a:ext cx="7827264" cy="372160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41B3D"/>
        </a:solidFill>
        <a:effectLst/>
      </p:bgPr>
    </p:bg>
    <p:spTree>
      <p:nvGrpSpPr>
        <p:cNvPr id="1" name=""/>
        <p:cNvGrpSpPr/>
        <p:nvPr/>
      </p:nvGrpSpPr>
      <p:grpSpPr>
        <a:xfrm>
          <a:off x="0" y="0"/>
          <a:ext cx="0" cy="0"/>
          <a:chOff x="0" y="0"/>
          <a:chExt cx="0" cy="0"/>
        </a:xfrm>
      </p:grpSpPr>
      <p:sp>
        <p:nvSpPr>
          <p:cNvPr id="2" name="Shape 0"/>
          <p:cNvSpPr/>
          <p:nvPr/>
        </p:nvSpPr>
        <p:spPr>
          <a:xfrm>
            <a:off x="-502920" y="-502920"/>
            <a:ext cx="1371600" cy="1371600"/>
          </a:xfrm>
          <a:prstGeom prst="ellipse">
            <a:avLst/>
          </a:prstGeom>
          <a:solidFill>
            <a:srgbClr val="2E8B8B">
              <a:alpha val="55000"/>
            </a:srgbClr>
          </a:solidFill>
        </p:spPr>
      </p:sp>
      <p:sp>
        <p:nvSpPr>
          <p:cNvPr id="3" name="Shape 1"/>
          <p:cNvSpPr/>
          <p:nvPr/>
        </p:nvSpPr>
        <p:spPr>
          <a:xfrm>
            <a:off x="8366760" y="4343400"/>
            <a:ext cx="1280160" cy="1280160"/>
          </a:xfrm>
          <a:prstGeom prst="ellipse">
            <a:avLst/>
          </a:prstGeom>
          <a:solidFill>
            <a:srgbClr val="E0A458">
              <a:alpha val="55000"/>
            </a:srgbClr>
          </a:solidFill>
        </p:spPr>
      </p:sp>
      <p:sp>
        <p:nvSpPr>
          <p:cNvPr id="4" name="Shape 2"/>
          <p:cNvSpPr/>
          <p:nvPr/>
        </p:nvSpPr>
        <p:spPr>
          <a:xfrm>
            <a:off x="256032" y="237744"/>
            <a:ext cx="8631936" cy="4672584"/>
          </a:xfrm>
          <a:prstGeom prst="roundRect">
            <a:avLst>
              <a:gd name="adj" fmla="val 2348"/>
            </a:avLst>
          </a:prstGeom>
          <a:solidFill>
            <a:srgbClr val="FBF8F3"/>
          </a:solidFill>
          <a:ln w="12700">
            <a:solidFill>
              <a:srgbClr val="FFFFFF"/>
            </a:solidFill>
            <a:prstDash val="solid"/>
          </a:ln>
          <a:effectLst>
            <a:outerShdw blurRad="152400" dist="25400" dir="5400000" algn="bl" rotWithShape="0">
              <a:srgbClr val="000000">
                <a:alpha val="25000"/>
              </a:srgbClr>
            </a:outerShdw>
          </a:effectLst>
        </p:spPr>
      </p:sp>
      <p:sp>
        <p:nvSpPr>
          <p:cNvPr id="5" name="Text 3"/>
          <p:cNvSpPr txBox="1"/>
          <p:nvPr/>
        </p:nvSpPr>
        <p:spPr>
          <a:xfrm>
            <a:off x="530352" y="384048"/>
            <a:ext cx="8083296" cy="502920"/>
          </a:xfrm>
          <a:prstGeom prst="rect">
            <a:avLst/>
          </a:prstGeom>
          <a:noFill/>
        </p:spPr>
        <p:txBody>
          <a:bodyPr wrap="square" lIns="0" tIns="0" rIns="0" bIns="0" rtlCol="0" anchor="ctr"/>
          <a:lstStyle/>
          <a:p>
            <a:pPr marL="0" indent="0" algn="ctr">
              <a:buNone/>
            </a:pPr>
            <a:r>
              <a:rPr lang="en-US" sz="2800" b="1" dirty="0">
                <a:solidFill>
                  <a:srgbClr val="141B3D"/>
                </a:solidFill>
                <a:latin typeface="Cambria" panose="02040503050406030204" pitchFamily="34" charset="0"/>
                <a:ea typeface="Cambria" panose="02040503050406030204" pitchFamily="34" charset="-122"/>
                <a:cs typeface="Cambria" panose="02040503050406030204" pitchFamily="34" charset="-120"/>
              </a:rPr>
              <a:t>RESULTS</a:t>
            </a:r>
            <a:endParaRPr lang="en-US" sz="2800" dirty="0"/>
          </a:p>
        </p:txBody>
      </p:sp>
      <p:graphicFrame>
        <p:nvGraphicFramePr>
          <p:cNvPr id="6" name="Chart 0"/>
          <p:cNvGraphicFramePr/>
          <p:nvPr/>
        </p:nvGraphicFramePr>
        <p:xfrm>
          <a:off x="621792" y="1005840"/>
          <a:ext cx="5120640" cy="3200400"/>
        </p:xfrm>
        <a:graphic>
          <a:graphicData uri="http://schemas.openxmlformats.org/drawingml/2006/chart">
            <c:chart xmlns:c="http://schemas.openxmlformats.org/drawingml/2006/chart" xmlns:r="http://schemas.openxmlformats.org/officeDocument/2006/relationships" r:id="rId1"/>
          </a:graphicData>
        </a:graphic>
      </p:graphicFrame>
      <p:sp>
        <p:nvSpPr>
          <p:cNvPr id="7" name="Text 4"/>
          <p:cNvSpPr txBox="1"/>
          <p:nvPr/>
        </p:nvSpPr>
        <p:spPr>
          <a:xfrm>
            <a:off x="5669280" y="1234440"/>
            <a:ext cx="2880360" cy="2926080"/>
          </a:xfrm>
          <a:prstGeom prst="rect">
            <a:avLst/>
          </a:prstGeom>
          <a:noFill/>
        </p:spPr>
        <p:txBody>
          <a:bodyPr wrap="square" lIns="0" tIns="0" rIns="0" bIns="0" rtlCol="0" anchor="t"/>
          <a:lstStyle/>
          <a:p>
            <a:pPr marL="177800" indent="-177800">
              <a:spcAft>
                <a:spcPts val="700"/>
              </a:spcAft>
              <a:buSzPct val="100000"/>
              <a:buChar char="•"/>
            </a:pPr>
            <a:r>
              <a:rPr lang="en-US" sz="1100" dirty="0">
                <a:solidFill>
                  <a:srgbClr val="333A56"/>
                </a:solidFill>
                <a:latin typeface="Calibri" panose="020F0502020204030204" pitchFamily="34" charset="0"/>
                <a:ea typeface="Calibri" panose="020F0502020204030204" pitchFamily="34" charset="-122"/>
                <a:cs typeface="Calibri" panose="020F0502020204030204" pitchFamily="34" charset="-120"/>
              </a:rPr>
              <a:t>Text extraction handled both PDF and DOCX material with only minor formatting loss.</a:t>
            </a:r>
            <a:endParaRPr lang="en-US" sz="1100" dirty="0"/>
          </a:p>
          <a:p>
            <a:pPr marL="177800" indent="-177800">
              <a:spcAft>
                <a:spcPts val="700"/>
              </a:spcAft>
              <a:buSzPct val="100000"/>
              <a:buChar char="•"/>
            </a:pPr>
            <a:r>
              <a:rPr lang="en-US" sz="1100" dirty="0">
                <a:solidFill>
                  <a:srgbClr val="333A56"/>
                </a:solidFill>
                <a:latin typeface="Calibri" panose="020F0502020204030204" pitchFamily="34" charset="0"/>
                <a:ea typeface="Calibri" panose="020F0502020204030204" pitchFamily="34" charset="-122"/>
                <a:cs typeface="Calibri" panose="020F0502020204030204" pitchFamily="34" charset="-120"/>
              </a:rPr>
              <a:t>Answers stayed relevant to the uploaded material rather than drifting to general knowledge.</a:t>
            </a:r>
            <a:endParaRPr lang="en-US" sz="1100" dirty="0"/>
          </a:p>
          <a:p>
            <a:pPr marL="177800" indent="-177800">
              <a:spcAft>
                <a:spcPts val="700"/>
              </a:spcAft>
              <a:buSzPct val="100000"/>
              <a:buChar char="•"/>
            </a:pPr>
            <a:r>
              <a:rPr lang="en-US" sz="1100" dirty="0">
                <a:solidFill>
                  <a:srgbClr val="333A56"/>
                </a:solidFill>
                <a:latin typeface="Calibri" panose="020F0502020204030204" pitchFamily="34" charset="0"/>
                <a:ea typeface="Calibri" panose="020F0502020204030204" pitchFamily="34" charset="-122"/>
                <a:cs typeface="Calibri" panose="020F0502020204030204" pitchFamily="34" charset="-120"/>
              </a:rPr>
              <a:t>Test users reported faster revision than working from raw documents alone.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41B3D"/>
        </a:solidFill>
        <a:effectLst/>
      </p:bgPr>
    </p:bg>
    <p:spTree>
      <p:nvGrpSpPr>
        <p:cNvPr id="1" name=""/>
        <p:cNvGrpSpPr/>
        <p:nvPr/>
      </p:nvGrpSpPr>
      <p:grpSpPr>
        <a:xfrm>
          <a:off x="0" y="0"/>
          <a:ext cx="0" cy="0"/>
          <a:chOff x="0" y="0"/>
          <a:chExt cx="0" cy="0"/>
        </a:xfrm>
      </p:grpSpPr>
      <p:sp>
        <p:nvSpPr>
          <p:cNvPr id="2" name="Shape 0"/>
          <p:cNvSpPr/>
          <p:nvPr/>
        </p:nvSpPr>
        <p:spPr>
          <a:xfrm>
            <a:off x="-502920" y="-502920"/>
            <a:ext cx="1371600" cy="1371600"/>
          </a:xfrm>
          <a:prstGeom prst="ellipse">
            <a:avLst/>
          </a:prstGeom>
          <a:solidFill>
            <a:srgbClr val="2E8B8B">
              <a:alpha val="55000"/>
            </a:srgbClr>
          </a:solidFill>
        </p:spPr>
      </p:sp>
      <p:sp>
        <p:nvSpPr>
          <p:cNvPr id="3" name="Shape 1"/>
          <p:cNvSpPr/>
          <p:nvPr/>
        </p:nvSpPr>
        <p:spPr>
          <a:xfrm>
            <a:off x="8366760" y="4343400"/>
            <a:ext cx="1280160" cy="1280160"/>
          </a:xfrm>
          <a:prstGeom prst="ellipse">
            <a:avLst/>
          </a:prstGeom>
          <a:solidFill>
            <a:srgbClr val="E0A458">
              <a:alpha val="55000"/>
            </a:srgbClr>
          </a:solidFill>
        </p:spPr>
      </p:sp>
      <p:sp>
        <p:nvSpPr>
          <p:cNvPr id="4" name="Shape 2"/>
          <p:cNvSpPr/>
          <p:nvPr/>
        </p:nvSpPr>
        <p:spPr>
          <a:xfrm>
            <a:off x="256032" y="242189"/>
            <a:ext cx="8631936" cy="4672584"/>
          </a:xfrm>
          <a:prstGeom prst="roundRect">
            <a:avLst>
              <a:gd name="adj" fmla="val 2348"/>
            </a:avLst>
          </a:prstGeom>
          <a:solidFill>
            <a:srgbClr val="FBF8F3"/>
          </a:solidFill>
          <a:ln w="12700">
            <a:solidFill>
              <a:srgbClr val="FFFFFF"/>
            </a:solidFill>
            <a:prstDash val="solid"/>
          </a:ln>
          <a:effectLst>
            <a:outerShdw blurRad="152400" dist="25400" dir="5400000" algn="bl" rotWithShape="0">
              <a:srgbClr val="000000">
                <a:alpha val="25000"/>
              </a:srgbClr>
            </a:outerShdw>
          </a:effectLst>
        </p:spPr>
      </p:sp>
      <p:sp>
        <p:nvSpPr>
          <p:cNvPr id="5" name="Text 3"/>
          <p:cNvSpPr txBox="1"/>
          <p:nvPr/>
        </p:nvSpPr>
        <p:spPr>
          <a:xfrm>
            <a:off x="530352" y="384048"/>
            <a:ext cx="8083296" cy="502920"/>
          </a:xfrm>
          <a:prstGeom prst="rect">
            <a:avLst/>
          </a:prstGeom>
          <a:noFill/>
        </p:spPr>
        <p:txBody>
          <a:bodyPr wrap="square" lIns="0" tIns="0" rIns="0" bIns="0" rtlCol="0" anchor="ctr"/>
          <a:lstStyle/>
          <a:p>
            <a:pPr marL="0" indent="0" algn="ctr">
              <a:buNone/>
            </a:pPr>
            <a:r>
              <a:rPr lang="en-US" sz="2800" b="1" dirty="0">
                <a:solidFill>
                  <a:srgbClr val="141B3D"/>
                </a:solidFill>
                <a:latin typeface="Cambria" panose="02040503050406030204" pitchFamily="34" charset="0"/>
                <a:ea typeface="Cambria" panose="02040503050406030204" pitchFamily="34" charset="-122"/>
                <a:cs typeface="Cambria" panose="02040503050406030204" pitchFamily="34" charset="-120"/>
              </a:rPr>
              <a:t>FUTURE SCOPE</a:t>
            </a:r>
            <a:endParaRPr lang="en-US" sz="2800" dirty="0"/>
          </a:p>
        </p:txBody>
      </p:sp>
      <p:sp>
        <p:nvSpPr>
          <p:cNvPr id="6" name="Shape 4"/>
          <p:cNvSpPr/>
          <p:nvPr/>
        </p:nvSpPr>
        <p:spPr>
          <a:xfrm>
            <a:off x="640080" y="1307592"/>
            <a:ext cx="365760" cy="365760"/>
          </a:xfrm>
          <a:prstGeom prst="ellipse">
            <a:avLst/>
          </a:prstGeom>
          <a:solidFill>
            <a:srgbClr val="141B3D"/>
          </a:solidFill>
        </p:spPr>
      </p:sp>
      <p:sp>
        <p:nvSpPr>
          <p:cNvPr id="7" name="Text 5"/>
          <p:cNvSpPr txBox="1"/>
          <p:nvPr/>
        </p:nvSpPr>
        <p:spPr>
          <a:xfrm>
            <a:off x="640080" y="1307592"/>
            <a:ext cx="365760" cy="36576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100" dirty="0"/>
          </a:p>
        </p:txBody>
      </p:sp>
      <p:sp>
        <p:nvSpPr>
          <p:cNvPr id="8" name="Text 6"/>
          <p:cNvSpPr txBox="1"/>
          <p:nvPr/>
        </p:nvSpPr>
        <p:spPr>
          <a:xfrm>
            <a:off x="1115568" y="1216152"/>
            <a:ext cx="3429000" cy="256032"/>
          </a:xfrm>
          <a:prstGeom prst="rect">
            <a:avLst/>
          </a:prstGeom>
          <a:noFill/>
        </p:spPr>
        <p:txBody>
          <a:bodyPr wrap="square" lIns="0" tIns="0" rIns="0" bIns="0" rtlCol="0" anchor="ctr"/>
          <a:lstStyle/>
          <a:p>
            <a:pPr marL="0" indent="0">
              <a:buNone/>
            </a:pPr>
            <a:r>
              <a:rPr lang="en-US" sz="1200" b="1" dirty="0">
                <a:solidFill>
                  <a:srgbClr val="141B3D"/>
                </a:solidFill>
                <a:latin typeface="Calibri" panose="020F0502020204030204" pitchFamily="34" charset="0"/>
                <a:ea typeface="Calibri" panose="020F0502020204030204" pitchFamily="34" charset="-122"/>
                <a:cs typeface="Calibri" panose="020F0502020204030204" pitchFamily="34" charset="-120"/>
              </a:rPr>
              <a:t>Lecture audio ingestion</a:t>
            </a:r>
            <a:endParaRPr lang="en-US" sz="1200" dirty="0"/>
          </a:p>
        </p:txBody>
      </p:sp>
      <p:sp>
        <p:nvSpPr>
          <p:cNvPr id="9" name="Text 7"/>
          <p:cNvSpPr txBox="1"/>
          <p:nvPr/>
        </p:nvSpPr>
        <p:spPr>
          <a:xfrm>
            <a:off x="1115568" y="1472184"/>
            <a:ext cx="3429000" cy="530352"/>
          </a:xfrm>
          <a:prstGeom prst="rect">
            <a:avLst/>
          </a:prstGeom>
          <a:noFill/>
        </p:spPr>
        <p:txBody>
          <a:bodyPr wrap="square" lIns="0" tIns="0" rIns="0" bIns="0" rtlCol="0" anchor="ctr"/>
          <a:lstStyle/>
          <a:p>
            <a:pPr marL="0" indent="0">
              <a:buNone/>
            </a:pPr>
            <a:r>
              <a:rPr lang="en-US" sz="1000" dirty="0">
                <a:solidFill>
                  <a:srgbClr val="333A56"/>
                </a:solidFill>
                <a:latin typeface="Calibri" panose="020F0502020204030204" pitchFamily="34" charset="0"/>
                <a:ea typeface="Calibri" panose="020F0502020204030204" pitchFamily="34" charset="-122"/>
                <a:cs typeface="Calibri" panose="020F0502020204030204" pitchFamily="34" charset="-120"/>
              </a:rPr>
              <a:t>Transcribe recorded classes with Whisper so spoken explanations join the same index.</a:t>
            </a:r>
            <a:endParaRPr lang="en-US" sz="1000" dirty="0"/>
          </a:p>
        </p:txBody>
      </p:sp>
      <p:sp>
        <p:nvSpPr>
          <p:cNvPr id="10" name="Shape 8"/>
          <p:cNvSpPr/>
          <p:nvPr/>
        </p:nvSpPr>
        <p:spPr>
          <a:xfrm>
            <a:off x="4800600" y="1307592"/>
            <a:ext cx="365760" cy="365760"/>
          </a:xfrm>
          <a:prstGeom prst="ellipse">
            <a:avLst/>
          </a:prstGeom>
          <a:solidFill>
            <a:srgbClr val="2E8B8B"/>
          </a:solidFill>
        </p:spPr>
      </p:sp>
      <p:sp>
        <p:nvSpPr>
          <p:cNvPr id="11" name="Text 9"/>
          <p:cNvSpPr txBox="1"/>
          <p:nvPr/>
        </p:nvSpPr>
        <p:spPr>
          <a:xfrm>
            <a:off x="4800600" y="1307592"/>
            <a:ext cx="365760" cy="36576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100" dirty="0"/>
          </a:p>
        </p:txBody>
      </p:sp>
      <p:sp>
        <p:nvSpPr>
          <p:cNvPr id="12" name="Text 10"/>
          <p:cNvSpPr txBox="1"/>
          <p:nvPr/>
        </p:nvSpPr>
        <p:spPr>
          <a:xfrm>
            <a:off x="5276088" y="1216152"/>
            <a:ext cx="3429000" cy="256032"/>
          </a:xfrm>
          <a:prstGeom prst="rect">
            <a:avLst/>
          </a:prstGeom>
          <a:noFill/>
        </p:spPr>
        <p:txBody>
          <a:bodyPr wrap="square" lIns="0" tIns="0" rIns="0" bIns="0" rtlCol="0" anchor="ctr"/>
          <a:lstStyle/>
          <a:p>
            <a:pPr marL="0" indent="0">
              <a:buNone/>
            </a:pPr>
            <a:r>
              <a:rPr lang="en-US" sz="1200" b="1" dirty="0">
                <a:solidFill>
                  <a:srgbClr val="141B3D"/>
                </a:solidFill>
                <a:latin typeface="Calibri" panose="020F0502020204030204" pitchFamily="34" charset="0"/>
                <a:ea typeface="Calibri" panose="020F0502020204030204" pitchFamily="34" charset="-122"/>
                <a:cs typeface="Calibri" panose="020F0502020204030204" pitchFamily="34" charset="-120"/>
              </a:rPr>
              <a:t>Multilingual support</a:t>
            </a:r>
            <a:endParaRPr lang="en-US" sz="1200" dirty="0"/>
          </a:p>
        </p:txBody>
      </p:sp>
      <p:sp>
        <p:nvSpPr>
          <p:cNvPr id="13" name="Text 11"/>
          <p:cNvSpPr txBox="1"/>
          <p:nvPr/>
        </p:nvSpPr>
        <p:spPr>
          <a:xfrm>
            <a:off x="5276088" y="1472184"/>
            <a:ext cx="3429000" cy="530352"/>
          </a:xfrm>
          <a:prstGeom prst="rect">
            <a:avLst/>
          </a:prstGeom>
          <a:noFill/>
        </p:spPr>
        <p:txBody>
          <a:bodyPr wrap="square" lIns="0" tIns="0" rIns="0" bIns="0" rtlCol="0" anchor="ctr"/>
          <a:lstStyle/>
          <a:p>
            <a:pPr marL="0" indent="0">
              <a:buNone/>
            </a:pPr>
            <a:r>
              <a:rPr lang="en-US" sz="1000" dirty="0">
                <a:solidFill>
                  <a:srgbClr val="333A56"/>
                </a:solidFill>
                <a:latin typeface="Calibri" panose="020F0502020204030204" pitchFamily="34" charset="0"/>
                <a:ea typeface="Calibri" panose="020F0502020204030204" pitchFamily="34" charset="-122"/>
                <a:cs typeface="Calibri" panose="020F0502020204030204" pitchFamily="34" charset="-120"/>
              </a:rPr>
              <a:t>Answer and generate practice in regional languages for the same English source notes.</a:t>
            </a:r>
            <a:endParaRPr lang="en-US" sz="1000" dirty="0"/>
          </a:p>
        </p:txBody>
      </p:sp>
      <p:sp>
        <p:nvSpPr>
          <p:cNvPr id="14" name="Shape 12"/>
          <p:cNvSpPr/>
          <p:nvPr/>
        </p:nvSpPr>
        <p:spPr>
          <a:xfrm>
            <a:off x="640080" y="2423160"/>
            <a:ext cx="365760" cy="365760"/>
          </a:xfrm>
          <a:prstGeom prst="ellipse">
            <a:avLst/>
          </a:prstGeom>
          <a:solidFill>
            <a:srgbClr val="E0A458"/>
          </a:solidFill>
        </p:spPr>
      </p:sp>
      <p:sp>
        <p:nvSpPr>
          <p:cNvPr id="15" name="Text 13"/>
          <p:cNvSpPr txBox="1"/>
          <p:nvPr/>
        </p:nvSpPr>
        <p:spPr>
          <a:xfrm>
            <a:off x="640080" y="2423160"/>
            <a:ext cx="365760" cy="36576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100" dirty="0"/>
          </a:p>
        </p:txBody>
      </p:sp>
      <p:sp>
        <p:nvSpPr>
          <p:cNvPr id="16" name="Text 14"/>
          <p:cNvSpPr txBox="1"/>
          <p:nvPr/>
        </p:nvSpPr>
        <p:spPr>
          <a:xfrm>
            <a:off x="1115568" y="2331720"/>
            <a:ext cx="3429000" cy="256032"/>
          </a:xfrm>
          <a:prstGeom prst="rect">
            <a:avLst/>
          </a:prstGeom>
          <a:noFill/>
        </p:spPr>
        <p:txBody>
          <a:bodyPr wrap="square" lIns="0" tIns="0" rIns="0" bIns="0" rtlCol="0" anchor="ctr"/>
          <a:lstStyle/>
          <a:p>
            <a:pPr marL="0" indent="0">
              <a:buNone/>
            </a:pPr>
            <a:r>
              <a:rPr lang="en-US" sz="1200" b="1" dirty="0">
                <a:solidFill>
                  <a:srgbClr val="141B3D"/>
                </a:solidFill>
                <a:latin typeface="Calibri" panose="020F0502020204030204" pitchFamily="34" charset="0"/>
                <a:ea typeface="Calibri" panose="020F0502020204030204" pitchFamily="34" charset="-122"/>
                <a:cs typeface="Calibri" panose="020F0502020204030204" pitchFamily="34" charset="-120"/>
              </a:rPr>
              <a:t>Handwritten notes</a:t>
            </a:r>
            <a:endParaRPr lang="en-US" sz="1200" dirty="0"/>
          </a:p>
        </p:txBody>
      </p:sp>
      <p:sp>
        <p:nvSpPr>
          <p:cNvPr id="17" name="Text 15"/>
          <p:cNvSpPr txBox="1"/>
          <p:nvPr/>
        </p:nvSpPr>
        <p:spPr>
          <a:xfrm>
            <a:off x="1115568" y="2587752"/>
            <a:ext cx="3429000" cy="530352"/>
          </a:xfrm>
          <a:prstGeom prst="rect">
            <a:avLst/>
          </a:prstGeom>
          <a:noFill/>
        </p:spPr>
        <p:txBody>
          <a:bodyPr wrap="square" lIns="0" tIns="0" rIns="0" bIns="0" rtlCol="0" anchor="ctr"/>
          <a:lstStyle/>
          <a:p>
            <a:pPr marL="0" indent="0">
              <a:buNone/>
            </a:pPr>
            <a:r>
              <a:rPr lang="en-US" sz="1000" dirty="0">
                <a:solidFill>
                  <a:srgbClr val="333A56"/>
                </a:solidFill>
                <a:latin typeface="Calibri" panose="020F0502020204030204" pitchFamily="34" charset="0"/>
                <a:ea typeface="Calibri" panose="020F0502020204030204" pitchFamily="34" charset="-122"/>
                <a:cs typeface="Calibri" panose="020F0502020204030204" pitchFamily="34" charset="-120"/>
              </a:rPr>
              <a:t>OCR support so scanned and handwritten material can be uploaded too.</a:t>
            </a:r>
            <a:endParaRPr lang="en-US" sz="1000" dirty="0"/>
          </a:p>
        </p:txBody>
      </p:sp>
      <p:sp>
        <p:nvSpPr>
          <p:cNvPr id="18" name="Shape 16"/>
          <p:cNvSpPr/>
          <p:nvPr/>
        </p:nvSpPr>
        <p:spPr>
          <a:xfrm>
            <a:off x="4800600" y="2423160"/>
            <a:ext cx="365760" cy="365760"/>
          </a:xfrm>
          <a:prstGeom prst="ellipse">
            <a:avLst/>
          </a:prstGeom>
          <a:solidFill>
            <a:srgbClr val="141B3D"/>
          </a:solidFill>
        </p:spPr>
      </p:sp>
      <p:sp>
        <p:nvSpPr>
          <p:cNvPr id="19" name="Text 17"/>
          <p:cNvSpPr txBox="1"/>
          <p:nvPr/>
        </p:nvSpPr>
        <p:spPr>
          <a:xfrm>
            <a:off x="4800600" y="2423160"/>
            <a:ext cx="365760" cy="36576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100" dirty="0"/>
          </a:p>
        </p:txBody>
      </p:sp>
      <p:sp>
        <p:nvSpPr>
          <p:cNvPr id="20" name="Text 18"/>
          <p:cNvSpPr txBox="1"/>
          <p:nvPr/>
        </p:nvSpPr>
        <p:spPr>
          <a:xfrm>
            <a:off x="5276088" y="2331720"/>
            <a:ext cx="3429000" cy="256032"/>
          </a:xfrm>
          <a:prstGeom prst="rect">
            <a:avLst/>
          </a:prstGeom>
          <a:noFill/>
        </p:spPr>
        <p:txBody>
          <a:bodyPr wrap="square" lIns="0" tIns="0" rIns="0" bIns="0" rtlCol="0" anchor="ctr"/>
          <a:lstStyle/>
          <a:p>
            <a:pPr marL="0" indent="0">
              <a:buNone/>
            </a:pPr>
            <a:r>
              <a:rPr lang="en-US" sz="1200" b="1" dirty="0">
                <a:solidFill>
                  <a:srgbClr val="141B3D"/>
                </a:solidFill>
                <a:latin typeface="Calibri" panose="020F0502020204030204" pitchFamily="34" charset="0"/>
                <a:ea typeface="Calibri" panose="020F0502020204030204" pitchFamily="34" charset="-122"/>
                <a:cs typeface="Calibri" panose="020F0502020204030204" pitchFamily="34" charset="-120"/>
              </a:rPr>
              <a:t>Collaborative workspaces</a:t>
            </a:r>
            <a:endParaRPr lang="en-US" sz="1200" dirty="0"/>
          </a:p>
        </p:txBody>
      </p:sp>
      <p:sp>
        <p:nvSpPr>
          <p:cNvPr id="21" name="Text 19"/>
          <p:cNvSpPr txBox="1"/>
          <p:nvPr/>
        </p:nvSpPr>
        <p:spPr>
          <a:xfrm>
            <a:off x="5276088" y="2587752"/>
            <a:ext cx="3429000" cy="530352"/>
          </a:xfrm>
          <a:prstGeom prst="rect">
            <a:avLst/>
          </a:prstGeom>
          <a:noFill/>
        </p:spPr>
        <p:txBody>
          <a:bodyPr wrap="square" lIns="0" tIns="0" rIns="0" bIns="0" rtlCol="0" anchor="ctr"/>
          <a:lstStyle/>
          <a:p>
            <a:pPr marL="0" indent="0">
              <a:buNone/>
            </a:pPr>
            <a:r>
              <a:rPr lang="en-US" sz="1000" dirty="0">
                <a:solidFill>
                  <a:srgbClr val="333A56"/>
                </a:solidFill>
                <a:latin typeface="Calibri" panose="020F0502020204030204" pitchFamily="34" charset="0"/>
                <a:ea typeface="Calibri" panose="020F0502020204030204" pitchFamily="34" charset="-122"/>
                <a:cs typeface="Calibri" panose="020F0502020204030204" pitchFamily="34" charset="-120"/>
              </a:rPr>
              <a:t>Shared class libraries so a batch can build one subject workspace together.</a:t>
            </a:r>
            <a:endParaRPr lang="en-US" sz="1000" dirty="0"/>
          </a:p>
        </p:txBody>
      </p:sp>
      <p:sp>
        <p:nvSpPr>
          <p:cNvPr id="22" name="Shape 20"/>
          <p:cNvSpPr/>
          <p:nvPr/>
        </p:nvSpPr>
        <p:spPr>
          <a:xfrm>
            <a:off x="640080" y="3538728"/>
            <a:ext cx="365760" cy="365760"/>
          </a:xfrm>
          <a:prstGeom prst="ellipse">
            <a:avLst/>
          </a:prstGeom>
          <a:solidFill>
            <a:srgbClr val="2E8B8B"/>
          </a:solidFill>
        </p:spPr>
      </p:sp>
      <p:sp>
        <p:nvSpPr>
          <p:cNvPr id="23" name="Text 21"/>
          <p:cNvSpPr txBox="1"/>
          <p:nvPr/>
        </p:nvSpPr>
        <p:spPr>
          <a:xfrm>
            <a:off x="640080" y="3538728"/>
            <a:ext cx="365760" cy="36576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100" dirty="0"/>
          </a:p>
        </p:txBody>
      </p:sp>
      <p:sp>
        <p:nvSpPr>
          <p:cNvPr id="24" name="Text 22"/>
          <p:cNvSpPr txBox="1"/>
          <p:nvPr/>
        </p:nvSpPr>
        <p:spPr>
          <a:xfrm>
            <a:off x="1115568" y="3447288"/>
            <a:ext cx="3429000" cy="256032"/>
          </a:xfrm>
          <a:prstGeom prst="rect">
            <a:avLst/>
          </a:prstGeom>
          <a:noFill/>
        </p:spPr>
        <p:txBody>
          <a:bodyPr wrap="square" lIns="0" tIns="0" rIns="0" bIns="0" rtlCol="0" anchor="ctr"/>
          <a:lstStyle/>
          <a:p>
            <a:pPr marL="0" indent="0">
              <a:buNone/>
            </a:pPr>
            <a:r>
              <a:rPr lang="en-US" sz="1200" b="1" dirty="0">
                <a:solidFill>
                  <a:srgbClr val="141B3D"/>
                </a:solidFill>
                <a:latin typeface="Calibri" panose="020F0502020204030204" pitchFamily="34" charset="0"/>
                <a:ea typeface="Calibri" panose="020F0502020204030204" pitchFamily="34" charset="-122"/>
                <a:cs typeface="Calibri" panose="020F0502020204030204" pitchFamily="34" charset="-120"/>
              </a:rPr>
              <a:t>Mobile application</a:t>
            </a:r>
            <a:endParaRPr lang="en-US" sz="1200" dirty="0"/>
          </a:p>
        </p:txBody>
      </p:sp>
      <p:sp>
        <p:nvSpPr>
          <p:cNvPr id="25" name="Text 23"/>
          <p:cNvSpPr txBox="1"/>
          <p:nvPr/>
        </p:nvSpPr>
        <p:spPr>
          <a:xfrm>
            <a:off x="1115568" y="3703320"/>
            <a:ext cx="3429000" cy="530352"/>
          </a:xfrm>
          <a:prstGeom prst="rect">
            <a:avLst/>
          </a:prstGeom>
          <a:noFill/>
        </p:spPr>
        <p:txBody>
          <a:bodyPr wrap="square" lIns="0" tIns="0" rIns="0" bIns="0" rtlCol="0" anchor="ctr"/>
          <a:lstStyle/>
          <a:p>
            <a:pPr marL="0" indent="0">
              <a:buNone/>
            </a:pPr>
            <a:r>
              <a:rPr lang="en-US" sz="1000" dirty="0">
                <a:solidFill>
                  <a:srgbClr val="333A56"/>
                </a:solidFill>
                <a:latin typeface="Calibri" panose="020F0502020204030204" pitchFamily="34" charset="0"/>
                <a:ea typeface="Calibri" panose="020F0502020204030204" pitchFamily="34" charset="-122"/>
                <a:cs typeface="Calibri" panose="020F0502020204030204" pitchFamily="34" charset="-120"/>
              </a:rPr>
              <a:t>A companion app with offline access to saved notes and quizzes.</a:t>
            </a:r>
            <a:endParaRPr lang="en-US" sz="1000" dirty="0"/>
          </a:p>
        </p:txBody>
      </p:sp>
      <p:sp>
        <p:nvSpPr>
          <p:cNvPr id="26" name="Shape 24"/>
          <p:cNvSpPr/>
          <p:nvPr/>
        </p:nvSpPr>
        <p:spPr>
          <a:xfrm>
            <a:off x="4800600" y="3538728"/>
            <a:ext cx="365760" cy="365760"/>
          </a:xfrm>
          <a:prstGeom prst="ellipse">
            <a:avLst/>
          </a:prstGeom>
          <a:solidFill>
            <a:srgbClr val="E0A458"/>
          </a:solidFill>
        </p:spPr>
      </p:sp>
      <p:sp>
        <p:nvSpPr>
          <p:cNvPr id="27" name="Text 25"/>
          <p:cNvSpPr txBox="1"/>
          <p:nvPr/>
        </p:nvSpPr>
        <p:spPr>
          <a:xfrm>
            <a:off x="4800600" y="3538728"/>
            <a:ext cx="365760" cy="36576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100" dirty="0"/>
          </a:p>
        </p:txBody>
      </p:sp>
      <p:sp>
        <p:nvSpPr>
          <p:cNvPr id="28" name="Text 26"/>
          <p:cNvSpPr txBox="1"/>
          <p:nvPr/>
        </p:nvSpPr>
        <p:spPr>
          <a:xfrm>
            <a:off x="5276088" y="3447288"/>
            <a:ext cx="3429000" cy="256032"/>
          </a:xfrm>
          <a:prstGeom prst="rect">
            <a:avLst/>
          </a:prstGeom>
          <a:noFill/>
        </p:spPr>
        <p:txBody>
          <a:bodyPr wrap="square" lIns="0" tIns="0" rIns="0" bIns="0" rtlCol="0" anchor="ctr"/>
          <a:lstStyle/>
          <a:p>
            <a:pPr marL="0" indent="0">
              <a:buNone/>
            </a:pPr>
            <a:r>
              <a:rPr lang="en-US" sz="1200" b="1" dirty="0">
                <a:solidFill>
                  <a:srgbClr val="141B3D"/>
                </a:solidFill>
                <a:latin typeface="Calibri" panose="020F0502020204030204" pitchFamily="34" charset="0"/>
                <a:ea typeface="Calibri" panose="020F0502020204030204" pitchFamily="34" charset="-122"/>
                <a:cs typeface="Calibri" panose="020F0502020204030204" pitchFamily="34" charset="-120"/>
              </a:rPr>
              <a:t>Spaced revision</a:t>
            </a:r>
            <a:endParaRPr lang="en-US" sz="1200" dirty="0"/>
          </a:p>
        </p:txBody>
      </p:sp>
      <p:sp>
        <p:nvSpPr>
          <p:cNvPr id="29" name="Text 27"/>
          <p:cNvSpPr txBox="1"/>
          <p:nvPr/>
        </p:nvSpPr>
        <p:spPr>
          <a:xfrm>
            <a:off x="5276088" y="3703320"/>
            <a:ext cx="3429000" cy="530352"/>
          </a:xfrm>
          <a:prstGeom prst="rect">
            <a:avLst/>
          </a:prstGeom>
          <a:noFill/>
        </p:spPr>
        <p:txBody>
          <a:bodyPr wrap="square" lIns="0" tIns="0" rIns="0" bIns="0" rtlCol="0" anchor="ctr"/>
          <a:lstStyle/>
          <a:p>
            <a:pPr marL="0" indent="0">
              <a:buNone/>
            </a:pPr>
            <a:r>
              <a:rPr lang="en-US" sz="1000" dirty="0">
                <a:solidFill>
                  <a:srgbClr val="333A56"/>
                </a:solidFill>
                <a:latin typeface="Calibri" panose="020F0502020204030204" pitchFamily="34" charset="0"/>
                <a:ea typeface="Calibri" panose="020F0502020204030204" pitchFamily="34" charset="-122"/>
                <a:cs typeface="Calibri" panose="020F0502020204030204" pitchFamily="34" charset="-120"/>
              </a:rPr>
              <a:t>A scheduler that resurfaces weak concepts from the roadmap at increasing intervals.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41B3D"/>
        </a:solidFill>
        <a:effectLst/>
      </p:bgPr>
    </p:bg>
    <p:spTree>
      <p:nvGrpSpPr>
        <p:cNvPr id="1" name=""/>
        <p:cNvGrpSpPr/>
        <p:nvPr/>
      </p:nvGrpSpPr>
      <p:grpSpPr>
        <a:xfrm>
          <a:off x="0" y="0"/>
          <a:ext cx="0" cy="0"/>
          <a:chOff x="0" y="0"/>
          <a:chExt cx="0" cy="0"/>
        </a:xfrm>
      </p:grpSpPr>
      <p:sp>
        <p:nvSpPr>
          <p:cNvPr id="2" name="Shape 0"/>
          <p:cNvSpPr/>
          <p:nvPr/>
        </p:nvSpPr>
        <p:spPr>
          <a:xfrm>
            <a:off x="-502920" y="-502920"/>
            <a:ext cx="1371600" cy="1371600"/>
          </a:xfrm>
          <a:prstGeom prst="ellipse">
            <a:avLst/>
          </a:prstGeom>
          <a:solidFill>
            <a:srgbClr val="2E8B8B">
              <a:alpha val="55000"/>
            </a:srgbClr>
          </a:solidFill>
        </p:spPr>
      </p:sp>
      <p:sp>
        <p:nvSpPr>
          <p:cNvPr id="3" name="Shape 1"/>
          <p:cNvSpPr/>
          <p:nvPr/>
        </p:nvSpPr>
        <p:spPr>
          <a:xfrm>
            <a:off x="8366760" y="4343400"/>
            <a:ext cx="1280160" cy="1280160"/>
          </a:xfrm>
          <a:prstGeom prst="ellipse">
            <a:avLst/>
          </a:prstGeom>
          <a:solidFill>
            <a:srgbClr val="E0A458">
              <a:alpha val="55000"/>
            </a:srgbClr>
          </a:solidFill>
        </p:spPr>
      </p:sp>
      <p:sp>
        <p:nvSpPr>
          <p:cNvPr id="4" name="Shape 2"/>
          <p:cNvSpPr/>
          <p:nvPr/>
        </p:nvSpPr>
        <p:spPr>
          <a:xfrm>
            <a:off x="256032" y="237744"/>
            <a:ext cx="8631936" cy="4672584"/>
          </a:xfrm>
          <a:prstGeom prst="roundRect">
            <a:avLst>
              <a:gd name="adj" fmla="val 2348"/>
            </a:avLst>
          </a:prstGeom>
          <a:solidFill>
            <a:srgbClr val="FBF8F3"/>
          </a:solidFill>
          <a:ln w="12700">
            <a:solidFill>
              <a:srgbClr val="FFFFFF"/>
            </a:solidFill>
            <a:prstDash val="solid"/>
          </a:ln>
          <a:effectLst>
            <a:outerShdw blurRad="152400" dist="25400" dir="5400000" algn="bl" rotWithShape="0">
              <a:srgbClr val="000000">
                <a:alpha val="25000"/>
              </a:srgbClr>
            </a:outerShdw>
          </a:effectLst>
        </p:spPr>
      </p:sp>
      <p:sp>
        <p:nvSpPr>
          <p:cNvPr id="5" name="Text 3"/>
          <p:cNvSpPr txBox="1"/>
          <p:nvPr/>
        </p:nvSpPr>
        <p:spPr>
          <a:xfrm>
            <a:off x="530352" y="384048"/>
            <a:ext cx="8083296" cy="502920"/>
          </a:xfrm>
          <a:prstGeom prst="rect">
            <a:avLst/>
          </a:prstGeom>
          <a:noFill/>
        </p:spPr>
        <p:txBody>
          <a:bodyPr wrap="square" lIns="0" tIns="0" rIns="0" bIns="0" rtlCol="0" anchor="ctr"/>
          <a:lstStyle/>
          <a:p>
            <a:pPr marL="0" indent="0" algn="ctr">
              <a:buNone/>
            </a:pPr>
            <a:r>
              <a:rPr lang="en-US" sz="2800" b="1" dirty="0">
                <a:solidFill>
                  <a:srgbClr val="141B3D"/>
                </a:solidFill>
                <a:latin typeface="Cambria" panose="02040503050406030204" pitchFamily="34" charset="0"/>
                <a:ea typeface="Cambria" panose="02040503050406030204" pitchFamily="34" charset="-122"/>
                <a:cs typeface="Cambria" panose="02040503050406030204" pitchFamily="34" charset="-120"/>
              </a:rPr>
              <a:t>CONCLUSION</a:t>
            </a:r>
            <a:endParaRPr lang="en-US" sz="2800" dirty="0"/>
          </a:p>
        </p:txBody>
      </p:sp>
      <p:sp>
        <p:nvSpPr>
          <p:cNvPr id="6" name="Text 4"/>
          <p:cNvSpPr txBox="1"/>
          <p:nvPr/>
        </p:nvSpPr>
        <p:spPr>
          <a:xfrm>
            <a:off x="987552" y="1051560"/>
            <a:ext cx="7168896" cy="1143000"/>
          </a:xfrm>
          <a:prstGeom prst="rect">
            <a:avLst/>
          </a:prstGeom>
          <a:noFill/>
        </p:spPr>
        <p:txBody>
          <a:bodyPr wrap="square" lIns="0" tIns="0" rIns="0" bIns="0" rtlCol="0" anchor="t"/>
          <a:lstStyle/>
          <a:p>
            <a:pPr marL="0" indent="0" algn="just">
              <a:lnSpc>
                <a:spcPct val="115000"/>
              </a:lnSpc>
              <a:buNone/>
            </a:pPr>
            <a:r>
              <a:rPr lang="en-US" sz="1350" dirty="0">
                <a:solidFill>
                  <a:srgbClr val="333A56"/>
                </a:solidFill>
                <a:latin typeface="Calibri" panose="020F0502020204030204" pitchFamily="34" charset="0"/>
                <a:ea typeface="Calibri" panose="020F0502020204030204" pitchFamily="34" charset="-122"/>
                <a:cs typeface="Calibri" panose="020F0502020204030204" pitchFamily="34" charset="-120"/>
              </a:rPr>
              <a:t>This project set out to close the gap between having study material and actually understanding it. The AI Study Companion demonstrates that a learner's own documents, combined with a large language model through a well-structured prompt, can be turned into the several different forms that revision actually demands — explanation, notes, practice and structure.</a:t>
            </a:r>
            <a:endParaRPr lang="en-US" sz="1350" dirty="0"/>
          </a:p>
        </p:txBody>
      </p:sp>
      <p:sp>
        <p:nvSpPr>
          <p:cNvPr id="7" name="Text 5"/>
          <p:cNvSpPr txBox="1"/>
          <p:nvPr/>
        </p:nvSpPr>
        <p:spPr>
          <a:xfrm>
            <a:off x="987552" y="2286000"/>
            <a:ext cx="7168896" cy="1143000"/>
          </a:xfrm>
          <a:prstGeom prst="rect">
            <a:avLst/>
          </a:prstGeom>
          <a:noFill/>
        </p:spPr>
        <p:txBody>
          <a:bodyPr wrap="square" lIns="0" tIns="0" rIns="0" bIns="0" rtlCol="0" anchor="t"/>
          <a:lstStyle/>
          <a:p>
            <a:pPr marL="0" indent="0" algn="just">
              <a:lnSpc>
                <a:spcPct val="115000"/>
              </a:lnSpc>
              <a:buNone/>
            </a:pPr>
            <a:r>
              <a:rPr lang="en-US" sz="1350" dirty="0">
                <a:solidFill>
                  <a:srgbClr val="333A56"/>
                </a:solidFill>
                <a:latin typeface="Calibri" panose="020F0502020204030204" pitchFamily="34" charset="0"/>
                <a:ea typeface="Calibri" panose="020F0502020204030204" pitchFamily="34" charset="-122"/>
                <a:cs typeface="Calibri" panose="020F0502020204030204" pitchFamily="34" charset="-120"/>
              </a:rPr>
              <a:t>Built on React with Vite, FastAPI, PostgreSQL and the Google Gemini API, the system delivers six learning resources from a single upload and keeps every workspace, document and generated output organised per subject. Testing on real course material showed reliable extraction, relevant answers  , with users revising faster than from raw documents alone.</a:t>
            </a:r>
            <a:endParaRPr lang="en-US" sz="1350" dirty="0"/>
          </a:p>
        </p:txBody>
      </p:sp>
      <p:sp>
        <p:nvSpPr>
          <p:cNvPr id="8" name="Shape 6"/>
          <p:cNvSpPr/>
          <p:nvPr/>
        </p:nvSpPr>
        <p:spPr>
          <a:xfrm>
            <a:off x="3657600" y="3566160"/>
            <a:ext cx="1828800" cy="0"/>
          </a:xfrm>
          <a:prstGeom prst="line">
            <a:avLst/>
          </a:prstGeom>
          <a:noFill/>
          <a:ln w="19050">
            <a:solidFill>
              <a:srgbClr val="E0A458"/>
            </a:solidFill>
            <a:prstDash val="solid"/>
          </a:ln>
        </p:spPr>
      </p:sp>
      <p:sp>
        <p:nvSpPr>
          <p:cNvPr id="9" name="Text 7"/>
          <p:cNvSpPr txBox="1"/>
          <p:nvPr/>
        </p:nvSpPr>
        <p:spPr>
          <a:xfrm>
            <a:off x="1078992" y="3703320"/>
            <a:ext cx="6986016" cy="548640"/>
          </a:xfrm>
          <a:prstGeom prst="rect">
            <a:avLst/>
          </a:prstGeom>
          <a:noFill/>
        </p:spPr>
        <p:txBody>
          <a:bodyPr wrap="square" lIns="0" tIns="0" rIns="0" bIns="0" rtlCol="0" anchor="ctr"/>
          <a:lstStyle/>
          <a:p>
            <a:pPr marL="0" indent="0" algn="ctr">
              <a:buNone/>
            </a:pPr>
            <a:r>
              <a:rPr lang="en-US" sz="1300" b="1" i="1" dirty="0">
                <a:solidFill>
                  <a:srgbClr val="2A3566"/>
                </a:solidFill>
                <a:latin typeface="Cambria" panose="02040503050406030204" pitchFamily="34" charset="0"/>
                <a:ea typeface="Cambria" panose="02040503050406030204" pitchFamily="34" charset="-122"/>
                <a:cs typeface="Cambria" panose="02040503050406030204" pitchFamily="34" charset="-120"/>
              </a:rPr>
              <a:t>Explanations, notes</a:t>
            </a:r>
            <a:r>
              <a:rPr lang="en-IN" altLang="en-US" sz="1300" b="1" i="1" dirty="0">
                <a:solidFill>
                  <a:srgbClr val="2A3566"/>
                </a:solidFill>
                <a:latin typeface="Cambria" panose="02040503050406030204" pitchFamily="34" charset="0"/>
                <a:ea typeface="Cambria" panose="02040503050406030204" pitchFamily="34" charset="-122"/>
                <a:cs typeface="Cambria" panose="02040503050406030204" pitchFamily="34" charset="-120"/>
              </a:rPr>
              <a:t> </a:t>
            </a:r>
            <a:r>
              <a:rPr lang="en-US" sz="1300" b="1" i="1" dirty="0">
                <a:solidFill>
                  <a:srgbClr val="2A3566"/>
                </a:solidFill>
                <a:latin typeface="Cambria" panose="02040503050406030204" pitchFamily="34" charset="0"/>
                <a:ea typeface="Cambria" panose="02040503050406030204" pitchFamily="34" charset="-122"/>
                <a:cs typeface="Cambria" panose="02040503050406030204" pitchFamily="34" charset="-120"/>
              </a:rPr>
              <a:t>and structure — generated in one place, from the student's own material.</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41B3D"/>
        </a:solidFill>
        <a:effectLst/>
      </p:bgPr>
    </p:bg>
    <p:spTree>
      <p:nvGrpSpPr>
        <p:cNvPr id="1" name=""/>
        <p:cNvGrpSpPr/>
        <p:nvPr/>
      </p:nvGrpSpPr>
      <p:grpSpPr>
        <a:xfrm>
          <a:off x="0" y="0"/>
          <a:ext cx="0" cy="0"/>
          <a:chOff x="0" y="0"/>
          <a:chExt cx="0" cy="0"/>
        </a:xfrm>
      </p:grpSpPr>
      <p:sp>
        <p:nvSpPr>
          <p:cNvPr id="2" name="Shape 0"/>
          <p:cNvSpPr/>
          <p:nvPr/>
        </p:nvSpPr>
        <p:spPr>
          <a:xfrm>
            <a:off x="-548640" y="-548640"/>
            <a:ext cx="1554480" cy="1554480"/>
          </a:xfrm>
          <a:prstGeom prst="ellipse">
            <a:avLst/>
          </a:prstGeom>
          <a:solidFill>
            <a:srgbClr val="2E8B8B">
              <a:alpha val="55000"/>
            </a:srgbClr>
          </a:solidFill>
        </p:spPr>
      </p:sp>
      <p:sp>
        <p:nvSpPr>
          <p:cNvPr id="3" name="Shape 1"/>
          <p:cNvSpPr/>
          <p:nvPr/>
        </p:nvSpPr>
        <p:spPr>
          <a:xfrm>
            <a:off x="8321040" y="4297680"/>
            <a:ext cx="1371600" cy="1371600"/>
          </a:xfrm>
          <a:prstGeom prst="ellipse">
            <a:avLst/>
          </a:prstGeom>
          <a:solidFill>
            <a:srgbClr val="E0A458">
              <a:alpha val="55000"/>
            </a:srgbClr>
          </a:solidFill>
        </p:spPr>
      </p:sp>
      <p:sp>
        <p:nvSpPr>
          <p:cNvPr id="4" name="Text 2"/>
          <p:cNvSpPr txBox="1"/>
          <p:nvPr/>
        </p:nvSpPr>
        <p:spPr>
          <a:xfrm>
            <a:off x="914400" y="1874520"/>
            <a:ext cx="7315200" cy="868680"/>
          </a:xfrm>
          <a:prstGeom prst="rect">
            <a:avLst/>
          </a:prstGeom>
          <a:noFill/>
        </p:spPr>
        <p:txBody>
          <a:bodyPr wrap="square" lIns="0" tIns="0" rIns="0" bIns="0" rtlCol="0" anchor="ctr"/>
          <a:lstStyle/>
          <a:p>
            <a:pPr marL="0" indent="0" algn="ctr">
              <a:buNone/>
            </a:pPr>
            <a:r>
              <a:rPr lang="en-US" sz="4800" b="1" kern="0" spc="400" dirty="0">
                <a:solidFill>
                  <a:srgbClr val="FFFFFF"/>
                </a:solidFill>
                <a:latin typeface="Cambria" panose="02040503050406030204" pitchFamily="34" charset="0"/>
                <a:ea typeface="Cambria" panose="02040503050406030204" pitchFamily="34" charset="-122"/>
                <a:cs typeface="Cambria" panose="02040503050406030204" pitchFamily="34" charset="-120"/>
              </a:rPr>
              <a:t>THANK YOU</a:t>
            </a:r>
            <a:endParaRPr lang="en-US" sz="4800" dirty="0"/>
          </a:p>
        </p:txBody>
      </p:sp>
      <p:sp>
        <p:nvSpPr>
          <p:cNvPr id="5" name="Shape 3"/>
          <p:cNvSpPr/>
          <p:nvPr/>
        </p:nvSpPr>
        <p:spPr>
          <a:xfrm>
            <a:off x="3886200" y="2834640"/>
            <a:ext cx="1371600" cy="0"/>
          </a:xfrm>
          <a:prstGeom prst="line">
            <a:avLst/>
          </a:prstGeom>
          <a:noFill/>
          <a:ln w="25400">
            <a:solidFill>
              <a:srgbClr val="E0A458"/>
            </a:solidFill>
            <a:prstDash val="solid"/>
          </a:ln>
        </p:spPr>
      </p:sp>
      <p:sp>
        <p:nvSpPr>
          <p:cNvPr id="6" name="Text 4"/>
          <p:cNvSpPr txBox="1"/>
          <p:nvPr/>
        </p:nvSpPr>
        <p:spPr>
          <a:xfrm>
            <a:off x="914400" y="2971800"/>
            <a:ext cx="7315200" cy="320040"/>
          </a:xfrm>
          <a:prstGeom prst="rect">
            <a:avLst/>
          </a:prstGeom>
          <a:noFill/>
        </p:spPr>
        <p:txBody>
          <a:bodyPr wrap="square" lIns="0" tIns="0" rIns="0" bIns="0" rtlCol="0" anchor="ctr"/>
          <a:lstStyle/>
          <a:p>
            <a:pPr marL="0" indent="0" algn="ctr">
              <a:buNone/>
            </a:pPr>
            <a:r>
              <a:rPr lang="en-US" sz="1400" i="1" dirty="0">
                <a:solidFill>
                  <a:srgbClr val="C9CEE0"/>
                </a:solidFill>
                <a:latin typeface="Calibri" panose="020F0502020204030204" pitchFamily="34" charset="0"/>
                <a:ea typeface="Calibri" panose="020F0502020204030204" pitchFamily="34" charset="-122"/>
                <a:cs typeface="Calibri" panose="020F0502020204030204" pitchFamily="34" charset="-120"/>
              </a:rPr>
              <a:t>Questions are welcome</a:t>
            </a:r>
            <a:endParaRPr lang="en-US" sz="1400" dirty="0"/>
          </a:p>
        </p:txBody>
      </p:sp>
      <p:sp>
        <p:nvSpPr>
          <p:cNvPr id="7" name="Text 5"/>
          <p:cNvSpPr txBox="1"/>
          <p:nvPr/>
        </p:nvSpPr>
        <p:spPr>
          <a:xfrm>
            <a:off x="914400" y="4206240"/>
            <a:ext cx="7315200" cy="274320"/>
          </a:xfrm>
          <a:prstGeom prst="rect">
            <a:avLst/>
          </a:prstGeom>
          <a:noFill/>
        </p:spPr>
        <p:txBody>
          <a:bodyPr wrap="square" lIns="0" tIns="0" rIns="0" bIns="0" rtlCol="0" anchor="ctr"/>
          <a:lstStyle/>
          <a:p>
            <a:pPr marL="0" indent="0" algn="ctr">
              <a:buNone/>
            </a:pPr>
            <a:r>
              <a:rPr lang="en-US" sz="1000" dirty="0">
                <a:solidFill>
                  <a:srgbClr val="8F98B8"/>
                </a:solidFill>
                <a:latin typeface="Calibri" panose="020F0502020204030204" pitchFamily="34" charset="0"/>
                <a:ea typeface="Calibri" panose="020F0502020204030204" pitchFamily="34" charset="-122"/>
                <a:cs typeface="Calibri" panose="020F0502020204030204" pitchFamily="34" charset="-120"/>
              </a:rPr>
              <a:t>Team</a:t>
            </a:r>
            <a:r>
              <a:rPr lang="en-IN" altLang="en-US" sz="1000" dirty="0">
                <a:solidFill>
                  <a:srgbClr val="8F98B8"/>
                </a:solidFill>
                <a:latin typeface="Calibri" panose="020F0502020204030204" pitchFamily="34" charset="0"/>
                <a:ea typeface="Calibri" panose="020F0502020204030204" pitchFamily="34" charset="-122"/>
                <a:cs typeface="Calibri" panose="020F0502020204030204" pitchFamily="34" charset="-120"/>
              </a:rPr>
              <a:t> C17</a:t>
            </a:r>
            <a:r>
              <a:rPr lang="en-US" sz="1000" dirty="0">
                <a:solidFill>
                  <a:srgbClr val="8F98B8"/>
                </a:solidFill>
                <a:latin typeface="Calibri" panose="020F0502020204030204" pitchFamily="34" charset="0"/>
                <a:ea typeface="Calibri" panose="020F0502020204030204" pitchFamily="34" charset="-122"/>
                <a:cs typeface="Calibri" panose="020F0502020204030204" pitchFamily="34" charset="-120"/>
              </a:rPr>
              <a:t>   •  Department of CSE (AI &amp; ML)  •  Geethanjali College of Engineering and Technology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10987</Words>
  <Application>WPS Presentation</Application>
  <PresentationFormat>On-screen Show (16:9)</PresentationFormat>
  <Paragraphs>410</Paragraphs>
  <Slides>19</Slides>
  <Notes>19</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19</vt:i4>
      </vt:variant>
    </vt:vector>
  </HeadingPairs>
  <TitlesOfParts>
    <vt:vector size="37" baseType="lpstr">
      <vt:lpstr>Arial</vt:lpstr>
      <vt:lpstr>SimSun</vt:lpstr>
      <vt:lpstr>Wingdings</vt:lpstr>
      <vt:lpstr>Cambria</vt:lpstr>
      <vt:lpstr>Cambria</vt:lpstr>
      <vt:lpstr>Cambria</vt:lpstr>
      <vt:lpstr>Calibri</vt:lpstr>
      <vt:lpstr>Calibri</vt:lpstr>
      <vt:lpstr>Calibri</vt:lpstr>
      <vt:lpstr>Times New Roman</vt:lpstr>
      <vt:lpstr>Calibri</vt:lpstr>
      <vt:lpstr>Arial</vt:lpstr>
      <vt:lpstr>Courier New</vt:lpstr>
      <vt:lpstr>Courier New</vt:lpstr>
      <vt:lpstr>Courier New</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Study Companion</dc:title>
  <dc:creator>Mini Project Team</dc:creator>
  <dc:subject>PptxGenJS Presentation</dc:subject>
  <cp:lastModifiedBy>chsri</cp:lastModifiedBy>
  <cp:revision>5</cp:revision>
  <dcterms:created xsi:type="dcterms:W3CDTF">2026-09-17T13:27:00Z</dcterms:created>
  <dcterms:modified xsi:type="dcterms:W3CDTF">2026-09-18T15:32:49Z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79F6752ABA01470FB788878AA40E5C42_13</vt:lpwstr>
  </property>
</Properties>
</file>